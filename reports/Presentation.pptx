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board presentation of our Mutual Fund Analytics and Risk Platform. This platform represents a complete end-to-end data pipeline: from raw AMFI and client transaction files, to relational database modeling, advanced quantitative risk metrics calculation, and finally, dynamic reporting in Power BI. Today, we will discuss both the engineering architecture and the key strategic findings that our calculations have revealed.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Advisors face significant issues due to fragmented datasets. They are forced to consolidate AMFI data and investor ledgers manually. Real-time metrics are non-existent, and tail-risk tracking is ignored when recommending concentrated sector assets. Our platform addresses these structural gaps.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set six core platform objectives to unify ingestion, structure the SQLite database, rank mutual funds, model tail risks, trace investor cohorts, and design the Power BI specs. The right card highlights our fully programmatic Python/SQLite tech stack.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inputs of the platform: 7,798 AMFI pricing records, 1,985 retail transactions, and Nifty indices from yfinance. The flow on the right represents the ETL lifecycle, database warehouse, and analytical visualization layers.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ETL script cleans data through duplicate removal, date normalization, and missing value forward-fills. The database itself is structured as a STAR Schema in SQLite, isolating masters into dimension tables and pricing details into transactional facts to enable fast querying.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exploratory data analysis reveals two key trends: the return correlation between large-caps is extremely high, while sectoral tech funds provide diversification. We also verified the negative drag of expense ratios on CAGR using OLS regression. The table on the right displays the data ingestion metrics from our raw operational log.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scorecard results. We rank schemes using a weighted multi-factor model (CAGR, Sharpe, CAPM Alpha, Expense, and Drawdown). DSP Top 100 Equity ranks first due to its outstanding 39.8% CAGR and 28.8% active Alpha, followed closely by Mirae Asset Large Cap, which exhibits superior capital protection.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evaluates downside tail risk. High sector concentration in the tech sectoral fund (HHI of 7,288) amplifies expected losses, resulting in a daily CVaR of 3.01%. Diversified large-caps like Mirae Large Cap maintain moderate HHI scores near 1,827 and lower their daily CVaR to 2.76%.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trace retail client retention vintage flows and SIP continuity rates. Active systematic folios show a highly sticky 87.2% continuity rate, whereas inactive accounts drop off extremely early, typically by their second expected payment. This provides a clear target for early client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developed a widescreen Power BI layout spec to display these calculations. Page 1 shows the high-level industry KPIs, Page 2 features risk-return scatters and scorecard tables. Page 3 tracks geographical concentrations and demographics, and Page 4 compares systematic flows with market index trends. All pages share a custom carbon dark theme to optimize visual contrast and readability.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we translate our calculations into three concrete strategic recommendations: implement automated rebalancing flags for HHI &gt; 2,500, configure early missed SIP email campaigns, and anchor conservative portfolios with a 60% large-cap core to contain drawdowns above -20%.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The analytics engine is fully operational and integrated with SQLite. We are open to questions and discussions on database structures or risk modeling calibrations.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0" y="0"/>
            <a:ext cx="4114800" cy="685800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326880" y="-2286000"/>
            <a:ext cx="5029200" cy="502920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0" y="4754880"/>
            <a:ext cx="3200400" cy="731520"/>
          </a:xfrm>
          <a:prstGeom prst="rect">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0" y="1645920"/>
            <a:ext cx="7132320" cy="4114800"/>
          </a:xfrm>
          <a:prstGeom prst="rect">
            <a:avLst/>
          </a:prstGeom>
          <a:noFill/>
        </p:spPr>
        <p:txBody>
          <a:bodyPr wrap="square">
            <a:spAutoFit/>
          </a:bodyPr>
          <a:lstStyle/>
          <a:p>
            <a:pPr>
              <a:spcAft>
                <a:spcPts val="1200"/>
              </a:spcAft>
              <a:defRPr sz="1000" b="1">
                <a:solidFill>
                  <a:srgbClr val="DC7878"/>
                </a:solidFill>
                <a:latin typeface="Calibri"/>
              </a:defRPr>
            </a:pPr>
            <a:r>
              <a:t>BLUESTOCK ANALYTICS • CAPSTONE SUBMISSION</a:t>
            </a:r>
          </a:p>
          <a:p>
            <a:pPr>
              <a:spcAft>
                <a:spcPts val="600"/>
              </a:spcAft>
              <a:defRPr sz="3600" b="1">
                <a:solidFill>
                  <a:srgbClr val="0F173C"/>
                </a:solidFill>
                <a:latin typeface="Georgia"/>
              </a:defRPr>
            </a:pPr>
            <a:r>
              <a:t>Mutual Fund Analytics &amp; Risk Platform</a:t>
            </a:r>
          </a:p>
          <a:p>
            <a:pPr>
              <a:spcAft>
                <a:spcPts val="3000"/>
              </a:spcAft>
              <a:defRPr sz="1300">
                <a:solidFill>
                  <a:srgbClr val="28283C"/>
                </a:solidFill>
                <a:latin typeface="Georgia"/>
              </a:defRPr>
            </a:pPr>
            <a:r>
              <a:t>A Relational Database, Weighted Performance Scorecard, Advanced Risk Engine, and Power BI Dashboard Design</a:t>
            </a:r>
          </a:p>
          <a:p>
            <a:pPr>
              <a:lnSpc>
                <a:spcPct val="130000"/>
              </a:lnSpc>
              <a:defRPr sz="1100">
                <a:solidFill>
                  <a:srgbClr val="28283C"/>
                </a:solidFill>
                <a:latin typeface="Calibri"/>
              </a:defRPr>
            </a:pPr>
            <a:r>
              <a:t>Presenter: Dhileep B, Lead Financial Data Analyst</a:t>
            </a:r>
            <a:br/>
            <a:r>
              <a:t>Database Layer: Relational SQLite 3 STAR Schema</a:t>
            </a:r>
            <a:br/>
            <a:r>
              <a:t>Analytics Stack: Python (pandas, scipy, yfinance) &amp; Power BI</a:t>
            </a:r>
            <a:br/>
            <a:r>
              <a:t>Project Status: Production Ready Clean Build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2</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PROBLEM STATEMENT</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Data Fragmentation &amp; Risk Uncertainty</a:t>
            </a:r>
          </a:p>
          <a:p>
            <a:pPr>
              <a:lnSpc>
                <a:spcPct val="115000"/>
              </a:lnSpc>
              <a:spcAft>
                <a:spcPts val="800"/>
              </a:spcAft>
              <a:defRPr sz="1100">
                <a:solidFill>
                  <a:srgbClr val="28283C"/>
                </a:solidFill>
                <a:latin typeface="Calibri"/>
              </a:defRPr>
            </a:pPr>
            <a:r>
              <a:t>Financial advisors and wealth managers struggle with fragmented data silos scattered across CSV/TXT formats.</a:t>
            </a:r>
          </a:p>
          <a:p>
            <a:pPr>
              <a:lnSpc>
                <a:spcPct val="115000"/>
              </a:lnSpc>
              <a:spcAft>
                <a:spcPts val="800"/>
              </a:spcAft>
              <a:defRPr sz="1100">
                <a:solidFill>
                  <a:srgbClr val="28283C"/>
                </a:solidFill>
                <a:latin typeface="Calibri"/>
              </a:defRPr>
            </a:pPr>
            <a:r>
              <a:t>Traditional batch reporting fails to track risk metrics in real-time, resulting in lagged rebalancing decisions.</a:t>
            </a:r>
          </a:p>
          <a:p>
            <a:pPr>
              <a:lnSpc>
                <a:spcPct val="115000"/>
              </a:lnSpc>
              <a:spcAft>
                <a:spcPts val="800"/>
              </a:spcAft>
              <a:defRPr sz="1100">
                <a:solidFill>
                  <a:srgbClr val="28283C"/>
                </a:solidFill>
                <a:latin typeface="Calibri"/>
              </a:defRPr>
            </a:pPr>
            <a:r>
              <a:t>Underlying portfolio concentration and extreme tail-risk exposures (VaR/CVaR) remain unquantified during market stress.</a:t>
            </a:r>
          </a:p>
        </p:txBody>
      </p:sp>
      <p:sp>
        <p:nvSpPr>
          <p:cNvPr id="8" name="Rectangle 7"/>
          <p:cNvSpPr/>
          <p:nvPr/>
        </p:nvSpPr>
        <p:spPr>
          <a:xfrm>
            <a:off x="5943600" y="1463040"/>
            <a:ext cx="5303520" cy="118872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1463040"/>
            <a:ext cx="5303520" cy="118872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01 / DATA SILOS</a:t>
            </a:r>
          </a:p>
          <a:p>
            <a:pPr>
              <a:lnSpc>
                <a:spcPct val="110000"/>
              </a:lnSpc>
              <a:spcAft>
                <a:spcPts val="300"/>
              </a:spcAft>
              <a:defRPr sz="950">
                <a:solidFill>
                  <a:srgbClr val="28283C"/>
                </a:solidFill>
                <a:latin typeface="Calibri"/>
              </a:defRPr>
            </a:pPr>
            <a:r>
              <a:t>Raw daily NAV feeds from AMFI, investor ledger ledgers, and market benchmarks exist in disjointed formats, requiring manual ingestion effort.</a:t>
            </a:r>
          </a:p>
        </p:txBody>
      </p:sp>
      <p:sp>
        <p:nvSpPr>
          <p:cNvPr id="10" name="Rectangle 9"/>
          <p:cNvSpPr/>
          <p:nvPr/>
        </p:nvSpPr>
        <p:spPr>
          <a:xfrm>
            <a:off x="5943600" y="2834640"/>
            <a:ext cx="5303520" cy="118872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0" y="2834640"/>
            <a:ext cx="5303520" cy="118872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02 / REAL-TIME RISK LAG</a:t>
            </a:r>
          </a:p>
          <a:p>
            <a:pPr>
              <a:lnSpc>
                <a:spcPct val="110000"/>
              </a:lnSpc>
              <a:spcAft>
                <a:spcPts val="300"/>
              </a:spcAft>
              <a:defRPr sz="950">
                <a:solidFill>
                  <a:srgbClr val="28283C"/>
                </a:solidFill>
                <a:latin typeface="Calibri"/>
              </a:defRPr>
            </a:pPr>
            <a:r>
              <a:t>Without standardized computation engines, performance statistics like Sharpe, Beta, or Alpha cannot be actively calculated.</a:t>
            </a:r>
          </a:p>
        </p:txBody>
      </p:sp>
      <p:sp>
        <p:nvSpPr>
          <p:cNvPr id="12" name="Rectangle 11"/>
          <p:cNvSpPr/>
          <p:nvPr/>
        </p:nvSpPr>
        <p:spPr>
          <a:xfrm>
            <a:off x="5943600" y="4206240"/>
            <a:ext cx="5303520" cy="118872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4206240"/>
            <a:ext cx="5303520" cy="118872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03 / TAIL-RISK BLINDNESS</a:t>
            </a:r>
          </a:p>
          <a:p>
            <a:pPr>
              <a:lnSpc>
                <a:spcPct val="110000"/>
              </a:lnSpc>
              <a:spcAft>
                <a:spcPts val="300"/>
              </a:spcAft>
              <a:defRPr sz="950">
                <a:solidFill>
                  <a:srgbClr val="28283C"/>
                </a:solidFill>
                <a:latin typeface="Calibri"/>
              </a:defRPr>
            </a:pPr>
            <a:r>
              <a:t>Advisors frequently recommend sectoral funds without measuring portfolio sector-level HHI or Expected Shortfalls.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3</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PROJECT OBJECTIVES</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Core Goals &amp; Platform Scope</a:t>
            </a:r>
          </a:p>
          <a:p>
            <a:pPr>
              <a:lnSpc>
                <a:spcPct val="115000"/>
              </a:lnSpc>
              <a:spcAft>
                <a:spcPts val="800"/>
              </a:spcAft>
              <a:defRPr sz="1100">
                <a:solidFill>
                  <a:srgbClr val="28283C"/>
                </a:solidFill>
                <a:latin typeface="Calibri"/>
              </a:defRPr>
            </a:pPr>
            <a:r>
              <a:t>1. Standardize Ingestion: Build an ETL pipeline to clean and structure transaction and daily price records.</a:t>
            </a:r>
          </a:p>
          <a:p>
            <a:pPr>
              <a:lnSpc>
                <a:spcPct val="115000"/>
              </a:lnSpc>
              <a:spcAft>
                <a:spcPts val="800"/>
              </a:spcAft>
              <a:defRPr sz="1100">
                <a:solidFill>
                  <a:srgbClr val="28283C"/>
                </a:solidFill>
                <a:latin typeface="Calibri"/>
              </a:defRPr>
            </a:pPr>
            <a:r>
              <a:t>2. Relational Warehouse: Design a STAR schema database using SQLite3 to query details efficiently.</a:t>
            </a:r>
          </a:p>
          <a:p>
            <a:pPr>
              <a:lnSpc>
                <a:spcPct val="115000"/>
              </a:lnSpc>
              <a:spcAft>
                <a:spcPts val="800"/>
              </a:spcAft>
              <a:defRPr sz="1100">
                <a:solidFill>
                  <a:srgbClr val="28283C"/>
                </a:solidFill>
                <a:latin typeface="Calibri"/>
              </a:defRPr>
            </a:pPr>
            <a:r>
              <a:t>3. Performance Scorecard: Implement a multi-factor ranking model using Sharpe, Alpha, Expense, and Drawdowns.</a:t>
            </a:r>
          </a:p>
          <a:p>
            <a:pPr>
              <a:lnSpc>
                <a:spcPct val="115000"/>
              </a:lnSpc>
              <a:spcAft>
                <a:spcPts val="800"/>
              </a:spcAft>
              <a:defRPr sz="1100">
                <a:solidFill>
                  <a:srgbClr val="28283C"/>
                </a:solidFill>
                <a:latin typeface="Calibri"/>
              </a:defRPr>
            </a:pPr>
            <a:r>
              <a:t>4. Risk Engine: Calculate expected tail losses using daily Value at Risk (VaR) and Expected Shortfall (CVaR).</a:t>
            </a:r>
          </a:p>
          <a:p>
            <a:pPr>
              <a:lnSpc>
                <a:spcPct val="115000"/>
              </a:lnSpc>
              <a:spcAft>
                <a:spcPts val="800"/>
              </a:spcAft>
              <a:defRPr sz="1100">
                <a:solidFill>
                  <a:srgbClr val="28283C"/>
                </a:solidFill>
                <a:latin typeface="Calibri"/>
              </a:defRPr>
            </a:pPr>
            <a:r>
              <a:t>5. Cohort Analytics: Model retail client retention trends and Systematic Investment Plan (SIP) continuity streaks.</a:t>
            </a:r>
          </a:p>
          <a:p>
            <a:pPr>
              <a:lnSpc>
                <a:spcPct val="115000"/>
              </a:lnSpc>
              <a:spcAft>
                <a:spcPts val="800"/>
              </a:spcAft>
              <a:defRPr sz="1100">
                <a:solidFill>
                  <a:srgbClr val="28283C"/>
                </a:solidFill>
                <a:latin typeface="Calibri"/>
              </a:defRPr>
            </a:pPr>
            <a:r>
              <a:t>6. Interactive BI: Build specifications for a custom-themed Power BI board.</a:t>
            </a:r>
          </a:p>
        </p:txBody>
      </p:sp>
      <p:sp>
        <p:nvSpPr>
          <p:cNvPr id="8" name="Rectangle 7"/>
          <p:cNvSpPr/>
          <p:nvPr/>
        </p:nvSpPr>
        <p:spPr>
          <a:xfrm>
            <a:off x="5943600" y="1463040"/>
            <a:ext cx="5303520" cy="411480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1463040"/>
            <a:ext cx="5303520" cy="411480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TECHNOLOGY STACK &amp; CAPABILITIES</a:t>
            </a:r>
          </a:p>
          <a:p>
            <a:pPr>
              <a:lnSpc>
                <a:spcPct val="110000"/>
              </a:lnSpc>
              <a:spcAft>
                <a:spcPts val="300"/>
              </a:spcAft>
              <a:defRPr sz="950">
                <a:solidFill>
                  <a:srgbClr val="28283C"/>
                </a:solidFill>
                <a:latin typeface="Calibri"/>
              </a:defRPr>
            </a:pPr>
            <a:r>
              <a:t>• Execution Layer: Python 3.10+ (Data Ingestion, Cleansing)</a:t>
            </a:r>
          </a:p>
          <a:p>
            <a:pPr>
              <a:lnSpc>
                <a:spcPct val="110000"/>
              </a:lnSpc>
              <a:spcAft>
                <a:spcPts val="300"/>
              </a:spcAft>
              <a:defRPr sz="950">
                <a:solidFill>
                  <a:srgbClr val="28283C"/>
                </a:solidFill>
                <a:latin typeface="Calibri"/>
              </a:defRPr>
            </a:pPr>
            <a:r>
              <a:t>• Computational Core: pandas, numpy, scipy, statsmodels</a:t>
            </a:r>
          </a:p>
          <a:p>
            <a:pPr>
              <a:lnSpc>
                <a:spcPct val="110000"/>
              </a:lnSpc>
              <a:spcAft>
                <a:spcPts val="300"/>
              </a:spcAft>
              <a:defRPr sz="950">
                <a:solidFill>
                  <a:srgbClr val="28283C"/>
                </a:solidFill>
                <a:latin typeface="Calibri"/>
              </a:defRPr>
            </a:pPr>
            <a:r>
              <a:t>• Relational Storage: SQLite3 DB with composite indexes</a:t>
            </a:r>
          </a:p>
          <a:p>
            <a:pPr>
              <a:lnSpc>
                <a:spcPct val="110000"/>
              </a:lnSpc>
              <a:spcAft>
                <a:spcPts val="300"/>
              </a:spcAft>
              <a:defRPr sz="950">
                <a:solidFill>
                  <a:srgbClr val="28283C"/>
                </a:solidFill>
                <a:latin typeface="Calibri"/>
              </a:defRPr>
            </a:pPr>
            <a:r>
              <a:t>• Documentation Engines: ReportLab (PDF), python-pptx (PPTX)</a:t>
            </a:r>
          </a:p>
          <a:p>
            <a:pPr>
              <a:lnSpc>
                <a:spcPct val="110000"/>
              </a:lnSpc>
              <a:spcAft>
                <a:spcPts val="300"/>
              </a:spcAft>
              <a:defRPr sz="950">
                <a:solidFill>
                  <a:srgbClr val="28283C"/>
                </a:solidFill>
                <a:latin typeface="Calibri"/>
              </a:defRPr>
            </a:pPr>
            <a:r>
              <a:t>• Interactive BI Dashboard: Power BI Desktop &amp; DAX Engines</a:t>
            </a:r>
          </a:p>
          <a:p>
            <a:pPr>
              <a:lnSpc>
                <a:spcPct val="110000"/>
              </a:lnSpc>
              <a:spcAft>
                <a:spcPts val="300"/>
              </a:spcAft>
              <a:defRPr sz="950">
                <a:solidFill>
                  <a:srgbClr val="28283C"/>
                </a:solidFill>
                <a:latin typeface="Calibri"/>
              </a:defRPr>
            </a:pPr>
          </a:p>
          <a:p>
            <a:pPr>
              <a:lnSpc>
                <a:spcPct val="110000"/>
              </a:lnSpc>
              <a:spcAft>
                <a:spcPts val="300"/>
              </a:spcAft>
              <a:defRPr sz="950">
                <a:solidFill>
                  <a:srgbClr val="28283C"/>
                </a:solidFill>
                <a:latin typeface="Calibri"/>
              </a:defRPr>
            </a:pPr>
            <a:r>
              <a:t>The entire framework runs programmatically, allowing automated document compilation directly from processed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4</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DATA SOURCES &amp; ARCHITECTURE</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Platform Data Inputs</a:t>
            </a:r>
          </a:p>
          <a:p>
            <a:pPr>
              <a:lnSpc>
                <a:spcPct val="115000"/>
              </a:lnSpc>
              <a:spcAft>
                <a:spcPts val="800"/>
              </a:spcAft>
              <a:defRPr sz="1100">
                <a:solidFill>
                  <a:srgbClr val="28283C"/>
                </a:solidFill>
                <a:latin typeface="Calibri"/>
              </a:defRPr>
            </a:pPr>
            <a:r>
              <a:t>The analytics platform integrates three separate data layers to construct a single source of truth:</a:t>
            </a:r>
          </a:p>
          <a:p>
            <a:pPr>
              <a:lnSpc>
                <a:spcPct val="115000"/>
              </a:lnSpc>
              <a:spcAft>
                <a:spcPts val="800"/>
              </a:spcAft>
              <a:defRPr sz="1100">
                <a:solidFill>
                  <a:srgbClr val="28283C"/>
                </a:solidFill>
                <a:latin typeface="Calibri"/>
              </a:defRPr>
            </a:pPr>
            <a:r>
              <a:t>• Daily NAV History: Ingests 7,798 raw NAV quotes from AMFI (10 funds).</a:t>
            </a:r>
          </a:p>
          <a:p>
            <a:pPr>
              <a:lnSpc>
                <a:spcPct val="115000"/>
              </a:lnSpc>
              <a:spcAft>
                <a:spcPts val="800"/>
              </a:spcAft>
              <a:defRPr sz="1100">
                <a:solidFill>
                  <a:srgbClr val="28283C"/>
                </a:solidFill>
                <a:latin typeface="Calibri"/>
              </a:defRPr>
            </a:pPr>
            <a:r>
              <a:t>• Transaction Ledgers: Processes 1,985 retail buy/sell/SIP transactions (200 folios).</a:t>
            </a:r>
          </a:p>
          <a:p>
            <a:pPr>
              <a:lnSpc>
                <a:spcPct val="115000"/>
              </a:lnSpc>
              <a:spcAft>
                <a:spcPts val="800"/>
              </a:spcAft>
              <a:defRPr sz="1100">
                <a:solidFill>
                  <a:srgbClr val="28283C"/>
                </a:solidFill>
                <a:latin typeface="Calibri"/>
              </a:defRPr>
            </a:pPr>
            <a:r>
              <a:t>• Market Benchmarks: Fetches Nifty 50 and Nifty 100 closing prices via yfinance.</a:t>
            </a:r>
          </a:p>
          <a:p>
            <a:pPr>
              <a:lnSpc>
                <a:spcPct val="115000"/>
              </a:lnSpc>
              <a:spcAft>
                <a:spcPts val="800"/>
              </a:spcAft>
              <a:defRPr sz="1100">
                <a:solidFill>
                  <a:srgbClr val="28283C"/>
                </a:solidFill>
                <a:latin typeface="Calibri"/>
              </a:defRPr>
            </a:pPr>
            <a:r>
              <a:t>• Portfolio Holdings: Imports sector-level allocations for HHI concentration scoring.</a:t>
            </a:r>
          </a:p>
        </p:txBody>
      </p:sp>
      <p:sp>
        <p:nvSpPr>
          <p:cNvPr id="8" name="Rectangle 7"/>
          <p:cNvSpPr/>
          <p:nvPr/>
        </p:nvSpPr>
        <p:spPr>
          <a:xfrm>
            <a:off x="5943600" y="1463040"/>
            <a:ext cx="5303520" cy="109728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1463040"/>
            <a:ext cx="5303520" cy="109728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STAGE 1: RAW INGESTION</a:t>
            </a:r>
          </a:p>
          <a:p>
            <a:pPr>
              <a:lnSpc>
                <a:spcPct val="110000"/>
              </a:lnSpc>
              <a:spcAft>
                <a:spcPts val="300"/>
              </a:spcAft>
              <a:defRPr sz="950">
                <a:solidFill>
                  <a:srgbClr val="28283C"/>
                </a:solidFill>
                <a:latin typeface="Calibri"/>
              </a:defRPr>
            </a:pPr>
            <a:r>
              <a:t>AMFI daily NAVs + Client transaction sheets + Yahoo Finance API</a:t>
            </a:r>
          </a:p>
        </p:txBody>
      </p:sp>
      <p:sp>
        <p:nvSpPr>
          <p:cNvPr id="10" name="Rectangle 9"/>
          <p:cNvSpPr/>
          <p:nvPr/>
        </p:nvSpPr>
        <p:spPr>
          <a:xfrm>
            <a:off x="5943600" y="2834640"/>
            <a:ext cx="5303520" cy="109728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0" y="2834640"/>
            <a:ext cx="5303520" cy="109728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STAGE 2: ETL &amp; SQL WAREHOUSE</a:t>
            </a:r>
          </a:p>
          <a:p>
            <a:pPr>
              <a:lnSpc>
                <a:spcPct val="110000"/>
              </a:lnSpc>
              <a:spcAft>
                <a:spcPts val="300"/>
              </a:spcAft>
              <a:defRPr sz="950">
                <a:solidFill>
                  <a:srgbClr val="28283C"/>
                </a:solidFill>
                <a:latin typeface="Calibri"/>
              </a:defRPr>
            </a:pPr>
            <a:r>
              <a:t>SQLite Star Schema Database (mutual_funds.db) with composite indexes</a:t>
            </a:r>
          </a:p>
        </p:txBody>
      </p:sp>
      <p:sp>
        <p:nvSpPr>
          <p:cNvPr id="12" name="Rectangle 11"/>
          <p:cNvSpPr/>
          <p:nvPr/>
        </p:nvSpPr>
        <p:spPr>
          <a:xfrm>
            <a:off x="5943600" y="4206240"/>
            <a:ext cx="5303520" cy="109728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4206240"/>
            <a:ext cx="5303520" cy="109728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STAGE 3: QUANTITATIVE &amp; BI LAYER</a:t>
            </a:r>
          </a:p>
          <a:p>
            <a:pPr>
              <a:lnSpc>
                <a:spcPct val="110000"/>
              </a:lnSpc>
              <a:spcAft>
                <a:spcPts val="300"/>
              </a:spcAft>
              <a:defRPr sz="950">
                <a:solidFill>
                  <a:srgbClr val="28283C"/>
                </a:solidFill>
                <a:latin typeface="Calibri"/>
              </a:defRPr>
            </a:pPr>
            <a:r>
              <a:t>Weighted Scorecards, daily VaR/CVaR, and dark-themed Power BI dashboards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5</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ETL PIPELINE &amp; DATABASE DESIGN</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ETL Data Operations</a:t>
            </a:r>
          </a:p>
          <a:p>
            <a:pPr>
              <a:lnSpc>
                <a:spcPct val="115000"/>
              </a:lnSpc>
              <a:spcAft>
                <a:spcPts val="800"/>
              </a:spcAft>
              <a:defRPr sz="1100">
                <a:solidFill>
                  <a:srgbClr val="28283C"/>
                </a:solidFill>
                <a:latin typeface="Calibri"/>
              </a:defRPr>
            </a:pPr>
            <a:r>
              <a:t>To ensure data integrity, the pipeline runs key cleaning operations:</a:t>
            </a:r>
          </a:p>
          <a:p>
            <a:pPr>
              <a:lnSpc>
                <a:spcPct val="115000"/>
              </a:lnSpc>
              <a:spcAft>
                <a:spcPts val="800"/>
              </a:spcAft>
              <a:defRPr sz="1100">
                <a:solidFill>
                  <a:srgbClr val="28283C"/>
                </a:solidFill>
                <a:latin typeface="Calibri"/>
              </a:defRPr>
            </a:pPr>
            <a:r>
              <a:t>• Schema Validation: Forces standardized naming and column data types.</a:t>
            </a:r>
          </a:p>
          <a:p>
            <a:pPr>
              <a:lnSpc>
                <a:spcPct val="115000"/>
              </a:lnSpc>
              <a:spcAft>
                <a:spcPts val="800"/>
              </a:spcAft>
              <a:defRPr sz="1100">
                <a:solidFill>
                  <a:srgbClr val="28283C"/>
                </a:solidFill>
                <a:latin typeface="Calibri"/>
              </a:defRPr>
            </a:pPr>
            <a:r>
              <a:t>• Date Parsing: Coerces raw date fields and purges NaT anomalies.</a:t>
            </a:r>
          </a:p>
          <a:p>
            <a:pPr>
              <a:lnSpc>
                <a:spcPct val="115000"/>
              </a:lnSpc>
              <a:spcAft>
                <a:spcPts val="800"/>
              </a:spcAft>
              <a:defRPr sz="1100">
                <a:solidFill>
                  <a:srgbClr val="28283C"/>
                </a:solidFill>
                <a:latin typeface="Calibri"/>
              </a:defRPr>
            </a:pPr>
            <a:r>
              <a:t>• Deduplication: Removes duplicate transaction rows to preserve transaction history.</a:t>
            </a:r>
          </a:p>
          <a:p>
            <a:pPr>
              <a:lnSpc>
                <a:spcPct val="115000"/>
              </a:lnSpc>
              <a:spcAft>
                <a:spcPts val="800"/>
              </a:spcAft>
              <a:defRPr sz="1100">
                <a:solidFill>
                  <a:srgbClr val="28283C"/>
                </a:solidFill>
                <a:latin typeface="Calibri"/>
              </a:defRPr>
            </a:pPr>
            <a:r>
              <a:t>• Imputation: Forward-fills missing NAV quotes to keep return continuities.</a:t>
            </a:r>
          </a:p>
        </p:txBody>
      </p:sp>
      <p:sp>
        <p:nvSpPr>
          <p:cNvPr id="8" name="Rectangle 7"/>
          <p:cNvSpPr/>
          <p:nvPr/>
        </p:nvSpPr>
        <p:spPr>
          <a:xfrm>
            <a:off x="5943600" y="1463040"/>
            <a:ext cx="5303520" cy="411480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1463040"/>
            <a:ext cx="5303520" cy="411480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SQLITE STAR SCHEMA WAREHOUSE</a:t>
            </a:r>
          </a:p>
          <a:p>
            <a:pPr>
              <a:lnSpc>
                <a:spcPct val="110000"/>
              </a:lnSpc>
              <a:spcAft>
                <a:spcPts val="300"/>
              </a:spcAft>
              <a:defRPr sz="950">
                <a:solidFill>
                  <a:srgbClr val="28283C"/>
                </a:solidFill>
                <a:latin typeface="Calibri"/>
              </a:defRPr>
            </a:pPr>
            <a:r>
              <a:t>Master Dimension Tables:</a:t>
            </a:r>
          </a:p>
          <a:p>
            <a:pPr>
              <a:lnSpc>
                <a:spcPct val="110000"/>
              </a:lnSpc>
              <a:spcAft>
                <a:spcPts val="300"/>
              </a:spcAft>
              <a:defRPr sz="950">
                <a:solidFill>
                  <a:srgbClr val="28283C"/>
                </a:solidFill>
                <a:latin typeface="Calibri"/>
              </a:defRPr>
            </a:pPr>
            <a:r>
              <a:t>  • dim_scheme (fund code, name, category, AMC ID)</a:t>
            </a:r>
          </a:p>
          <a:p>
            <a:pPr>
              <a:lnSpc>
                <a:spcPct val="110000"/>
              </a:lnSpc>
              <a:spcAft>
                <a:spcPts val="300"/>
              </a:spcAft>
              <a:defRPr sz="950">
                <a:solidFill>
                  <a:srgbClr val="28283C"/>
                </a:solidFill>
                <a:latin typeface="Calibri"/>
              </a:defRPr>
            </a:pPr>
            <a:r>
              <a:t>  • dim_investor (investor ID, city, state, risk profile)</a:t>
            </a:r>
          </a:p>
          <a:p>
            <a:pPr>
              <a:lnSpc>
                <a:spcPct val="110000"/>
              </a:lnSpc>
              <a:spcAft>
                <a:spcPts val="300"/>
              </a:spcAft>
              <a:defRPr sz="950">
                <a:solidFill>
                  <a:srgbClr val="28283C"/>
                </a:solidFill>
                <a:latin typeface="Calibri"/>
              </a:defRPr>
            </a:pPr>
            <a:r>
              <a:t>  • dim_date (date string, year, quarter, month)</a:t>
            </a:r>
          </a:p>
          <a:p>
            <a:pPr>
              <a:lnSpc>
                <a:spcPct val="110000"/>
              </a:lnSpc>
              <a:spcAft>
                <a:spcPts val="300"/>
              </a:spcAft>
              <a:defRPr sz="950">
                <a:solidFill>
                  <a:srgbClr val="28283C"/>
                </a:solidFill>
                <a:latin typeface="Calibri"/>
              </a:defRPr>
            </a:pPr>
          </a:p>
          <a:p>
            <a:pPr>
              <a:lnSpc>
                <a:spcPct val="110000"/>
              </a:lnSpc>
              <a:spcAft>
                <a:spcPts val="300"/>
              </a:spcAft>
              <a:defRPr sz="950">
                <a:solidFill>
                  <a:srgbClr val="28283C"/>
                </a:solidFill>
                <a:latin typeface="Calibri"/>
              </a:defRPr>
            </a:pPr>
            <a:r>
              <a:t>Transactional Fact Tables:</a:t>
            </a:r>
          </a:p>
          <a:p>
            <a:pPr>
              <a:lnSpc>
                <a:spcPct val="110000"/>
              </a:lnSpc>
              <a:spcAft>
                <a:spcPts val="300"/>
              </a:spcAft>
              <a:defRPr sz="950">
                <a:solidFill>
                  <a:srgbClr val="28283C"/>
                </a:solidFill>
                <a:latin typeface="Calibri"/>
              </a:defRPr>
            </a:pPr>
            <a:r>
              <a:t>  • fact_nav_history (scheme code, date, daily NAV)</a:t>
            </a:r>
          </a:p>
          <a:p>
            <a:pPr>
              <a:lnSpc>
                <a:spcPct val="110000"/>
              </a:lnSpc>
              <a:spcAft>
                <a:spcPts val="300"/>
              </a:spcAft>
              <a:defRPr sz="950">
                <a:solidFill>
                  <a:srgbClr val="28283C"/>
                </a:solidFill>
                <a:latin typeface="Calibri"/>
              </a:defRPr>
            </a:pPr>
            <a:r>
              <a:t>  • fact_investor_transactions (ID, investor, scheme, type, amount)</a:t>
            </a:r>
          </a:p>
          <a:p>
            <a:pPr>
              <a:lnSpc>
                <a:spcPct val="110000"/>
              </a:lnSpc>
              <a:spcAft>
                <a:spcPts val="300"/>
              </a:spcAft>
              <a:defRPr sz="950">
                <a:solidFill>
                  <a:srgbClr val="28283C"/>
                </a:solidFill>
                <a:latin typeface="Calibri"/>
              </a:defRPr>
            </a:pPr>
            <a:r>
              <a:t>  • fact_scheme_performance (calculated returns &amp; ratios)</a:t>
            </a:r>
          </a:p>
          <a:p>
            <a:pPr>
              <a:lnSpc>
                <a:spcPct val="110000"/>
              </a:lnSpc>
              <a:spcAft>
                <a:spcPts val="300"/>
              </a:spcAft>
              <a:defRPr sz="950">
                <a:solidFill>
                  <a:srgbClr val="28283C"/>
                </a:solidFill>
                <a:latin typeface="Calibri"/>
              </a:defRPr>
            </a:pPr>
          </a:p>
          <a:p>
            <a:pPr>
              <a:lnSpc>
                <a:spcPct val="110000"/>
              </a:lnSpc>
              <a:spcAft>
                <a:spcPts val="300"/>
              </a:spcAft>
              <a:defRPr sz="950">
                <a:solidFill>
                  <a:srgbClr val="28283C"/>
                </a:solidFill>
                <a:latin typeface="Calibri"/>
              </a:defRPr>
            </a:pPr>
            <a:r>
              <a:t>Optimizations: Composite indexes on (date, scheme_code) to enable instantaneous BI loads.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6</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EDA HIGHLIGHTS</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Statistical &amp; Return Exploratory Findings</a:t>
            </a:r>
          </a:p>
          <a:p>
            <a:pPr>
              <a:lnSpc>
                <a:spcPct val="115000"/>
              </a:lnSpc>
              <a:spcAft>
                <a:spcPts val="800"/>
              </a:spcAft>
              <a:defRPr sz="1100">
                <a:solidFill>
                  <a:srgbClr val="28283C"/>
                </a:solidFill>
                <a:latin typeface="Calibri"/>
              </a:defRPr>
            </a:pPr>
            <a:r>
              <a:t>Pearson Correlation Structure:</a:t>
            </a:r>
          </a:p>
          <a:p>
            <a:pPr>
              <a:lnSpc>
                <a:spcPct val="115000"/>
              </a:lnSpc>
              <a:spcAft>
                <a:spcPts val="800"/>
              </a:spcAft>
              <a:defRPr sz="1100">
                <a:solidFill>
                  <a:srgbClr val="28283C"/>
                </a:solidFill>
                <a:latin typeface="Calibri"/>
              </a:defRPr>
            </a:pPr>
            <a:r>
              <a:t>  • Large-cap equity funds exhibit extremely high return correlation (0.86 - 0.94), showing active portfolios heavily mirror indexes.</a:t>
            </a:r>
          </a:p>
          <a:p>
            <a:pPr>
              <a:lnSpc>
                <a:spcPct val="115000"/>
              </a:lnSpc>
              <a:spcAft>
                <a:spcPts val="800"/>
              </a:spcAft>
              <a:defRPr sz="1100">
                <a:solidFill>
                  <a:srgbClr val="28283C"/>
                </a:solidFill>
                <a:latin typeface="Calibri"/>
              </a:defRPr>
            </a:pPr>
            <a:r>
              <a:t>  • Tech sectoral funds (ICICI Tech) exhibit a 0.42 correlation, serving as a powerful diversification tool.</a:t>
            </a:r>
          </a:p>
          <a:p>
            <a:pPr>
              <a:lnSpc>
                <a:spcPct val="115000"/>
              </a:lnSpc>
              <a:spcAft>
                <a:spcPts val="800"/>
              </a:spcAft>
              <a:defRPr sz="1100">
                <a:solidFill>
                  <a:srgbClr val="28283C"/>
                </a:solidFill>
                <a:latin typeface="Calibri"/>
              </a:defRPr>
            </a:pPr>
            <a:r>
              <a:t>Ordinary Least Squares (OLS) Regression:</a:t>
            </a:r>
          </a:p>
          <a:p>
            <a:pPr>
              <a:lnSpc>
                <a:spcPct val="115000"/>
              </a:lnSpc>
              <a:spcAft>
                <a:spcPts val="800"/>
              </a:spcAft>
              <a:defRPr sz="1100">
                <a:solidFill>
                  <a:srgbClr val="28283C"/>
                </a:solidFill>
                <a:latin typeface="Calibri"/>
              </a:defRPr>
            </a:pPr>
            <a:r>
              <a:t>  • Regression of 3Y CAGR on Expense Ratios confirms a statistically significant negative fee drag on net compound growth.</a:t>
            </a:r>
          </a:p>
          <a:p>
            <a:pPr>
              <a:lnSpc>
                <a:spcPct val="115000"/>
              </a:lnSpc>
              <a:spcAft>
                <a:spcPts val="800"/>
              </a:spcAft>
              <a:defRPr sz="1100">
                <a:solidFill>
                  <a:srgbClr val="28283C"/>
                </a:solidFill>
                <a:latin typeface="Calibri"/>
              </a:defRPr>
            </a:pPr>
            <a:r>
              <a:t>Cash Flow Split:</a:t>
            </a:r>
          </a:p>
          <a:p>
            <a:pPr>
              <a:lnSpc>
                <a:spcPct val="115000"/>
              </a:lnSpc>
              <a:spcAft>
                <a:spcPts val="800"/>
              </a:spcAft>
              <a:defRPr sz="1100">
                <a:solidFill>
                  <a:srgbClr val="28283C"/>
                </a:solidFill>
                <a:latin typeface="Calibri"/>
              </a:defRPr>
            </a:pPr>
            <a:r>
              <a:t>  • SIPs make up 62.4% of transaction counts but only 28.1% of capital volume, while lumpsums drive 58.4% of total volume.</a:t>
            </a:r>
          </a:p>
        </p:txBody>
      </p:sp>
      <p:graphicFrame>
        <p:nvGraphicFramePr>
          <p:cNvPr id="8" name="Table 7"/>
          <p:cNvGraphicFramePr>
            <a:graphicFrameLocks noGrp="1"/>
          </p:cNvGraphicFramePr>
          <p:nvPr/>
        </p:nvGraphicFramePr>
        <p:xfrm>
          <a:off x="5943600" y="1463040"/>
          <a:ext cx="5303520" cy="4114800"/>
        </p:xfrm>
        <a:graphic>
          <a:graphicData uri="http://schemas.openxmlformats.org/drawingml/2006/table">
            <a:tbl>
              <a:tblPr firstRow="1" bandRow="1">
                <a:tableStyleId>{5C22544A-7EE6-4342-B048-85BDC9FD1C3A}</a:tableStyleId>
              </a:tblPr>
              <a:tblGrid>
                <a:gridCol w="1060704"/>
                <a:gridCol w="1060704"/>
                <a:gridCol w="1060704"/>
                <a:gridCol w="1060704"/>
                <a:gridCol w="1060704"/>
              </a:tblGrid>
              <a:tr h="1028700">
                <a:tc>
                  <a:txBody>
                    <a:bodyPr/>
                    <a:lstStyle/>
                    <a:p>
                      <a:pPr algn="ctr">
                        <a:defRPr sz="950" b="1">
                          <a:solidFill>
                            <a:srgbClr val="FFFFFF"/>
                          </a:solidFill>
                          <a:latin typeface="Calibri"/>
                        </a:defRPr>
                      </a:pPr>
                      <a:r>
                        <a:t>Filename</a:t>
                      </a:r>
                    </a:p>
                  </a:txBody>
                  <a:tcPr>
                    <a:solidFill>
                      <a:srgbClr val="0F173C"/>
                    </a:solidFill>
                  </a:tcPr>
                </a:tc>
                <a:tc>
                  <a:txBody>
                    <a:bodyPr/>
                    <a:lstStyle/>
                    <a:p>
                      <a:pPr algn="ctr">
                        <a:defRPr sz="950" b="1">
                          <a:solidFill>
                            <a:srgbClr val="FFFFFF"/>
                          </a:solidFill>
                          <a:latin typeface="Calibri"/>
                        </a:defRPr>
                      </a:pPr>
                      <a:r>
                        <a:t>Raw Rows</a:t>
                      </a:r>
                    </a:p>
                  </a:txBody>
                  <a:tcPr>
                    <a:solidFill>
                      <a:srgbClr val="0F173C"/>
                    </a:solidFill>
                  </a:tcPr>
                </a:tc>
                <a:tc>
                  <a:txBody>
                    <a:bodyPr/>
                    <a:lstStyle/>
                    <a:p>
                      <a:pPr algn="ctr">
                        <a:defRPr sz="950" b="1">
                          <a:solidFill>
                            <a:srgbClr val="FFFFFF"/>
                          </a:solidFill>
                          <a:latin typeface="Calibri"/>
                        </a:defRPr>
                      </a:pPr>
                      <a:r>
                        <a:t>Final Rows</a:t>
                      </a:r>
                    </a:p>
                  </a:txBody>
                  <a:tcPr>
                    <a:solidFill>
                      <a:srgbClr val="0F173C"/>
                    </a:solidFill>
                  </a:tcPr>
                </a:tc>
                <a:tc>
                  <a:txBody>
                    <a:bodyPr/>
                    <a:lstStyle/>
                    <a:p>
                      <a:pPr algn="ctr">
                        <a:defRPr sz="950" b="1">
                          <a:solidFill>
                            <a:srgbClr val="FFFFFF"/>
                          </a:solidFill>
                          <a:latin typeface="Calibri"/>
                        </a:defRPr>
                      </a:pPr>
                      <a:r>
                        <a:t>Dupes Del</a:t>
                      </a:r>
                    </a:p>
                  </a:txBody>
                  <a:tcPr>
                    <a:solidFill>
                      <a:srgbClr val="0F173C"/>
                    </a:solidFill>
                  </a:tcPr>
                </a:tc>
                <a:tc>
                  <a:txBody>
                    <a:bodyPr/>
                    <a:lstStyle/>
                    <a:p>
                      <a:pPr algn="ctr">
                        <a:defRPr sz="950" b="1">
                          <a:solidFill>
                            <a:srgbClr val="FFFFFF"/>
                          </a:solidFill>
                          <a:latin typeface="Calibri"/>
                        </a:defRPr>
                      </a:pPr>
                      <a:r>
                        <a:t>Bad Dates</a:t>
                      </a:r>
                    </a:p>
                  </a:txBody>
                  <a:tcPr>
                    <a:solidFill>
                      <a:srgbClr val="0F173C"/>
                    </a:solidFill>
                  </a:tcPr>
                </a:tc>
              </a:tr>
              <a:tr h="1028700">
                <a:tc>
                  <a:txBody>
                    <a:bodyPr/>
                    <a:lstStyle/>
                    <a:p>
                      <a:pPr algn="l">
                        <a:defRPr sz="900" b="1">
                          <a:solidFill>
                            <a:srgbClr val="28283C"/>
                          </a:solidFill>
                          <a:latin typeface="Calibri"/>
                        </a:defRPr>
                      </a:pPr>
                      <a:r>
                        <a:t>nav_history</a:t>
                      </a:r>
                    </a:p>
                  </a:txBody>
                  <a:tcPr>
                    <a:solidFill>
                      <a:srgbClr val="F0EDE6"/>
                    </a:solidFill>
                  </a:tcPr>
                </a:tc>
                <a:tc>
                  <a:txBody>
                    <a:bodyPr/>
                    <a:lstStyle/>
                    <a:p>
                      <a:pPr algn="l">
                        <a:defRPr sz="900">
                          <a:solidFill>
                            <a:srgbClr val="28283C"/>
                          </a:solidFill>
                          <a:latin typeface="Calibri"/>
                        </a:defRPr>
                      </a:pPr>
                      <a:r>
                        <a:t>10980</a:t>
                      </a:r>
                    </a:p>
                  </a:txBody>
                  <a:tcPr>
                    <a:solidFill>
                      <a:srgbClr val="F0EDE6"/>
                    </a:solidFill>
                  </a:tcPr>
                </a:tc>
                <a:tc>
                  <a:txBody>
                    <a:bodyPr/>
                    <a:lstStyle/>
                    <a:p>
                      <a:pPr algn="ctr">
                        <a:defRPr sz="900">
                          <a:solidFill>
                            <a:srgbClr val="28283C"/>
                          </a:solidFill>
                          <a:latin typeface="Calibri"/>
                        </a:defRPr>
                      </a:pPr>
                      <a:r>
                        <a:t>7798</a:t>
                      </a:r>
                    </a:p>
                  </a:txBody>
                  <a:tcPr>
                    <a:solidFill>
                      <a:srgbClr val="F0EDE6"/>
                    </a:solidFill>
                  </a:tcPr>
                </a:tc>
                <a:tc>
                  <a:txBody>
                    <a:bodyPr/>
                    <a:lstStyle/>
                    <a:p>
                      <a:pPr algn="ctr">
                        <a:defRPr sz="900">
                          <a:solidFill>
                            <a:srgbClr val="28283C"/>
                          </a:solidFill>
                          <a:latin typeface="Calibri"/>
                        </a:defRPr>
                      </a:pPr>
                      <a:r>
                        <a:t>25</a:t>
                      </a:r>
                    </a:p>
                  </a:txBody>
                  <a:tcPr>
                    <a:solidFill>
                      <a:srgbClr val="F0EDE6"/>
                    </a:solidFill>
                  </a:tcPr>
                </a:tc>
                <a:tc>
                  <a:txBody>
                    <a:bodyPr/>
                    <a:lstStyle/>
                    <a:p>
                      <a:pPr algn="ctr">
                        <a:defRPr sz="900">
                          <a:solidFill>
                            <a:srgbClr val="28283C"/>
                          </a:solidFill>
                          <a:latin typeface="Calibri"/>
                        </a:defRPr>
                      </a:pPr>
                      <a:r>
                        <a:t>5</a:t>
                      </a:r>
                    </a:p>
                  </a:txBody>
                  <a:tcPr>
                    <a:solidFill>
                      <a:srgbClr val="F0EDE6"/>
                    </a:solidFill>
                  </a:tcPr>
                </a:tc>
              </a:tr>
              <a:tr h="1028700">
                <a:tc>
                  <a:txBody>
                    <a:bodyPr/>
                    <a:lstStyle/>
                    <a:p>
                      <a:pPr algn="l">
                        <a:defRPr sz="900" b="1">
                          <a:solidFill>
                            <a:srgbClr val="28283C"/>
                          </a:solidFill>
                          <a:latin typeface="Calibri"/>
                        </a:defRPr>
                      </a:pPr>
                      <a:r>
                        <a:t>investor_transactions</a:t>
                      </a:r>
                    </a:p>
                  </a:txBody>
                  <a:tcPr>
                    <a:solidFill>
                      <a:srgbClr val="FFFFFF"/>
                    </a:solidFill>
                  </a:tcPr>
                </a:tc>
                <a:tc>
                  <a:txBody>
                    <a:bodyPr/>
                    <a:lstStyle/>
                    <a:p>
                      <a:pPr algn="l">
                        <a:defRPr sz="900">
                          <a:solidFill>
                            <a:srgbClr val="28283C"/>
                          </a:solidFill>
                          <a:latin typeface="Calibri"/>
                        </a:defRPr>
                      </a:pPr>
                      <a:r>
                        <a:t>2015</a:t>
                      </a:r>
                    </a:p>
                  </a:txBody>
                  <a:tcPr>
                    <a:solidFill>
                      <a:srgbClr val="FFFFFF"/>
                    </a:solidFill>
                  </a:tcPr>
                </a:tc>
                <a:tc>
                  <a:txBody>
                    <a:bodyPr/>
                    <a:lstStyle/>
                    <a:p>
                      <a:pPr algn="ctr">
                        <a:defRPr sz="900">
                          <a:solidFill>
                            <a:srgbClr val="28283C"/>
                          </a:solidFill>
                          <a:latin typeface="Calibri"/>
                        </a:defRPr>
                      </a:pPr>
                      <a:r>
                        <a:t>1985</a:t>
                      </a:r>
                    </a:p>
                  </a:txBody>
                  <a:tcPr>
                    <a:solidFill>
                      <a:srgbClr val="FFFFFF"/>
                    </a:solidFill>
                  </a:tcPr>
                </a:tc>
                <a:tc>
                  <a:txBody>
                    <a:bodyPr/>
                    <a:lstStyle/>
                    <a:p>
                      <a:pPr algn="ctr">
                        <a:defRPr sz="900">
                          <a:solidFill>
                            <a:srgbClr val="28283C"/>
                          </a:solidFill>
                          <a:latin typeface="Calibri"/>
                        </a:defRPr>
                      </a:pPr>
                      <a:r>
                        <a:t>15</a:t>
                      </a:r>
                    </a:p>
                  </a:txBody>
                  <a:tcPr>
                    <a:solidFill>
                      <a:srgbClr val="FFFFFF"/>
                    </a:solidFill>
                  </a:tcPr>
                </a:tc>
                <a:tc>
                  <a:txBody>
                    <a:bodyPr/>
                    <a:lstStyle/>
                    <a:p>
                      <a:pPr algn="ctr">
                        <a:defRPr sz="900">
                          <a:solidFill>
                            <a:srgbClr val="28283C"/>
                          </a:solidFill>
                          <a:latin typeface="Calibri"/>
                        </a:defRPr>
                      </a:pPr>
                      <a:r>
                        <a:t>15</a:t>
                      </a:r>
                    </a:p>
                  </a:txBody>
                  <a:tcPr>
                    <a:solidFill>
                      <a:srgbClr val="FFFFFF"/>
                    </a:solidFill>
                  </a:tcPr>
                </a:tc>
              </a:tr>
              <a:tr h="1028700">
                <a:tc>
                  <a:txBody>
                    <a:bodyPr/>
                    <a:lstStyle/>
                    <a:p>
                      <a:pPr algn="l">
                        <a:defRPr sz="900" b="1">
                          <a:solidFill>
                            <a:srgbClr val="28283C"/>
                          </a:solidFill>
                          <a:latin typeface="Calibri"/>
                        </a:defRPr>
                      </a:pPr>
                      <a:r>
                        <a:t>scheme_performance</a:t>
                      </a:r>
                    </a:p>
                  </a:txBody>
                  <a:tcPr>
                    <a:solidFill>
                      <a:srgbClr val="F0EDE6"/>
                    </a:solidFill>
                  </a:tcPr>
                </a:tc>
                <a:tc>
                  <a:txBody>
                    <a:bodyPr/>
                    <a:lstStyle/>
                    <a:p>
                      <a:pPr algn="l">
                        <a:defRPr sz="900">
                          <a:solidFill>
                            <a:srgbClr val="28283C"/>
                          </a:solidFill>
                          <a:latin typeface="Calibri"/>
                        </a:defRPr>
                      </a:pPr>
                      <a:r>
                        <a:t>120</a:t>
                      </a:r>
                    </a:p>
                  </a:txBody>
                  <a:tcPr>
                    <a:solidFill>
                      <a:srgbClr val="F0EDE6"/>
                    </a:solidFill>
                  </a:tcPr>
                </a:tc>
                <a:tc>
                  <a:txBody>
                    <a:bodyPr/>
                    <a:lstStyle/>
                    <a:p>
                      <a:pPr algn="ctr">
                        <a:defRPr sz="900">
                          <a:solidFill>
                            <a:srgbClr val="28283C"/>
                          </a:solidFill>
                          <a:latin typeface="Calibri"/>
                        </a:defRPr>
                      </a:pPr>
                      <a:r>
                        <a:t>120</a:t>
                      </a:r>
                    </a:p>
                  </a:txBody>
                  <a:tcPr>
                    <a:solidFill>
                      <a:srgbClr val="F0EDE6"/>
                    </a:solidFill>
                  </a:tcPr>
                </a:tc>
                <a:tc>
                  <a:txBody>
                    <a:bodyPr/>
                    <a:lstStyle/>
                    <a:p>
                      <a:pPr algn="ctr">
                        <a:defRPr sz="900">
                          <a:solidFill>
                            <a:srgbClr val="28283C"/>
                          </a:solidFill>
                          <a:latin typeface="Calibri"/>
                        </a:defRPr>
                      </a:pPr>
                      <a:r>
                        <a:t>0</a:t>
                      </a:r>
                    </a:p>
                  </a:txBody>
                  <a:tcPr>
                    <a:solidFill>
                      <a:srgbClr val="F0EDE6"/>
                    </a:solidFill>
                  </a:tcPr>
                </a:tc>
                <a:tc>
                  <a:txBody>
                    <a:bodyPr/>
                    <a:lstStyle/>
                    <a:p>
                      <a:pPr algn="ctr">
                        <a:defRPr sz="900">
                          <a:solidFill>
                            <a:srgbClr val="28283C"/>
                          </a:solidFill>
                          <a:latin typeface="Calibri"/>
                        </a:defRPr>
                      </a:pPr>
                      <a:r>
                        <a:t>0</a:t>
                      </a:r>
                    </a:p>
                  </a:txBody>
                  <a:tcPr>
                    <a:solidFill>
                      <a:srgbClr val="F0EDE6"/>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7</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PERFORMANCE ANALYTICS</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Multi-Factor Scoring Leaderboard</a:t>
            </a:r>
          </a:p>
          <a:p>
            <a:pPr>
              <a:lnSpc>
                <a:spcPct val="115000"/>
              </a:lnSpc>
              <a:spcAft>
                <a:spcPts val="800"/>
              </a:spcAft>
              <a:defRPr sz="1100">
                <a:solidFill>
                  <a:srgbClr val="28283C"/>
                </a:solidFill>
                <a:latin typeface="Calibri"/>
              </a:defRPr>
            </a:pPr>
            <a:r>
              <a:t>The weighted performance scorecard evaluates five risk-return factors:</a:t>
            </a:r>
          </a:p>
          <a:p>
            <a:pPr>
              <a:lnSpc>
                <a:spcPct val="115000"/>
              </a:lnSpc>
              <a:spcAft>
                <a:spcPts val="800"/>
              </a:spcAft>
              <a:defRPr sz="1100">
                <a:solidFill>
                  <a:srgbClr val="28283C"/>
                </a:solidFill>
                <a:latin typeface="Calibri"/>
              </a:defRPr>
            </a:pPr>
            <a:r>
              <a:t>• 3-Year CAGR (30% weight) - Compound growth</a:t>
            </a:r>
          </a:p>
          <a:p>
            <a:pPr>
              <a:lnSpc>
                <a:spcPct val="115000"/>
              </a:lnSpc>
              <a:spcAft>
                <a:spcPts val="800"/>
              </a:spcAft>
              <a:defRPr sz="1100">
                <a:solidFill>
                  <a:srgbClr val="28283C"/>
                </a:solidFill>
                <a:latin typeface="Calibri"/>
              </a:defRPr>
            </a:pPr>
            <a:r>
              <a:t>• Sharpe Ratio (25% weight, Risk-Free Rate = 6.5%)</a:t>
            </a:r>
          </a:p>
          <a:p>
            <a:pPr>
              <a:lnSpc>
                <a:spcPct val="115000"/>
              </a:lnSpc>
              <a:spcAft>
                <a:spcPts val="800"/>
              </a:spcAft>
              <a:defRPr sz="1100">
                <a:solidFill>
                  <a:srgbClr val="28283C"/>
                </a:solidFill>
                <a:latin typeface="Calibri"/>
              </a:defRPr>
            </a:pPr>
            <a:r>
              <a:t>• CAPM Alpha (20% weight, Benchmark: Nifty 100)</a:t>
            </a:r>
          </a:p>
          <a:p>
            <a:pPr>
              <a:lnSpc>
                <a:spcPct val="115000"/>
              </a:lnSpc>
              <a:spcAft>
                <a:spcPts val="800"/>
              </a:spcAft>
              <a:defRPr sz="1100">
                <a:solidFill>
                  <a:srgbClr val="28283C"/>
                </a:solidFill>
                <a:latin typeface="Calibri"/>
              </a:defRPr>
            </a:pPr>
            <a:r>
              <a:t>• Expense Ratio (15% weight, inverse)</a:t>
            </a:r>
          </a:p>
          <a:p>
            <a:pPr>
              <a:lnSpc>
                <a:spcPct val="115000"/>
              </a:lnSpc>
              <a:spcAft>
                <a:spcPts val="800"/>
              </a:spcAft>
              <a:defRPr sz="1100">
                <a:solidFill>
                  <a:srgbClr val="28283C"/>
                </a:solidFill>
                <a:latin typeface="Calibri"/>
              </a:defRPr>
            </a:pPr>
            <a:r>
              <a:t>• Max Drawdown (10% weight, inverse)</a:t>
            </a:r>
          </a:p>
          <a:p>
            <a:pPr>
              <a:lnSpc>
                <a:spcPct val="115000"/>
              </a:lnSpc>
              <a:spcAft>
                <a:spcPts val="800"/>
              </a:spcAft>
              <a:defRPr sz="1100">
                <a:solidFill>
                  <a:srgbClr val="28283C"/>
                </a:solidFill>
                <a:latin typeface="Calibri"/>
              </a:defRPr>
            </a:pPr>
          </a:p>
          <a:p>
            <a:pPr>
              <a:lnSpc>
                <a:spcPct val="115000"/>
              </a:lnSpc>
              <a:spcAft>
                <a:spcPts val="800"/>
              </a:spcAft>
              <a:defRPr sz="1100">
                <a:solidFill>
                  <a:srgbClr val="28283C"/>
                </a:solidFill>
                <a:latin typeface="Calibri"/>
              </a:defRPr>
            </a:pPr>
            <a:r>
              <a:t>Results: DSP Top 100 ranks #1 (Sharpe 1.22), Mirae Large Cap ranks #2 (Max DD -17.47%).</a:t>
            </a:r>
          </a:p>
        </p:txBody>
      </p:sp>
      <p:graphicFrame>
        <p:nvGraphicFramePr>
          <p:cNvPr id="8" name="Table 7"/>
          <p:cNvGraphicFramePr>
            <a:graphicFrameLocks noGrp="1"/>
          </p:cNvGraphicFramePr>
          <p:nvPr/>
        </p:nvGraphicFramePr>
        <p:xfrm>
          <a:off x="5943600" y="1463040"/>
          <a:ext cx="5303520" cy="4114800"/>
        </p:xfrm>
        <a:graphic>
          <a:graphicData uri="http://schemas.openxmlformats.org/drawingml/2006/table">
            <a:tbl>
              <a:tblPr firstRow="1" bandRow="1">
                <a:tableStyleId>{5C22544A-7EE6-4342-B048-85BDC9FD1C3A}</a:tableStyleId>
              </a:tblPr>
              <a:tblGrid>
                <a:gridCol w="548640"/>
                <a:gridCol w="1828800"/>
                <a:gridCol w="731520"/>
                <a:gridCol w="548640"/>
                <a:gridCol w="548640"/>
                <a:gridCol w="548640"/>
                <a:gridCol w="548640"/>
              </a:tblGrid>
              <a:tr h="587828">
                <a:tc>
                  <a:txBody>
                    <a:bodyPr/>
                    <a:lstStyle/>
                    <a:p>
                      <a:pPr algn="ctr">
                        <a:defRPr sz="950" b="1">
                          <a:solidFill>
                            <a:srgbClr val="FFFFFF"/>
                          </a:solidFill>
                          <a:latin typeface="Calibri"/>
                        </a:defRPr>
                      </a:pPr>
                      <a:r>
                        <a:t>Rank</a:t>
                      </a:r>
                    </a:p>
                  </a:txBody>
                  <a:tcPr>
                    <a:solidFill>
                      <a:srgbClr val="0F173C"/>
                    </a:solidFill>
                  </a:tcPr>
                </a:tc>
                <a:tc>
                  <a:txBody>
                    <a:bodyPr/>
                    <a:lstStyle/>
                    <a:p>
                      <a:pPr algn="ctr">
                        <a:defRPr sz="950" b="1">
                          <a:solidFill>
                            <a:srgbClr val="FFFFFF"/>
                          </a:solidFill>
                          <a:latin typeface="Calibri"/>
                        </a:defRPr>
                      </a:pPr>
                      <a:r>
                        <a:t>Scheme Name</a:t>
                      </a:r>
                    </a:p>
                  </a:txBody>
                  <a:tcPr>
                    <a:solidFill>
                      <a:srgbClr val="0F173C"/>
                    </a:solidFill>
                  </a:tcPr>
                </a:tc>
                <a:tc>
                  <a:txBody>
                    <a:bodyPr/>
                    <a:lstStyle/>
                    <a:p>
                      <a:pPr algn="ctr">
                        <a:defRPr sz="950" b="1">
                          <a:solidFill>
                            <a:srgbClr val="FFFFFF"/>
                          </a:solidFill>
                          <a:latin typeface="Calibri"/>
                        </a:defRPr>
                      </a:pPr>
                      <a:r>
                        <a:t>3Y CAGR</a:t>
                      </a:r>
                    </a:p>
                  </a:txBody>
                  <a:tcPr>
                    <a:solidFill>
                      <a:srgbClr val="0F173C"/>
                    </a:solidFill>
                  </a:tcPr>
                </a:tc>
                <a:tc>
                  <a:txBody>
                    <a:bodyPr/>
                    <a:lstStyle/>
                    <a:p>
                      <a:pPr algn="ctr">
                        <a:defRPr sz="950" b="1">
                          <a:solidFill>
                            <a:srgbClr val="FFFFFF"/>
                          </a:solidFill>
                          <a:latin typeface="Calibri"/>
                        </a:defRPr>
                      </a:pPr>
                      <a:r>
                        <a:t>Sharpe</a:t>
                      </a:r>
                    </a:p>
                  </a:txBody>
                  <a:tcPr>
                    <a:solidFill>
                      <a:srgbClr val="0F173C"/>
                    </a:solidFill>
                  </a:tcPr>
                </a:tc>
                <a:tc>
                  <a:txBody>
                    <a:bodyPr/>
                    <a:lstStyle/>
                    <a:p>
                      <a:pPr algn="ctr">
                        <a:defRPr sz="950" b="1">
                          <a:solidFill>
                            <a:srgbClr val="FFFFFF"/>
                          </a:solidFill>
                          <a:latin typeface="Calibri"/>
                        </a:defRPr>
                      </a:pPr>
                      <a:r>
                        <a:t>Alpha</a:t>
                      </a:r>
                    </a:p>
                  </a:txBody>
                  <a:tcPr>
                    <a:solidFill>
                      <a:srgbClr val="0F173C"/>
                    </a:solidFill>
                  </a:tcPr>
                </a:tc>
                <a:tc>
                  <a:txBody>
                    <a:bodyPr/>
                    <a:lstStyle/>
                    <a:p>
                      <a:pPr algn="ctr">
                        <a:defRPr sz="950" b="1">
                          <a:solidFill>
                            <a:srgbClr val="FFFFFF"/>
                          </a:solidFill>
                          <a:latin typeface="Calibri"/>
                        </a:defRPr>
                      </a:pPr>
                      <a:r>
                        <a:t>Max DD</a:t>
                      </a:r>
                    </a:p>
                  </a:txBody>
                  <a:tcPr>
                    <a:solidFill>
                      <a:srgbClr val="0F173C"/>
                    </a:solidFill>
                  </a:tcPr>
                </a:tc>
                <a:tc>
                  <a:txBody>
                    <a:bodyPr/>
                    <a:lstStyle/>
                    <a:p>
                      <a:pPr algn="ctr">
                        <a:defRPr sz="950" b="1">
                          <a:solidFill>
                            <a:srgbClr val="FFFFFF"/>
                          </a:solidFill>
                          <a:latin typeface="Calibri"/>
                        </a:defRPr>
                      </a:pPr>
                      <a:r>
                        <a:t>Expense</a:t>
                      </a:r>
                    </a:p>
                  </a:txBody>
                  <a:tcPr>
                    <a:solidFill>
                      <a:srgbClr val="0F173C"/>
                    </a:solidFill>
                  </a:tcPr>
                </a:tc>
              </a:tr>
              <a:tr h="587828">
                <a:tc>
                  <a:txBody>
                    <a:bodyPr/>
                    <a:lstStyle/>
                    <a:p>
                      <a:pPr algn="l">
                        <a:defRPr sz="900" b="1">
                          <a:solidFill>
                            <a:srgbClr val="28283C"/>
                          </a:solidFill>
                          <a:latin typeface="Calibri"/>
                        </a:defRPr>
                      </a:pPr>
                      <a:r>
                        <a:t>#1</a:t>
                      </a:r>
                    </a:p>
                  </a:txBody>
                  <a:tcPr>
                    <a:solidFill>
                      <a:srgbClr val="F0EDE6"/>
                    </a:solidFill>
                  </a:tcPr>
                </a:tc>
                <a:tc>
                  <a:txBody>
                    <a:bodyPr/>
                    <a:lstStyle/>
                    <a:p>
                      <a:pPr algn="l">
                        <a:defRPr sz="900">
                          <a:solidFill>
                            <a:srgbClr val="28283C"/>
                          </a:solidFill>
                          <a:latin typeface="Calibri"/>
                        </a:defRPr>
                      </a:pPr>
                      <a:r>
                        <a:t>DSP Top 100 Equity</a:t>
                      </a:r>
                    </a:p>
                  </a:txBody>
                  <a:tcPr>
                    <a:solidFill>
                      <a:srgbClr val="F0EDE6"/>
                    </a:solidFill>
                  </a:tcPr>
                </a:tc>
                <a:tc>
                  <a:txBody>
                    <a:bodyPr/>
                    <a:lstStyle/>
                    <a:p>
                      <a:pPr algn="ctr">
                        <a:defRPr sz="900">
                          <a:solidFill>
                            <a:srgbClr val="28283C"/>
                          </a:solidFill>
                          <a:latin typeface="Calibri"/>
                        </a:defRPr>
                      </a:pPr>
                      <a:r>
                        <a:t>39.8%</a:t>
                      </a:r>
                    </a:p>
                  </a:txBody>
                  <a:tcPr>
                    <a:solidFill>
                      <a:srgbClr val="F0EDE6"/>
                    </a:solidFill>
                  </a:tcPr>
                </a:tc>
                <a:tc>
                  <a:txBody>
                    <a:bodyPr/>
                    <a:lstStyle/>
                    <a:p>
                      <a:pPr algn="ctr">
                        <a:defRPr sz="900">
                          <a:solidFill>
                            <a:srgbClr val="28283C"/>
                          </a:solidFill>
                          <a:latin typeface="Calibri"/>
                        </a:defRPr>
                      </a:pPr>
                      <a:r>
                        <a:t>1.22</a:t>
                      </a:r>
                    </a:p>
                  </a:txBody>
                  <a:tcPr>
                    <a:solidFill>
                      <a:srgbClr val="F0EDE6"/>
                    </a:solidFill>
                  </a:tcPr>
                </a:tc>
                <a:tc>
                  <a:txBody>
                    <a:bodyPr/>
                    <a:lstStyle/>
                    <a:p>
                      <a:pPr algn="ctr">
                        <a:defRPr sz="900">
                          <a:solidFill>
                            <a:srgbClr val="28283C"/>
                          </a:solidFill>
                          <a:latin typeface="Calibri"/>
                        </a:defRPr>
                      </a:pPr>
                      <a:r>
                        <a:t>28.9%</a:t>
                      </a:r>
                    </a:p>
                  </a:txBody>
                  <a:tcPr>
                    <a:solidFill>
                      <a:srgbClr val="F0EDE6"/>
                    </a:solidFill>
                  </a:tcPr>
                </a:tc>
                <a:tc>
                  <a:txBody>
                    <a:bodyPr/>
                    <a:lstStyle/>
                    <a:p>
                      <a:pPr algn="ctr">
                        <a:defRPr sz="900">
                          <a:solidFill>
                            <a:srgbClr val="28283C"/>
                          </a:solidFill>
                          <a:latin typeface="Calibri"/>
                        </a:defRPr>
                      </a:pPr>
                      <a:r>
                        <a:t>-24.7%</a:t>
                      </a:r>
                    </a:p>
                  </a:txBody>
                  <a:tcPr>
                    <a:solidFill>
                      <a:srgbClr val="F0EDE6"/>
                    </a:solidFill>
                  </a:tcPr>
                </a:tc>
                <a:tc>
                  <a:txBody>
                    <a:bodyPr/>
                    <a:lstStyle/>
                    <a:p>
                      <a:pPr algn="ctr">
                        <a:defRPr sz="900">
                          <a:solidFill>
                            <a:srgbClr val="28283C"/>
                          </a:solidFill>
                          <a:latin typeface="Calibri"/>
                        </a:defRPr>
                      </a:pPr>
                      <a:r>
                        <a:t>59.70%</a:t>
                      </a:r>
                    </a:p>
                  </a:txBody>
                  <a:tcPr>
                    <a:solidFill>
                      <a:srgbClr val="F0EDE6"/>
                    </a:solidFill>
                  </a:tcPr>
                </a:tc>
              </a:tr>
              <a:tr h="587828">
                <a:tc>
                  <a:txBody>
                    <a:bodyPr/>
                    <a:lstStyle/>
                    <a:p>
                      <a:pPr algn="l">
                        <a:defRPr sz="900" b="1">
                          <a:solidFill>
                            <a:srgbClr val="28283C"/>
                          </a:solidFill>
                          <a:latin typeface="Calibri"/>
                        </a:defRPr>
                      </a:pPr>
                      <a:r>
                        <a:t>#2</a:t>
                      </a:r>
                    </a:p>
                  </a:txBody>
                  <a:tcPr>
                    <a:solidFill>
                      <a:srgbClr val="FFFFFF"/>
                    </a:solidFill>
                  </a:tcPr>
                </a:tc>
                <a:tc>
                  <a:txBody>
                    <a:bodyPr/>
                    <a:lstStyle/>
                    <a:p>
                      <a:pPr algn="l">
                        <a:defRPr sz="900">
                          <a:solidFill>
                            <a:srgbClr val="28283C"/>
                          </a:solidFill>
                          <a:latin typeface="Calibri"/>
                        </a:defRPr>
                      </a:pPr>
                      <a:r>
                        <a:t>Mirae Asset Large Cap</a:t>
                      </a:r>
                    </a:p>
                  </a:txBody>
                  <a:tcPr>
                    <a:solidFill>
                      <a:srgbClr val="FFFFFF"/>
                    </a:solidFill>
                  </a:tcPr>
                </a:tc>
                <a:tc>
                  <a:txBody>
                    <a:bodyPr/>
                    <a:lstStyle/>
                    <a:p>
                      <a:pPr algn="ctr">
                        <a:defRPr sz="900">
                          <a:solidFill>
                            <a:srgbClr val="28283C"/>
                          </a:solidFill>
                          <a:latin typeface="Calibri"/>
                        </a:defRPr>
                      </a:pPr>
                      <a:r>
                        <a:t>33.1%</a:t>
                      </a:r>
                    </a:p>
                  </a:txBody>
                  <a:tcPr>
                    <a:solidFill>
                      <a:srgbClr val="FFFFFF"/>
                    </a:solidFill>
                  </a:tcPr>
                </a:tc>
                <a:tc>
                  <a:txBody>
                    <a:bodyPr/>
                    <a:lstStyle/>
                    <a:p>
                      <a:pPr algn="ctr">
                        <a:defRPr sz="900">
                          <a:solidFill>
                            <a:srgbClr val="28283C"/>
                          </a:solidFill>
                          <a:latin typeface="Calibri"/>
                        </a:defRPr>
                      </a:pPr>
                      <a:r>
                        <a:t>1.07</a:t>
                      </a:r>
                    </a:p>
                  </a:txBody>
                  <a:tcPr>
                    <a:solidFill>
                      <a:srgbClr val="FFFFFF"/>
                    </a:solidFill>
                  </a:tcPr>
                </a:tc>
                <a:tc>
                  <a:txBody>
                    <a:bodyPr/>
                    <a:lstStyle/>
                    <a:p>
                      <a:pPr algn="ctr">
                        <a:defRPr sz="900">
                          <a:solidFill>
                            <a:srgbClr val="28283C"/>
                          </a:solidFill>
                          <a:latin typeface="Calibri"/>
                        </a:defRPr>
                      </a:pPr>
                      <a:r>
                        <a:t>23.9%</a:t>
                      </a:r>
                    </a:p>
                  </a:txBody>
                  <a:tcPr>
                    <a:solidFill>
                      <a:srgbClr val="FFFFFF"/>
                    </a:solidFill>
                  </a:tcPr>
                </a:tc>
                <a:tc>
                  <a:txBody>
                    <a:bodyPr/>
                    <a:lstStyle/>
                    <a:p>
                      <a:pPr algn="ctr">
                        <a:defRPr sz="900">
                          <a:solidFill>
                            <a:srgbClr val="28283C"/>
                          </a:solidFill>
                          <a:latin typeface="Calibri"/>
                        </a:defRPr>
                      </a:pPr>
                      <a:r>
                        <a:t>-17.5%</a:t>
                      </a:r>
                    </a:p>
                  </a:txBody>
                  <a:tcPr>
                    <a:solidFill>
                      <a:srgbClr val="FFFFFF"/>
                    </a:solidFill>
                  </a:tcPr>
                </a:tc>
                <a:tc>
                  <a:txBody>
                    <a:bodyPr/>
                    <a:lstStyle/>
                    <a:p>
                      <a:pPr algn="ctr">
                        <a:defRPr sz="900">
                          <a:solidFill>
                            <a:srgbClr val="28283C"/>
                          </a:solidFill>
                          <a:latin typeface="Calibri"/>
                        </a:defRPr>
                      </a:pPr>
                      <a:r>
                        <a:t>55.60%</a:t>
                      </a:r>
                    </a:p>
                  </a:txBody>
                  <a:tcPr>
                    <a:solidFill>
                      <a:srgbClr val="FFFFFF"/>
                    </a:solidFill>
                  </a:tcPr>
                </a:tc>
              </a:tr>
              <a:tr h="587828">
                <a:tc>
                  <a:txBody>
                    <a:bodyPr/>
                    <a:lstStyle/>
                    <a:p>
                      <a:pPr algn="l">
                        <a:defRPr sz="900" b="1">
                          <a:solidFill>
                            <a:srgbClr val="28283C"/>
                          </a:solidFill>
                          <a:latin typeface="Calibri"/>
                        </a:defRPr>
                      </a:pPr>
                      <a:r>
                        <a:t>#3</a:t>
                      </a:r>
                    </a:p>
                  </a:txBody>
                  <a:tcPr>
                    <a:solidFill>
                      <a:srgbClr val="F0EDE6"/>
                    </a:solidFill>
                  </a:tcPr>
                </a:tc>
                <a:tc>
                  <a:txBody>
                    <a:bodyPr/>
                    <a:lstStyle/>
                    <a:p>
                      <a:pPr algn="l">
                        <a:defRPr sz="900">
                          <a:solidFill>
                            <a:srgbClr val="28283C"/>
                          </a:solidFill>
                          <a:latin typeface="Calibri"/>
                        </a:defRPr>
                      </a:pPr>
                      <a:r>
                        <a:t>Axis Bluechip</a:t>
                      </a:r>
                    </a:p>
                  </a:txBody>
                  <a:tcPr>
                    <a:solidFill>
                      <a:srgbClr val="F0EDE6"/>
                    </a:solidFill>
                  </a:tcPr>
                </a:tc>
                <a:tc>
                  <a:txBody>
                    <a:bodyPr/>
                    <a:lstStyle/>
                    <a:p>
                      <a:pPr algn="ctr">
                        <a:defRPr sz="900">
                          <a:solidFill>
                            <a:srgbClr val="28283C"/>
                          </a:solidFill>
                          <a:latin typeface="Calibri"/>
                        </a:defRPr>
                      </a:pPr>
                      <a:r>
                        <a:t>29.9%</a:t>
                      </a:r>
                    </a:p>
                  </a:txBody>
                  <a:tcPr>
                    <a:solidFill>
                      <a:srgbClr val="F0EDE6"/>
                    </a:solidFill>
                  </a:tcPr>
                </a:tc>
                <a:tc>
                  <a:txBody>
                    <a:bodyPr/>
                    <a:lstStyle/>
                    <a:p>
                      <a:pPr algn="ctr">
                        <a:defRPr sz="900">
                          <a:solidFill>
                            <a:srgbClr val="28283C"/>
                          </a:solidFill>
                          <a:latin typeface="Calibri"/>
                        </a:defRPr>
                      </a:pPr>
                      <a:r>
                        <a:t>0.96</a:t>
                      </a:r>
                    </a:p>
                  </a:txBody>
                  <a:tcPr>
                    <a:solidFill>
                      <a:srgbClr val="F0EDE6"/>
                    </a:solidFill>
                  </a:tcPr>
                </a:tc>
                <a:tc>
                  <a:txBody>
                    <a:bodyPr/>
                    <a:lstStyle/>
                    <a:p>
                      <a:pPr algn="ctr">
                        <a:defRPr sz="900">
                          <a:solidFill>
                            <a:srgbClr val="28283C"/>
                          </a:solidFill>
                          <a:latin typeface="Calibri"/>
                        </a:defRPr>
                      </a:pPr>
                      <a:r>
                        <a:t>21.2%</a:t>
                      </a:r>
                    </a:p>
                  </a:txBody>
                  <a:tcPr>
                    <a:solidFill>
                      <a:srgbClr val="F0EDE6"/>
                    </a:solidFill>
                  </a:tcPr>
                </a:tc>
                <a:tc>
                  <a:txBody>
                    <a:bodyPr/>
                    <a:lstStyle/>
                    <a:p>
                      <a:pPr algn="ctr">
                        <a:defRPr sz="900">
                          <a:solidFill>
                            <a:srgbClr val="28283C"/>
                          </a:solidFill>
                          <a:latin typeface="Calibri"/>
                        </a:defRPr>
                      </a:pPr>
                      <a:r>
                        <a:t>-23.8%</a:t>
                      </a:r>
                    </a:p>
                  </a:txBody>
                  <a:tcPr>
                    <a:solidFill>
                      <a:srgbClr val="F0EDE6"/>
                    </a:solidFill>
                  </a:tcPr>
                </a:tc>
                <a:tc>
                  <a:txBody>
                    <a:bodyPr/>
                    <a:lstStyle/>
                    <a:p>
                      <a:pPr algn="ctr">
                        <a:defRPr sz="900">
                          <a:solidFill>
                            <a:srgbClr val="28283C"/>
                          </a:solidFill>
                          <a:latin typeface="Calibri"/>
                        </a:defRPr>
                      </a:pPr>
                      <a:r>
                        <a:t>72.27%</a:t>
                      </a:r>
                    </a:p>
                  </a:txBody>
                  <a:tcPr>
                    <a:solidFill>
                      <a:srgbClr val="F0EDE6"/>
                    </a:solidFill>
                  </a:tcPr>
                </a:tc>
              </a:tr>
              <a:tr h="587828">
                <a:tc>
                  <a:txBody>
                    <a:bodyPr/>
                    <a:lstStyle/>
                    <a:p>
                      <a:pPr algn="l">
                        <a:defRPr sz="900" b="1">
                          <a:solidFill>
                            <a:srgbClr val="28283C"/>
                          </a:solidFill>
                          <a:latin typeface="Calibri"/>
                        </a:defRPr>
                      </a:pPr>
                      <a:r>
                        <a:t>#4</a:t>
                      </a:r>
                    </a:p>
                  </a:txBody>
                  <a:tcPr>
                    <a:solidFill>
                      <a:srgbClr val="FFFFFF"/>
                    </a:solidFill>
                  </a:tcPr>
                </a:tc>
                <a:tc>
                  <a:txBody>
                    <a:bodyPr/>
                    <a:lstStyle/>
                    <a:p>
                      <a:pPr algn="l">
                        <a:defRPr sz="900">
                          <a:solidFill>
                            <a:srgbClr val="28283C"/>
                          </a:solidFill>
                          <a:latin typeface="Calibri"/>
                        </a:defRPr>
                      </a:pPr>
                      <a:r>
                        <a:t>Canara Robeco Bluechip Equity</a:t>
                      </a:r>
                    </a:p>
                  </a:txBody>
                  <a:tcPr>
                    <a:solidFill>
                      <a:srgbClr val="FFFFFF"/>
                    </a:solidFill>
                  </a:tcPr>
                </a:tc>
                <a:tc>
                  <a:txBody>
                    <a:bodyPr/>
                    <a:lstStyle/>
                    <a:p>
                      <a:pPr algn="ctr">
                        <a:defRPr sz="900">
                          <a:solidFill>
                            <a:srgbClr val="28283C"/>
                          </a:solidFill>
                          <a:latin typeface="Calibri"/>
                        </a:defRPr>
                      </a:pPr>
                      <a:r>
                        <a:t>4.7%</a:t>
                      </a:r>
                    </a:p>
                  </a:txBody>
                  <a:tcPr>
                    <a:solidFill>
                      <a:srgbClr val="FFFFFF"/>
                    </a:solidFill>
                  </a:tcPr>
                </a:tc>
                <a:tc>
                  <a:txBody>
                    <a:bodyPr/>
                    <a:lstStyle/>
                    <a:p>
                      <a:pPr algn="ctr">
                        <a:defRPr sz="900">
                          <a:solidFill>
                            <a:srgbClr val="28283C"/>
                          </a:solidFill>
                          <a:latin typeface="Calibri"/>
                        </a:defRPr>
                      </a:pPr>
                      <a:r>
                        <a:t>0.01</a:t>
                      </a:r>
                    </a:p>
                  </a:txBody>
                  <a:tcPr>
                    <a:solidFill>
                      <a:srgbClr val="FFFFFF"/>
                    </a:solidFill>
                  </a:tcPr>
                </a:tc>
                <a:tc>
                  <a:txBody>
                    <a:bodyPr/>
                    <a:lstStyle/>
                    <a:p>
                      <a:pPr algn="ctr">
                        <a:defRPr sz="900">
                          <a:solidFill>
                            <a:srgbClr val="28283C"/>
                          </a:solidFill>
                          <a:latin typeface="Calibri"/>
                        </a:defRPr>
                      </a:pPr>
                      <a:r>
                        <a:t>0.3%</a:t>
                      </a:r>
                    </a:p>
                  </a:txBody>
                  <a:tcPr>
                    <a:solidFill>
                      <a:srgbClr val="FFFFFF"/>
                    </a:solidFill>
                  </a:tcPr>
                </a:tc>
                <a:tc>
                  <a:txBody>
                    <a:bodyPr/>
                    <a:lstStyle/>
                    <a:p>
                      <a:pPr algn="ctr">
                        <a:defRPr sz="900">
                          <a:solidFill>
                            <a:srgbClr val="28283C"/>
                          </a:solidFill>
                          <a:latin typeface="Calibri"/>
                        </a:defRPr>
                      </a:pPr>
                      <a:r>
                        <a:t>-24.1%</a:t>
                      </a:r>
                    </a:p>
                  </a:txBody>
                  <a:tcPr>
                    <a:solidFill>
                      <a:srgbClr val="FFFFFF"/>
                    </a:solidFill>
                  </a:tcPr>
                </a:tc>
                <a:tc>
                  <a:txBody>
                    <a:bodyPr/>
                    <a:lstStyle/>
                    <a:p>
                      <a:pPr algn="ctr">
                        <a:defRPr sz="900">
                          <a:solidFill>
                            <a:srgbClr val="28283C"/>
                          </a:solidFill>
                          <a:latin typeface="Calibri"/>
                        </a:defRPr>
                      </a:pPr>
                      <a:r>
                        <a:t>57.76%</a:t>
                      </a:r>
                    </a:p>
                  </a:txBody>
                  <a:tcPr>
                    <a:solidFill>
                      <a:srgbClr val="FFFFFF"/>
                    </a:solidFill>
                  </a:tcPr>
                </a:tc>
              </a:tr>
              <a:tr h="587828">
                <a:tc>
                  <a:txBody>
                    <a:bodyPr/>
                    <a:lstStyle/>
                    <a:p>
                      <a:pPr algn="l">
                        <a:defRPr sz="900" b="1">
                          <a:solidFill>
                            <a:srgbClr val="28283C"/>
                          </a:solidFill>
                          <a:latin typeface="Calibri"/>
                        </a:defRPr>
                      </a:pPr>
                      <a:r>
                        <a:t>#5</a:t>
                      </a:r>
                    </a:p>
                  </a:txBody>
                  <a:tcPr>
                    <a:solidFill>
                      <a:srgbClr val="F0EDE6"/>
                    </a:solidFill>
                  </a:tcPr>
                </a:tc>
                <a:tc>
                  <a:txBody>
                    <a:bodyPr/>
                    <a:lstStyle/>
                    <a:p>
                      <a:pPr algn="l">
                        <a:defRPr sz="900">
                          <a:solidFill>
                            <a:srgbClr val="28283C"/>
                          </a:solidFill>
                          <a:latin typeface="Calibri"/>
                        </a:defRPr>
                      </a:pPr>
                      <a:r>
                        <a:t>SBI Small Cap</a:t>
                      </a:r>
                    </a:p>
                  </a:txBody>
                  <a:tcPr>
                    <a:solidFill>
                      <a:srgbClr val="F0EDE6"/>
                    </a:solidFill>
                  </a:tcPr>
                </a:tc>
                <a:tc>
                  <a:txBody>
                    <a:bodyPr/>
                    <a:lstStyle/>
                    <a:p>
                      <a:pPr algn="ctr">
                        <a:defRPr sz="900">
                          <a:solidFill>
                            <a:srgbClr val="28283C"/>
                          </a:solidFill>
                          <a:latin typeface="Calibri"/>
                        </a:defRPr>
                      </a:pPr>
                      <a:r>
                        <a:t>14.7%</a:t>
                      </a:r>
                    </a:p>
                  </a:txBody>
                  <a:tcPr>
                    <a:solidFill>
                      <a:srgbClr val="F0EDE6"/>
                    </a:solidFill>
                  </a:tcPr>
                </a:tc>
                <a:tc>
                  <a:txBody>
                    <a:bodyPr/>
                    <a:lstStyle/>
                    <a:p>
                      <a:pPr algn="ctr">
                        <a:defRPr sz="900">
                          <a:solidFill>
                            <a:srgbClr val="28283C"/>
                          </a:solidFill>
                          <a:latin typeface="Calibri"/>
                        </a:defRPr>
                      </a:pPr>
                      <a:r>
                        <a:t>0.41</a:t>
                      </a:r>
                    </a:p>
                  </a:txBody>
                  <a:tcPr>
                    <a:solidFill>
                      <a:srgbClr val="F0EDE6"/>
                    </a:solidFill>
                  </a:tcPr>
                </a:tc>
                <a:tc>
                  <a:txBody>
                    <a:bodyPr/>
                    <a:lstStyle/>
                    <a:p>
                      <a:pPr algn="ctr">
                        <a:defRPr sz="900">
                          <a:solidFill>
                            <a:srgbClr val="28283C"/>
                          </a:solidFill>
                          <a:latin typeface="Calibri"/>
                        </a:defRPr>
                      </a:pPr>
                      <a:r>
                        <a:t>9.1%</a:t>
                      </a:r>
                    </a:p>
                  </a:txBody>
                  <a:tcPr>
                    <a:solidFill>
                      <a:srgbClr val="F0EDE6"/>
                    </a:solidFill>
                  </a:tcPr>
                </a:tc>
                <a:tc>
                  <a:txBody>
                    <a:bodyPr/>
                    <a:lstStyle/>
                    <a:p>
                      <a:pPr algn="ctr">
                        <a:defRPr sz="900">
                          <a:solidFill>
                            <a:srgbClr val="28283C"/>
                          </a:solidFill>
                          <a:latin typeface="Calibri"/>
                        </a:defRPr>
                      </a:pPr>
                      <a:r>
                        <a:t>-32.0%</a:t>
                      </a:r>
                    </a:p>
                  </a:txBody>
                  <a:tcPr>
                    <a:solidFill>
                      <a:srgbClr val="F0EDE6"/>
                    </a:solidFill>
                  </a:tcPr>
                </a:tc>
                <a:tc>
                  <a:txBody>
                    <a:bodyPr/>
                    <a:lstStyle/>
                    <a:p>
                      <a:pPr algn="ctr">
                        <a:defRPr sz="900">
                          <a:solidFill>
                            <a:srgbClr val="28283C"/>
                          </a:solidFill>
                          <a:latin typeface="Calibri"/>
                        </a:defRPr>
                      </a:pPr>
                      <a:r>
                        <a:t>115.87%</a:t>
                      </a:r>
                    </a:p>
                  </a:txBody>
                  <a:tcPr>
                    <a:solidFill>
                      <a:srgbClr val="F0EDE6"/>
                    </a:solidFill>
                  </a:tcPr>
                </a:tc>
              </a:tr>
              <a:tr h="587832">
                <a:tc>
                  <a:txBody>
                    <a:bodyPr/>
                    <a:lstStyle/>
                    <a:p>
                      <a:pPr algn="l">
                        <a:defRPr sz="900" b="1">
                          <a:solidFill>
                            <a:srgbClr val="28283C"/>
                          </a:solidFill>
                          <a:latin typeface="Calibri"/>
                        </a:defRPr>
                      </a:pPr>
                      <a:r>
                        <a:t>#6</a:t>
                      </a:r>
                    </a:p>
                  </a:txBody>
                  <a:tcPr>
                    <a:solidFill>
                      <a:srgbClr val="FFFFFF"/>
                    </a:solidFill>
                  </a:tcPr>
                </a:tc>
                <a:tc>
                  <a:txBody>
                    <a:bodyPr/>
                    <a:lstStyle/>
                    <a:p>
                      <a:pPr algn="l">
                        <a:defRPr sz="900">
                          <a:solidFill>
                            <a:srgbClr val="28283C"/>
                          </a:solidFill>
                          <a:latin typeface="Calibri"/>
                        </a:defRPr>
                      </a:pPr>
                      <a:r>
                        <a:t>ICICI Prudential Technology</a:t>
                      </a:r>
                    </a:p>
                  </a:txBody>
                  <a:tcPr>
                    <a:solidFill>
                      <a:srgbClr val="FFFFFF"/>
                    </a:solidFill>
                  </a:tcPr>
                </a:tc>
                <a:tc>
                  <a:txBody>
                    <a:bodyPr/>
                    <a:lstStyle/>
                    <a:p>
                      <a:pPr algn="ctr">
                        <a:defRPr sz="900">
                          <a:solidFill>
                            <a:srgbClr val="28283C"/>
                          </a:solidFill>
                          <a:latin typeface="Calibri"/>
                        </a:defRPr>
                      </a:pPr>
                      <a:r>
                        <a:t>2.1%</a:t>
                      </a:r>
                    </a:p>
                  </a:txBody>
                  <a:tcPr>
                    <a:solidFill>
                      <a:srgbClr val="FFFFFF"/>
                    </a:solidFill>
                  </a:tcPr>
                </a:tc>
                <a:tc>
                  <a:txBody>
                    <a:bodyPr/>
                    <a:lstStyle/>
                    <a:p>
                      <a:pPr algn="ctr">
                        <a:defRPr sz="900">
                          <a:solidFill>
                            <a:srgbClr val="28283C"/>
                          </a:solidFill>
                          <a:latin typeface="Calibri"/>
                        </a:defRPr>
                      </a:pPr>
                      <a:r>
                        <a:t>-0.09</a:t>
                      </a:r>
                    </a:p>
                  </a:txBody>
                  <a:tcPr>
                    <a:solidFill>
                      <a:srgbClr val="FFFFFF"/>
                    </a:solidFill>
                  </a:tcPr>
                </a:tc>
                <a:tc>
                  <a:txBody>
                    <a:bodyPr/>
                    <a:lstStyle/>
                    <a:p>
                      <a:pPr algn="ctr">
                        <a:defRPr sz="900">
                          <a:solidFill>
                            <a:srgbClr val="28283C"/>
                          </a:solidFill>
                          <a:latin typeface="Calibri"/>
                        </a:defRPr>
                      </a:pPr>
                      <a:r>
                        <a:t>-2.2%</a:t>
                      </a:r>
                    </a:p>
                  </a:txBody>
                  <a:tcPr>
                    <a:solidFill>
                      <a:srgbClr val="FFFFFF"/>
                    </a:solidFill>
                  </a:tcPr>
                </a:tc>
                <a:tc>
                  <a:txBody>
                    <a:bodyPr/>
                    <a:lstStyle/>
                    <a:p>
                      <a:pPr algn="ctr">
                        <a:defRPr sz="900">
                          <a:solidFill>
                            <a:srgbClr val="28283C"/>
                          </a:solidFill>
                          <a:latin typeface="Calibri"/>
                        </a:defRPr>
                      </a:pPr>
                      <a:r>
                        <a:t>-29.9%</a:t>
                      </a:r>
                    </a:p>
                  </a:txBody>
                  <a:tcPr>
                    <a:solidFill>
                      <a:srgbClr val="FFFFFF"/>
                    </a:solidFill>
                  </a:tcPr>
                </a:tc>
                <a:tc>
                  <a:txBody>
                    <a:bodyPr/>
                    <a:lstStyle/>
                    <a:p>
                      <a:pPr algn="ctr">
                        <a:defRPr sz="900">
                          <a:solidFill>
                            <a:srgbClr val="28283C"/>
                          </a:solidFill>
                          <a:latin typeface="Calibri"/>
                        </a:defRPr>
                      </a:pPr>
                      <a:r>
                        <a:t>117.74%</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8</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ADVANCED RISK METRICS</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Sector Concentration &amp; Tail Risks</a:t>
            </a:r>
          </a:p>
          <a:p>
            <a:pPr>
              <a:lnSpc>
                <a:spcPct val="115000"/>
              </a:lnSpc>
              <a:spcAft>
                <a:spcPts val="800"/>
              </a:spcAft>
              <a:defRPr sz="1100">
                <a:solidFill>
                  <a:srgbClr val="28283C"/>
                </a:solidFill>
                <a:latin typeface="Calibri"/>
              </a:defRPr>
            </a:pPr>
            <a:r>
              <a:t>Herfindahl-Hirschman Index (HHI):</a:t>
            </a:r>
          </a:p>
          <a:p>
            <a:pPr>
              <a:lnSpc>
                <a:spcPct val="115000"/>
              </a:lnSpc>
              <a:spcAft>
                <a:spcPts val="800"/>
              </a:spcAft>
              <a:defRPr sz="1100">
                <a:solidFill>
                  <a:srgbClr val="28283C"/>
                </a:solidFill>
                <a:latin typeface="Calibri"/>
              </a:defRPr>
            </a:pPr>
            <a:r>
              <a:t>  • Measures sector concentration. Scores above 2,500 represent concentrated portfolios.</a:t>
            </a:r>
          </a:p>
          <a:p>
            <a:pPr>
              <a:lnSpc>
                <a:spcPct val="115000"/>
              </a:lnSpc>
              <a:spcAft>
                <a:spcPts val="800"/>
              </a:spcAft>
              <a:defRPr sz="1100">
                <a:solidFill>
                  <a:srgbClr val="28283C"/>
                </a:solidFill>
                <a:latin typeface="Calibri"/>
              </a:defRPr>
            </a:pPr>
            <a:r>
              <a:t>Daily Value at Risk (95% VaR):</a:t>
            </a:r>
          </a:p>
          <a:p>
            <a:pPr>
              <a:lnSpc>
                <a:spcPct val="115000"/>
              </a:lnSpc>
              <a:spcAft>
                <a:spcPts val="800"/>
              </a:spcAft>
              <a:defRPr sz="1100">
                <a:solidFill>
                  <a:srgbClr val="28283C"/>
                </a:solidFill>
                <a:latin typeface="Calibri"/>
              </a:defRPr>
            </a:pPr>
            <a:r>
              <a:t>  • The threshold loss that will not be exceeded with 95% confidence on any trading day.</a:t>
            </a:r>
          </a:p>
          <a:p>
            <a:pPr>
              <a:lnSpc>
                <a:spcPct val="115000"/>
              </a:lnSpc>
              <a:spcAft>
                <a:spcPts val="800"/>
              </a:spcAft>
              <a:defRPr sz="1100">
                <a:solidFill>
                  <a:srgbClr val="28283C"/>
                </a:solidFill>
                <a:latin typeface="Calibri"/>
              </a:defRPr>
            </a:pPr>
            <a:r>
              <a:t>Daily Conditional VaR (95% CVaR / Expected Shortfall):</a:t>
            </a:r>
          </a:p>
          <a:p>
            <a:pPr>
              <a:lnSpc>
                <a:spcPct val="115000"/>
              </a:lnSpc>
              <a:spcAft>
                <a:spcPts val="800"/>
              </a:spcAft>
              <a:defRPr sz="1100">
                <a:solidFill>
                  <a:srgbClr val="28283C"/>
                </a:solidFill>
                <a:latin typeface="Calibri"/>
              </a:defRPr>
            </a:pPr>
            <a:r>
              <a:t>  • The average expected loss during the worst 5% of trading days.</a:t>
            </a:r>
          </a:p>
          <a:p>
            <a:pPr>
              <a:lnSpc>
                <a:spcPct val="115000"/>
              </a:lnSpc>
              <a:spcAft>
                <a:spcPts val="800"/>
              </a:spcAft>
              <a:defRPr sz="1100">
                <a:solidFill>
                  <a:srgbClr val="28283C"/>
                </a:solidFill>
                <a:latin typeface="Calibri"/>
              </a:defRPr>
            </a:pPr>
            <a:r>
              <a:t>Finding: ICICI Tech exhibits highest HHI (7,288), driving daily VaR to 2.33% and daily CVaR to 3.01%.</a:t>
            </a:r>
          </a:p>
        </p:txBody>
      </p:sp>
      <p:graphicFrame>
        <p:nvGraphicFramePr>
          <p:cNvPr id="8" name="Table 7"/>
          <p:cNvGraphicFramePr>
            <a:graphicFrameLocks noGrp="1"/>
          </p:cNvGraphicFramePr>
          <p:nvPr/>
        </p:nvGraphicFramePr>
        <p:xfrm>
          <a:off x="5943600" y="1463040"/>
          <a:ext cx="5303520" cy="4114800"/>
        </p:xfrm>
        <a:graphic>
          <a:graphicData uri="http://schemas.openxmlformats.org/drawingml/2006/table">
            <a:tbl>
              <a:tblPr firstRow="1" bandRow="1">
                <a:tableStyleId>{5C22544A-7EE6-4342-B048-85BDC9FD1C3A}</a:tableStyleId>
              </a:tblPr>
              <a:tblGrid>
                <a:gridCol w="1645920"/>
                <a:gridCol w="731520"/>
                <a:gridCol w="731520"/>
                <a:gridCol w="731520"/>
                <a:gridCol w="1463040"/>
              </a:tblGrid>
              <a:tr h="685800">
                <a:tc>
                  <a:txBody>
                    <a:bodyPr/>
                    <a:lstStyle/>
                    <a:p>
                      <a:pPr algn="ctr">
                        <a:defRPr sz="950" b="1">
                          <a:solidFill>
                            <a:srgbClr val="FFFFFF"/>
                          </a:solidFill>
                          <a:latin typeface="Calibri"/>
                        </a:defRPr>
                      </a:pPr>
                      <a:r>
                        <a:t>Scheme Name</a:t>
                      </a:r>
                    </a:p>
                  </a:txBody>
                  <a:tcPr>
                    <a:solidFill>
                      <a:srgbClr val="0F173C"/>
                    </a:solidFill>
                  </a:tcPr>
                </a:tc>
                <a:tc>
                  <a:txBody>
                    <a:bodyPr/>
                    <a:lstStyle/>
                    <a:p>
                      <a:pPr algn="ctr">
                        <a:defRPr sz="950" b="1">
                          <a:solidFill>
                            <a:srgbClr val="FFFFFF"/>
                          </a:solidFill>
                          <a:latin typeface="Calibri"/>
                        </a:defRPr>
                      </a:pPr>
                      <a:r>
                        <a:t>Daily VaR</a:t>
                      </a:r>
                    </a:p>
                  </a:txBody>
                  <a:tcPr>
                    <a:solidFill>
                      <a:srgbClr val="0F173C"/>
                    </a:solidFill>
                  </a:tcPr>
                </a:tc>
                <a:tc>
                  <a:txBody>
                    <a:bodyPr/>
                    <a:lstStyle/>
                    <a:p>
                      <a:pPr algn="ctr">
                        <a:defRPr sz="950" b="1">
                          <a:solidFill>
                            <a:srgbClr val="FFFFFF"/>
                          </a:solidFill>
                          <a:latin typeface="Calibri"/>
                        </a:defRPr>
                      </a:pPr>
                      <a:r>
                        <a:t>Daily CVaR</a:t>
                      </a:r>
                    </a:p>
                  </a:txBody>
                  <a:tcPr>
                    <a:solidFill>
                      <a:srgbClr val="0F173C"/>
                    </a:solidFill>
                  </a:tcPr>
                </a:tc>
                <a:tc>
                  <a:txBody>
                    <a:bodyPr/>
                    <a:lstStyle/>
                    <a:p>
                      <a:pPr algn="ctr">
                        <a:defRPr sz="950" b="1">
                          <a:solidFill>
                            <a:srgbClr val="FFFFFF"/>
                          </a:solidFill>
                          <a:latin typeface="Calibri"/>
                        </a:defRPr>
                      </a:pPr>
                      <a:r>
                        <a:t>Sector HHI</a:t>
                      </a:r>
                    </a:p>
                  </a:txBody>
                  <a:tcPr>
                    <a:solidFill>
                      <a:srgbClr val="0F173C"/>
                    </a:solidFill>
                  </a:tcPr>
                </a:tc>
                <a:tc>
                  <a:txBody>
                    <a:bodyPr/>
                    <a:lstStyle/>
                    <a:p>
                      <a:pPr algn="ctr">
                        <a:defRPr sz="950" b="1">
                          <a:solidFill>
                            <a:srgbClr val="FFFFFF"/>
                          </a:solidFill>
                          <a:latin typeface="Calibri"/>
                        </a:defRPr>
                      </a:pPr>
                      <a:r>
                        <a:t>Class</a:t>
                      </a:r>
                    </a:p>
                  </a:txBody>
                  <a:tcPr>
                    <a:solidFill>
                      <a:srgbClr val="0F173C"/>
                    </a:solidFill>
                  </a:tcPr>
                </a:tc>
              </a:tr>
              <a:tr h="685800">
                <a:tc>
                  <a:txBody>
                    <a:bodyPr/>
                    <a:lstStyle/>
                    <a:p>
                      <a:pPr algn="l">
                        <a:defRPr sz="900" b="1">
                          <a:solidFill>
                            <a:srgbClr val="28283C"/>
                          </a:solidFill>
                          <a:latin typeface="Calibri"/>
                        </a:defRPr>
                      </a:pPr>
                      <a:r>
                        <a:t>ICICI Prudential Technology</a:t>
                      </a:r>
                    </a:p>
                  </a:txBody>
                  <a:tcPr>
                    <a:solidFill>
                      <a:srgbClr val="F0EDE6"/>
                    </a:solidFill>
                  </a:tcPr>
                </a:tc>
                <a:tc>
                  <a:txBody>
                    <a:bodyPr/>
                    <a:lstStyle/>
                    <a:p>
                      <a:pPr algn="l">
                        <a:defRPr sz="900">
                          <a:solidFill>
                            <a:srgbClr val="28283C"/>
                          </a:solidFill>
                          <a:latin typeface="Calibri"/>
                        </a:defRPr>
                      </a:pPr>
                      <a:r>
                        <a:t>2.33%</a:t>
                      </a:r>
                    </a:p>
                  </a:txBody>
                  <a:tcPr>
                    <a:solidFill>
                      <a:srgbClr val="F0EDE6"/>
                    </a:solidFill>
                  </a:tcPr>
                </a:tc>
                <a:tc>
                  <a:txBody>
                    <a:bodyPr/>
                    <a:lstStyle/>
                    <a:p>
                      <a:pPr algn="ctr">
                        <a:defRPr sz="900">
                          <a:solidFill>
                            <a:srgbClr val="28283C"/>
                          </a:solidFill>
                          <a:latin typeface="Calibri"/>
                        </a:defRPr>
                      </a:pPr>
                      <a:r>
                        <a:t>3.01%</a:t>
                      </a:r>
                    </a:p>
                  </a:txBody>
                  <a:tcPr>
                    <a:solidFill>
                      <a:srgbClr val="F0EDE6"/>
                    </a:solidFill>
                  </a:tcPr>
                </a:tc>
                <a:tc>
                  <a:txBody>
                    <a:bodyPr/>
                    <a:lstStyle/>
                    <a:p>
                      <a:pPr algn="ctr">
                        <a:defRPr sz="900">
                          <a:solidFill>
                            <a:srgbClr val="28283C"/>
                          </a:solidFill>
                          <a:latin typeface="Calibri"/>
                        </a:defRPr>
                      </a:pPr>
                      <a:r>
                        <a:t>7288.00</a:t>
                      </a:r>
                    </a:p>
                  </a:txBody>
                  <a:tcPr>
                    <a:solidFill>
                      <a:srgbClr val="F0EDE6"/>
                    </a:solidFill>
                  </a:tcPr>
                </a:tc>
                <a:tc>
                  <a:txBody>
                    <a:bodyPr/>
                    <a:lstStyle/>
                    <a:p>
                      <a:pPr algn="ctr">
                        <a:defRPr sz="900">
                          <a:solidFill>
                            <a:srgbClr val="28283C"/>
                          </a:solidFill>
                          <a:latin typeface="Calibri"/>
                        </a:defRPr>
                      </a:pPr>
                      <a:r>
                        <a:t>High Concentration</a:t>
                      </a:r>
                    </a:p>
                  </a:txBody>
                  <a:tcPr>
                    <a:solidFill>
                      <a:srgbClr val="F0EDE6"/>
                    </a:solidFill>
                  </a:tcPr>
                </a:tc>
              </a:tr>
              <a:tr h="685800">
                <a:tc>
                  <a:txBody>
                    <a:bodyPr/>
                    <a:lstStyle/>
                    <a:p>
                      <a:pPr algn="l">
                        <a:defRPr sz="900" b="1">
                          <a:solidFill>
                            <a:srgbClr val="28283C"/>
                          </a:solidFill>
                          <a:latin typeface="Calibri"/>
                        </a:defRPr>
                      </a:pPr>
                      <a:r>
                        <a:t>Axis Bluechip</a:t>
                      </a:r>
                    </a:p>
                  </a:txBody>
                  <a:tcPr>
                    <a:solidFill>
                      <a:srgbClr val="FFFFFF"/>
                    </a:solidFill>
                  </a:tcPr>
                </a:tc>
                <a:tc>
                  <a:txBody>
                    <a:bodyPr/>
                    <a:lstStyle/>
                    <a:p>
                      <a:pPr algn="l">
                        <a:defRPr sz="900">
                          <a:solidFill>
                            <a:srgbClr val="28283C"/>
                          </a:solidFill>
                          <a:latin typeface="Calibri"/>
                        </a:defRPr>
                      </a:pPr>
                      <a:r>
                        <a:t>2.10%</a:t>
                      </a:r>
                    </a:p>
                  </a:txBody>
                  <a:tcPr>
                    <a:solidFill>
                      <a:srgbClr val="FFFFFF"/>
                    </a:solidFill>
                  </a:tcPr>
                </a:tc>
                <a:tc>
                  <a:txBody>
                    <a:bodyPr/>
                    <a:lstStyle/>
                    <a:p>
                      <a:pPr algn="ctr">
                        <a:defRPr sz="900">
                          <a:solidFill>
                            <a:srgbClr val="28283C"/>
                          </a:solidFill>
                          <a:latin typeface="Calibri"/>
                        </a:defRPr>
                      </a:pPr>
                      <a:r>
                        <a:t>2.87%</a:t>
                      </a:r>
                    </a:p>
                  </a:txBody>
                  <a:tcPr>
                    <a:solidFill>
                      <a:srgbClr val="FFFFFF"/>
                    </a:solidFill>
                  </a:tcPr>
                </a:tc>
                <a:tc>
                  <a:txBody>
                    <a:bodyPr/>
                    <a:lstStyle/>
                    <a:p>
                      <a:pPr algn="ctr">
                        <a:defRPr sz="900">
                          <a:solidFill>
                            <a:srgbClr val="28283C"/>
                          </a:solidFill>
                          <a:latin typeface="Calibri"/>
                        </a:defRPr>
                      </a:pPr>
                      <a:r>
                        <a:t>2300.00</a:t>
                      </a:r>
                    </a:p>
                  </a:txBody>
                  <a:tcPr>
                    <a:solidFill>
                      <a:srgbClr val="FFFFFF"/>
                    </a:solidFill>
                  </a:tcPr>
                </a:tc>
                <a:tc>
                  <a:txBody>
                    <a:bodyPr/>
                    <a:lstStyle/>
                    <a:p>
                      <a:pPr algn="ctr">
                        <a:defRPr sz="900">
                          <a:solidFill>
                            <a:srgbClr val="28283C"/>
                          </a:solidFill>
                          <a:latin typeface="Calibri"/>
                        </a:defRPr>
                      </a:pPr>
                      <a:r>
                        <a:t>Moderate Concentration</a:t>
                      </a:r>
                    </a:p>
                  </a:txBody>
                  <a:tcPr>
                    <a:solidFill>
                      <a:srgbClr val="FFFFFF"/>
                    </a:solidFill>
                  </a:tcPr>
                </a:tc>
              </a:tr>
              <a:tr h="685800">
                <a:tc>
                  <a:txBody>
                    <a:bodyPr/>
                    <a:lstStyle/>
                    <a:p>
                      <a:pPr algn="l">
                        <a:defRPr sz="900" b="1">
                          <a:solidFill>
                            <a:srgbClr val="28283C"/>
                          </a:solidFill>
                          <a:latin typeface="Calibri"/>
                        </a:defRPr>
                      </a:pPr>
                      <a:r>
                        <a:t>Kotak Bluechip</a:t>
                      </a:r>
                    </a:p>
                  </a:txBody>
                  <a:tcPr>
                    <a:solidFill>
                      <a:srgbClr val="F0EDE6"/>
                    </a:solidFill>
                  </a:tcPr>
                </a:tc>
                <a:tc>
                  <a:txBody>
                    <a:bodyPr/>
                    <a:lstStyle/>
                    <a:p>
                      <a:pPr algn="l">
                        <a:defRPr sz="900">
                          <a:solidFill>
                            <a:srgbClr val="28283C"/>
                          </a:solidFill>
                          <a:latin typeface="Calibri"/>
                        </a:defRPr>
                      </a:pPr>
                      <a:r>
                        <a:t>2.46%</a:t>
                      </a:r>
                    </a:p>
                  </a:txBody>
                  <a:tcPr>
                    <a:solidFill>
                      <a:srgbClr val="F0EDE6"/>
                    </a:solidFill>
                  </a:tcPr>
                </a:tc>
                <a:tc>
                  <a:txBody>
                    <a:bodyPr/>
                    <a:lstStyle/>
                    <a:p>
                      <a:pPr algn="ctr">
                        <a:defRPr sz="900">
                          <a:solidFill>
                            <a:srgbClr val="28283C"/>
                          </a:solidFill>
                          <a:latin typeface="Calibri"/>
                        </a:defRPr>
                      </a:pPr>
                      <a:r>
                        <a:t>3.13%</a:t>
                      </a:r>
                    </a:p>
                  </a:txBody>
                  <a:tcPr>
                    <a:solidFill>
                      <a:srgbClr val="F0EDE6"/>
                    </a:solidFill>
                  </a:tcPr>
                </a:tc>
                <a:tc>
                  <a:txBody>
                    <a:bodyPr/>
                    <a:lstStyle/>
                    <a:p>
                      <a:pPr algn="ctr">
                        <a:defRPr sz="900">
                          <a:solidFill>
                            <a:srgbClr val="28283C"/>
                          </a:solidFill>
                          <a:latin typeface="Calibri"/>
                        </a:defRPr>
                      </a:pPr>
                      <a:r>
                        <a:t>2300.00</a:t>
                      </a:r>
                    </a:p>
                  </a:txBody>
                  <a:tcPr>
                    <a:solidFill>
                      <a:srgbClr val="F0EDE6"/>
                    </a:solidFill>
                  </a:tcPr>
                </a:tc>
                <a:tc>
                  <a:txBody>
                    <a:bodyPr/>
                    <a:lstStyle/>
                    <a:p>
                      <a:pPr algn="ctr">
                        <a:defRPr sz="900">
                          <a:solidFill>
                            <a:srgbClr val="28283C"/>
                          </a:solidFill>
                          <a:latin typeface="Calibri"/>
                        </a:defRPr>
                      </a:pPr>
                      <a:r>
                        <a:t>Moderate Concentration</a:t>
                      </a:r>
                    </a:p>
                  </a:txBody>
                  <a:tcPr>
                    <a:solidFill>
                      <a:srgbClr val="F0EDE6"/>
                    </a:solidFill>
                  </a:tcPr>
                </a:tc>
              </a:tr>
              <a:tr h="685800">
                <a:tc>
                  <a:txBody>
                    <a:bodyPr/>
                    <a:lstStyle/>
                    <a:p>
                      <a:pPr algn="l">
                        <a:defRPr sz="900" b="1">
                          <a:solidFill>
                            <a:srgbClr val="28283C"/>
                          </a:solidFill>
                          <a:latin typeface="Calibri"/>
                        </a:defRPr>
                      </a:pPr>
                      <a:r>
                        <a:t>Nippon India Large Cap</a:t>
                      </a:r>
                    </a:p>
                  </a:txBody>
                  <a:tcPr>
                    <a:solidFill>
                      <a:srgbClr val="FFFFFF"/>
                    </a:solidFill>
                  </a:tcPr>
                </a:tc>
                <a:tc>
                  <a:txBody>
                    <a:bodyPr/>
                    <a:lstStyle/>
                    <a:p>
                      <a:pPr algn="l">
                        <a:defRPr sz="900">
                          <a:solidFill>
                            <a:srgbClr val="28283C"/>
                          </a:solidFill>
                          <a:latin typeface="Calibri"/>
                        </a:defRPr>
                      </a:pPr>
                      <a:r>
                        <a:t>2.46%</a:t>
                      </a:r>
                    </a:p>
                  </a:txBody>
                  <a:tcPr>
                    <a:solidFill>
                      <a:srgbClr val="FFFFFF"/>
                    </a:solidFill>
                  </a:tcPr>
                </a:tc>
                <a:tc>
                  <a:txBody>
                    <a:bodyPr/>
                    <a:lstStyle/>
                    <a:p>
                      <a:pPr algn="ctr">
                        <a:defRPr sz="900">
                          <a:solidFill>
                            <a:srgbClr val="28283C"/>
                          </a:solidFill>
                          <a:latin typeface="Calibri"/>
                        </a:defRPr>
                      </a:pPr>
                      <a:r>
                        <a:t>3.21%</a:t>
                      </a:r>
                    </a:p>
                  </a:txBody>
                  <a:tcPr>
                    <a:solidFill>
                      <a:srgbClr val="FFFFFF"/>
                    </a:solidFill>
                  </a:tcPr>
                </a:tc>
                <a:tc>
                  <a:txBody>
                    <a:bodyPr/>
                    <a:lstStyle/>
                    <a:p>
                      <a:pPr algn="ctr">
                        <a:defRPr sz="900">
                          <a:solidFill>
                            <a:srgbClr val="28283C"/>
                          </a:solidFill>
                          <a:latin typeface="Calibri"/>
                        </a:defRPr>
                      </a:pPr>
                      <a:r>
                        <a:t>2300.00</a:t>
                      </a:r>
                    </a:p>
                  </a:txBody>
                  <a:tcPr>
                    <a:solidFill>
                      <a:srgbClr val="FFFFFF"/>
                    </a:solidFill>
                  </a:tcPr>
                </a:tc>
                <a:tc>
                  <a:txBody>
                    <a:bodyPr/>
                    <a:lstStyle/>
                    <a:p>
                      <a:pPr algn="ctr">
                        <a:defRPr sz="900">
                          <a:solidFill>
                            <a:srgbClr val="28283C"/>
                          </a:solidFill>
                          <a:latin typeface="Calibri"/>
                        </a:defRPr>
                      </a:pPr>
                      <a:r>
                        <a:t>Moderate Concentration</a:t>
                      </a:r>
                    </a:p>
                  </a:txBody>
                  <a:tcPr>
                    <a:solidFill>
                      <a:srgbClr val="FFFFFF"/>
                    </a:solidFill>
                  </a:tcPr>
                </a:tc>
              </a:tr>
              <a:tr h="685800">
                <a:tc>
                  <a:txBody>
                    <a:bodyPr/>
                    <a:lstStyle/>
                    <a:p>
                      <a:pPr algn="l">
                        <a:defRPr sz="900" b="1">
                          <a:solidFill>
                            <a:srgbClr val="28283C"/>
                          </a:solidFill>
                          <a:latin typeface="Calibri"/>
                        </a:defRPr>
                      </a:pPr>
                      <a:r>
                        <a:t>Mirae Asset Large Cap</a:t>
                      </a:r>
                    </a:p>
                  </a:txBody>
                  <a:tcPr>
                    <a:solidFill>
                      <a:srgbClr val="F0EDE6"/>
                    </a:solidFill>
                  </a:tcPr>
                </a:tc>
                <a:tc>
                  <a:txBody>
                    <a:bodyPr/>
                    <a:lstStyle/>
                    <a:p>
                      <a:pPr algn="l">
                        <a:defRPr sz="900">
                          <a:solidFill>
                            <a:srgbClr val="28283C"/>
                          </a:solidFill>
                          <a:latin typeface="Calibri"/>
                        </a:defRPr>
                      </a:pPr>
                      <a:r>
                        <a:t>2.09%</a:t>
                      </a:r>
                    </a:p>
                  </a:txBody>
                  <a:tcPr>
                    <a:solidFill>
                      <a:srgbClr val="F0EDE6"/>
                    </a:solidFill>
                  </a:tcPr>
                </a:tc>
                <a:tc>
                  <a:txBody>
                    <a:bodyPr/>
                    <a:lstStyle/>
                    <a:p>
                      <a:pPr algn="ctr">
                        <a:defRPr sz="900">
                          <a:solidFill>
                            <a:srgbClr val="28283C"/>
                          </a:solidFill>
                          <a:latin typeface="Calibri"/>
                        </a:defRPr>
                      </a:pPr>
                      <a:r>
                        <a:t>2.85%</a:t>
                      </a:r>
                    </a:p>
                  </a:txBody>
                  <a:tcPr>
                    <a:solidFill>
                      <a:srgbClr val="F0EDE6"/>
                    </a:solidFill>
                  </a:tcPr>
                </a:tc>
                <a:tc>
                  <a:txBody>
                    <a:bodyPr/>
                    <a:lstStyle/>
                    <a:p>
                      <a:pPr algn="ctr">
                        <a:defRPr sz="900">
                          <a:solidFill>
                            <a:srgbClr val="28283C"/>
                          </a:solidFill>
                          <a:latin typeface="Calibri"/>
                        </a:defRPr>
                      </a:pPr>
                      <a:r>
                        <a:t>2300.00</a:t>
                      </a:r>
                    </a:p>
                  </a:txBody>
                  <a:tcPr>
                    <a:solidFill>
                      <a:srgbClr val="F0EDE6"/>
                    </a:solidFill>
                  </a:tcPr>
                </a:tc>
                <a:tc>
                  <a:txBody>
                    <a:bodyPr/>
                    <a:lstStyle/>
                    <a:p>
                      <a:pPr algn="ctr">
                        <a:defRPr sz="900">
                          <a:solidFill>
                            <a:srgbClr val="28283C"/>
                          </a:solidFill>
                          <a:latin typeface="Calibri"/>
                        </a:defRPr>
                      </a:pPr>
                      <a:r>
                        <a:t>Moderate Concentration</a:t>
                      </a:r>
                    </a:p>
                  </a:txBody>
                  <a:tcPr>
                    <a:solidFill>
                      <a:srgbClr val="F0EDE6"/>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9</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INVESTOR BEHAVIOUR ANALYTICS</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Cohort Vintage Flows &amp; SIP Continuity</a:t>
            </a:r>
          </a:p>
          <a:p>
            <a:pPr>
              <a:lnSpc>
                <a:spcPct val="115000"/>
              </a:lnSpc>
              <a:spcAft>
                <a:spcPts val="800"/>
              </a:spcAft>
              <a:defRPr sz="1100">
                <a:solidFill>
                  <a:srgbClr val="28283C"/>
                </a:solidFill>
                <a:latin typeface="Calibri"/>
              </a:defRPr>
            </a:pPr>
            <a:r>
              <a:t>Cohort Vintage Flows:</a:t>
            </a:r>
          </a:p>
          <a:p>
            <a:pPr>
              <a:lnSpc>
                <a:spcPct val="115000"/>
              </a:lnSpc>
              <a:spcAft>
                <a:spcPts val="800"/>
              </a:spcAft>
              <a:defRPr sz="1100">
                <a:solidFill>
                  <a:srgbClr val="28283C"/>
                </a:solidFill>
                <a:latin typeface="Calibri"/>
              </a:defRPr>
            </a:pPr>
            <a:r>
              <a:t>  • Capital vintage tracking groups clients by their first transaction date. Major inflows occur during market pullbacks.</a:t>
            </a:r>
          </a:p>
          <a:p>
            <a:pPr>
              <a:lnSpc>
                <a:spcPct val="115000"/>
              </a:lnSpc>
              <a:spcAft>
                <a:spcPts val="800"/>
              </a:spcAft>
              <a:defRPr sz="1100">
                <a:solidFill>
                  <a:srgbClr val="28283C"/>
                </a:solidFill>
                <a:latin typeface="Calibri"/>
              </a:defRPr>
            </a:pPr>
            <a:r>
              <a:t>SIP Continuity Rates:</a:t>
            </a:r>
          </a:p>
          <a:p>
            <a:pPr>
              <a:lnSpc>
                <a:spcPct val="115000"/>
              </a:lnSpc>
              <a:spcAft>
                <a:spcPts val="800"/>
              </a:spcAft>
              <a:defRPr sz="1100">
                <a:solidFill>
                  <a:srgbClr val="28283C"/>
                </a:solidFill>
                <a:latin typeface="Calibri"/>
              </a:defRPr>
            </a:pPr>
            <a:r>
              <a:t>  • Active systematic folios exhibit an 87.2% continuity rate, showing highly disciplined recurring payments.</a:t>
            </a:r>
          </a:p>
          <a:p>
            <a:pPr>
              <a:lnSpc>
                <a:spcPct val="115000"/>
              </a:lnSpc>
              <a:spcAft>
                <a:spcPts val="800"/>
              </a:spcAft>
              <a:defRPr sz="1100">
                <a:solidFill>
                  <a:srgbClr val="28283C"/>
                </a:solidFill>
                <a:latin typeface="Calibri"/>
              </a:defRPr>
            </a:pPr>
            <a:r>
              <a:t>  • Inactive folios display a 14.5% rate, typically lapsing in month 2.</a:t>
            </a:r>
          </a:p>
          <a:p>
            <a:pPr>
              <a:lnSpc>
                <a:spcPct val="115000"/>
              </a:lnSpc>
              <a:spcAft>
                <a:spcPts val="800"/>
              </a:spcAft>
              <a:defRPr sz="1100">
                <a:solidFill>
                  <a:srgbClr val="28283C"/>
                </a:solidFill>
                <a:latin typeface="Calibri"/>
              </a:defRPr>
            </a:pPr>
            <a:r>
              <a:t>Redemption Panic:</a:t>
            </a:r>
          </a:p>
          <a:p>
            <a:pPr>
              <a:lnSpc>
                <a:spcPct val="115000"/>
              </a:lnSpc>
              <a:spcAft>
                <a:spcPts val="800"/>
              </a:spcAft>
              <a:defRPr sz="1100">
                <a:solidFill>
                  <a:srgbClr val="28283C"/>
                </a:solidFill>
                <a:latin typeface="Calibri"/>
              </a:defRPr>
            </a:pPr>
            <a:r>
              <a:t>  • Conservative accounts show a 24% increase in redemptions during negative return periods, suggesting emotional selling.</a:t>
            </a:r>
          </a:p>
        </p:txBody>
      </p:sp>
      <p:graphicFrame>
        <p:nvGraphicFramePr>
          <p:cNvPr id="8" name="Table 7"/>
          <p:cNvGraphicFramePr>
            <a:graphicFrameLocks noGrp="1"/>
          </p:cNvGraphicFramePr>
          <p:nvPr/>
        </p:nvGraphicFramePr>
        <p:xfrm>
          <a:off x="5943600" y="1463040"/>
          <a:ext cx="5303520" cy="4114800"/>
        </p:xfrm>
        <a:graphic>
          <a:graphicData uri="http://schemas.openxmlformats.org/drawingml/2006/table">
            <a:tbl>
              <a:tblPr firstRow="1" bandRow="1">
                <a:tableStyleId>{5C22544A-7EE6-4342-B048-85BDC9FD1C3A}</a:tableStyleId>
              </a:tblPr>
              <a:tblGrid>
                <a:gridCol w="1060704"/>
                <a:gridCol w="1060704"/>
                <a:gridCol w="1060704"/>
                <a:gridCol w="1060704"/>
                <a:gridCol w="1060704"/>
              </a:tblGrid>
              <a:tr h="685800">
                <a:tc>
                  <a:txBody>
                    <a:bodyPr/>
                    <a:lstStyle/>
                    <a:p>
                      <a:pPr algn="ctr">
                        <a:defRPr sz="950" b="1">
                          <a:solidFill>
                            <a:srgbClr val="FFFFFF"/>
                          </a:solidFill>
                          <a:latin typeface="Calibri"/>
                        </a:defRPr>
                      </a:pPr>
                      <a:r>
                        <a:t>Cohort</a:t>
                      </a:r>
                    </a:p>
                  </a:txBody>
                  <a:tcPr>
                    <a:solidFill>
                      <a:srgbClr val="0F173C"/>
                    </a:solidFill>
                  </a:tcPr>
                </a:tc>
                <a:tc>
                  <a:txBody>
                    <a:bodyPr/>
                    <a:lstStyle/>
                    <a:p>
                      <a:pPr algn="ctr">
                        <a:defRPr sz="950" b="1">
                          <a:solidFill>
                            <a:srgbClr val="FFFFFF"/>
                          </a:solidFill>
                          <a:latin typeface="Calibri"/>
                        </a:defRPr>
                      </a:pPr>
                      <a:r>
                        <a:t>Users</a:t>
                      </a:r>
                    </a:p>
                  </a:txBody>
                  <a:tcPr>
                    <a:solidFill>
                      <a:srgbClr val="0F173C"/>
                    </a:solidFill>
                  </a:tcPr>
                </a:tc>
                <a:tc>
                  <a:txBody>
                    <a:bodyPr/>
                    <a:lstStyle/>
                    <a:p>
                      <a:pPr algn="ctr">
                        <a:defRPr sz="950" b="1">
                          <a:solidFill>
                            <a:srgbClr val="FFFFFF"/>
                          </a:solidFill>
                          <a:latin typeface="Calibri"/>
                        </a:defRPr>
                      </a:pPr>
                      <a:r>
                        <a:t>Inflow (Cr)</a:t>
                      </a:r>
                    </a:p>
                  </a:txBody>
                  <a:tcPr>
                    <a:solidFill>
                      <a:srgbClr val="0F173C"/>
                    </a:solidFill>
                  </a:tcPr>
                </a:tc>
                <a:tc>
                  <a:txBody>
                    <a:bodyPr/>
                    <a:lstStyle/>
                    <a:p>
                      <a:pPr algn="ctr">
                        <a:defRPr sz="950" b="1">
                          <a:solidFill>
                            <a:srgbClr val="FFFFFF"/>
                          </a:solidFill>
                          <a:latin typeface="Calibri"/>
                        </a:defRPr>
                      </a:pPr>
                      <a:r>
                        <a:t>Outflow (Cr)</a:t>
                      </a:r>
                    </a:p>
                  </a:txBody>
                  <a:tcPr>
                    <a:solidFill>
                      <a:srgbClr val="0F173C"/>
                    </a:solidFill>
                  </a:tcPr>
                </a:tc>
                <a:tc>
                  <a:txBody>
                    <a:bodyPr/>
                    <a:lstStyle/>
                    <a:p>
                      <a:pPr algn="ctr">
                        <a:defRPr sz="950" b="1">
                          <a:solidFill>
                            <a:srgbClr val="FFFFFF"/>
                          </a:solidFill>
                          <a:latin typeface="Calibri"/>
                        </a:defRPr>
                      </a:pPr>
                      <a:r>
                        <a:t>Net (Cr)</a:t>
                      </a:r>
                    </a:p>
                  </a:txBody>
                  <a:tcPr>
                    <a:solidFill>
                      <a:srgbClr val="0F173C"/>
                    </a:solidFill>
                  </a:tcPr>
                </a:tc>
              </a:tr>
              <a:tr h="685800">
                <a:tc>
                  <a:txBody>
                    <a:bodyPr/>
                    <a:lstStyle/>
                    <a:p>
                      <a:pPr algn="l">
                        <a:defRPr sz="900" b="1">
                          <a:solidFill>
                            <a:srgbClr val="28283C"/>
                          </a:solidFill>
                          <a:latin typeface="Calibri"/>
                        </a:defRPr>
                      </a:pPr>
                      <a:r>
                        <a:t>2022Q1</a:t>
                      </a:r>
                    </a:p>
                  </a:txBody>
                  <a:tcPr>
                    <a:solidFill>
                      <a:srgbClr val="F0EDE6"/>
                    </a:solidFill>
                  </a:tcPr>
                </a:tc>
                <a:tc>
                  <a:txBody>
                    <a:bodyPr/>
                    <a:lstStyle/>
                    <a:p>
                      <a:pPr algn="l">
                        <a:defRPr sz="900">
                          <a:solidFill>
                            <a:srgbClr val="28283C"/>
                          </a:solidFill>
                          <a:latin typeface="Calibri"/>
                        </a:defRPr>
                      </a:pPr>
                      <a:r>
                        <a:t>108</a:t>
                      </a:r>
                    </a:p>
                  </a:txBody>
                  <a:tcPr>
                    <a:solidFill>
                      <a:srgbClr val="F0EDE6"/>
                    </a:solidFill>
                  </a:tcPr>
                </a:tc>
                <a:tc>
                  <a:txBody>
                    <a:bodyPr/>
                    <a:lstStyle/>
                    <a:p>
                      <a:pPr algn="ctr">
                        <a:defRPr sz="900">
                          <a:solidFill>
                            <a:srgbClr val="28283C"/>
                          </a:solidFill>
                          <a:latin typeface="Calibri"/>
                        </a:defRPr>
                      </a:pPr>
                      <a:r>
                        <a:t>1.67 Cr</a:t>
                      </a:r>
                    </a:p>
                  </a:txBody>
                  <a:tcPr>
                    <a:solidFill>
                      <a:srgbClr val="F0EDE6"/>
                    </a:solidFill>
                  </a:tcPr>
                </a:tc>
                <a:tc>
                  <a:txBody>
                    <a:bodyPr/>
                    <a:lstStyle/>
                    <a:p>
                      <a:pPr algn="ctr">
                        <a:defRPr sz="900">
                          <a:solidFill>
                            <a:srgbClr val="28283C"/>
                          </a:solidFill>
                          <a:latin typeface="Calibri"/>
                        </a:defRPr>
                      </a:pPr>
                      <a:r>
                        <a:t>0.56 Cr</a:t>
                      </a:r>
                    </a:p>
                  </a:txBody>
                  <a:tcPr>
                    <a:solidFill>
                      <a:srgbClr val="F0EDE6"/>
                    </a:solidFill>
                  </a:tcPr>
                </a:tc>
                <a:tc>
                  <a:txBody>
                    <a:bodyPr/>
                    <a:lstStyle/>
                    <a:p>
                      <a:pPr algn="ctr">
                        <a:defRPr sz="900">
                          <a:solidFill>
                            <a:srgbClr val="28283C"/>
                          </a:solidFill>
                          <a:latin typeface="Calibri"/>
                        </a:defRPr>
                      </a:pPr>
                      <a:r>
                        <a:t>1.11 Cr</a:t>
                      </a:r>
                    </a:p>
                  </a:txBody>
                  <a:tcPr>
                    <a:solidFill>
                      <a:srgbClr val="F0EDE6"/>
                    </a:solidFill>
                  </a:tcPr>
                </a:tc>
              </a:tr>
              <a:tr h="685800">
                <a:tc>
                  <a:txBody>
                    <a:bodyPr/>
                    <a:lstStyle/>
                    <a:p>
                      <a:pPr algn="l">
                        <a:defRPr sz="900" b="1">
                          <a:solidFill>
                            <a:srgbClr val="28283C"/>
                          </a:solidFill>
                          <a:latin typeface="Calibri"/>
                        </a:defRPr>
                      </a:pPr>
                      <a:r>
                        <a:t>2022Q2</a:t>
                      </a:r>
                    </a:p>
                  </a:txBody>
                  <a:tcPr>
                    <a:solidFill>
                      <a:srgbClr val="FFFFFF"/>
                    </a:solidFill>
                  </a:tcPr>
                </a:tc>
                <a:tc>
                  <a:txBody>
                    <a:bodyPr/>
                    <a:lstStyle/>
                    <a:p>
                      <a:pPr algn="l">
                        <a:defRPr sz="900">
                          <a:solidFill>
                            <a:srgbClr val="28283C"/>
                          </a:solidFill>
                          <a:latin typeface="Calibri"/>
                        </a:defRPr>
                      </a:pPr>
                      <a:r>
                        <a:t>48</a:t>
                      </a:r>
                    </a:p>
                  </a:txBody>
                  <a:tcPr>
                    <a:solidFill>
                      <a:srgbClr val="FFFFFF"/>
                    </a:solidFill>
                  </a:tcPr>
                </a:tc>
                <a:tc>
                  <a:txBody>
                    <a:bodyPr/>
                    <a:lstStyle/>
                    <a:p>
                      <a:pPr algn="ctr">
                        <a:defRPr sz="900">
                          <a:solidFill>
                            <a:srgbClr val="28283C"/>
                          </a:solidFill>
                          <a:latin typeface="Calibri"/>
                        </a:defRPr>
                      </a:pPr>
                      <a:r>
                        <a:t>0.65 Cr</a:t>
                      </a:r>
                    </a:p>
                  </a:txBody>
                  <a:tcPr>
                    <a:solidFill>
                      <a:srgbClr val="FFFFFF"/>
                    </a:solidFill>
                  </a:tcPr>
                </a:tc>
                <a:tc>
                  <a:txBody>
                    <a:bodyPr/>
                    <a:lstStyle/>
                    <a:p>
                      <a:pPr algn="ctr">
                        <a:defRPr sz="900">
                          <a:solidFill>
                            <a:srgbClr val="28283C"/>
                          </a:solidFill>
                          <a:latin typeface="Calibri"/>
                        </a:defRPr>
                      </a:pPr>
                      <a:r>
                        <a:t>0.25 Cr</a:t>
                      </a:r>
                    </a:p>
                  </a:txBody>
                  <a:tcPr>
                    <a:solidFill>
                      <a:srgbClr val="FFFFFF"/>
                    </a:solidFill>
                  </a:tcPr>
                </a:tc>
                <a:tc>
                  <a:txBody>
                    <a:bodyPr/>
                    <a:lstStyle/>
                    <a:p>
                      <a:pPr algn="ctr">
                        <a:defRPr sz="900">
                          <a:solidFill>
                            <a:srgbClr val="28283C"/>
                          </a:solidFill>
                          <a:latin typeface="Calibri"/>
                        </a:defRPr>
                      </a:pPr>
                      <a:r>
                        <a:t>0.41 Cr</a:t>
                      </a:r>
                    </a:p>
                  </a:txBody>
                  <a:tcPr>
                    <a:solidFill>
                      <a:srgbClr val="FFFFFF"/>
                    </a:solidFill>
                  </a:tcPr>
                </a:tc>
              </a:tr>
              <a:tr h="685800">
                <a:tc>
                  <a:txBody>
                    <a:bodyPr/>
                    <a:lstStyle/>
                    <a:p>
                      <a:pPr algn="l">
                        <a:defRPr sz="900" b="1">
                          <a:solidFill>
                            <a:srgbClr val="28283C"/>
                          </a:solidFill>
                          <a:latin typeface="Calibri"/>
                        </a:defRPr>
                      </a:pPr>
                      <a:r>
                        <a:t>2022Q3</a:t>
                      </a:r>
                    </a:p>
                  </a:txBody>
                  <a:tcPr>
                    <a:solidFill>
                      <a:srgbClr val="F0EDE6"/>
                    </a:solidFill>
                  </a:tcPr>
                </a:tc>
                <a:tc>
                  <a:txBody>
                    <a:bodyPr/>
                    <a:lstStyle/>
                    <a:p>
                      <a:pPr algn="l">
                        <a:defRPr sz="900">
                          <a:solidFill>
                            <a:srgbClr val="28283C"/>
                          </a:solidFill>
                          <a:latin typeface="Calibri"/>
                        </a:defRPr>
                      </a:pPr>
                      <a:r>
                        <a:t>22</a:t>
                      </a:r>
                    </a:p>
                  </a:txBody>
                  <a:tcPr>
                    <a:solidFill>
                      <a:srgbClr val="F0EDE6"/>
                    </a:solidFill>
                  </a:tcPr>
                </a:tc>
                <a:tc>
                  <a:txBody>
                    <a:bodyPr/>
                    <a:lstStyle/>
                    <a:p>
                      <a:pPr algn="ctr">
                        <a:defRPr sz="900">
                          <a:solidFill>
                            <a:srgbClr val="28283C"/>
                          </a:solidFill>
                          <a:latin typeface="Calibri"/>
                        </a:defRPr>
                      </a:pPr>
                      <a:r>
                        <a:t>0.29 Cr</a:t>
                      </a:r>
                    </a:p>
                  </a:txBody>
                  <a:tcPr>
                    <a:solidFill>
                      <a:srgbClr val="F0EDE6"/>
                    </a:solidFill>
                  </a:tcPr>
                </a:tc>
                <a:tc>
                  <a:txBody>
                    <a:bodyPr/>
                    <a:lstStyle/>
                    <a:p>
                      <a:pPr algn="ctr">
                        <a:defRPr sz="900">
                          <a:solidFill>
                            <a:srgbClr val="28283C"/>
                          </a:solidFill>
                          <a:latin typeface="Calibri"/>
                        </a:defRPr>
                      </a:pPr>
                      <a:r>
                        <a:t>0.11 Cr</a:t>
                      </a:r>
                    </a:p>
                  </a:txBody>
                  <a:tcPr>
                    <a:solidFill>
                      <a:srgbClr val="F0EDE6"/>
                    </a:solidFill>
                  </a:tcPr>
                </a:tc>
                <a:tc>
                  <a:txBody>
                    <a:bodyPr/>
                    <a:lstStyle/>
                    <a:p>
                      <a:pPr algn="ctr">
                        <a:defRPr sz="900">
                          <a:solidFill>
                            <a:srgbClr val="28283C"/>
                          </a:solidFill>
                          <a:latin typeface="Calibri"/>
                        </a:defRPr>
                      </a:pPr>
                      <a:r>
                        <a:t>0.18 Cr</a:t>
                      </a:r>
                    </a:p>
                  </a:txBody>
                  <a:tcPr>
                    <a:solidFill>
                      <a:srgbClr val="F0EDE6"/>
                    </a:solidFill>
                  </a:tcPr>
                </a:tc>
              </a:tr>
              <a:tr h="685800">
                <a:tc>
                  <a:txBody>
                    <a:bodyPr/>
                    <a:lstStyle/>
                    <a:p>
                      <a:pPr algn="l">
                        <a:defRPr sz="900" b="1">
                          <a:solidFill>
                            <a:srgbClr val="28283C"/>
                          </a:solidFill>
                          <a:latin typeface="Calibri"/>
                        </a:defRPr>
                      </a:pPr>
                      <a:r>
                        <a:t>2022Q4</a:t>
                      </a:r>
                    </a:p>
                  </a:txBody>
                  <a:tcPr>
                    <a:solidFill>
                      <a:srgbClr val="FFFFFF"/>
                    </a:solidFill>
                  </a:tcPr>
                </a:tc>
                <a:tc>
                  <a:txBody>
                    <a:bodyPr/>
                    <a:lstStyle/>
                    <a:p>
                      <a:pPr algn="l">
                        <a:defRPr sz="900">
                          <a:solidFill>
                            <a:srgbClr val="28283C"/>
                          </a:solidFill>
                          <a:latin typeface="Calibri"/>
                        </a:defRPr>
                      </a:pPr>
                      <a:r>
                        <a:t>11</a:t>
                      </a:r>
                    </a:p>
                  </a:txBody>
                  <a:tcPr>
                    <a:solidFill>
                      <a:srgbClr val="FFFFFF"/>
                    </a:solidFill>
                  </a:tcPr>
                </a:tc>
                <a:tc>
                  <a:txBody>
                    <a:bodyPr/>
                    <a:lstStyle/>
                    <a:p>
                      <a:pPr algn="ctr">
                        <a:defRPr sz="900">
                          <a:solidFill>
                            <a:srgbClr val="28283C"/>
                          </a:solidFill>
                          <a:latin typeface="Calibri"/>
                        </a:defRPr>
                      </a:pPr>
                      <a:r>
                        <a:t>0.14 Cr</a:t>
                      </a:r>
                    </a:p>
                  </a:txBody>
                  <a:tcPr>
                    <a:solidFill>
                      <a:srgbClr val="FFFFFF"/>
                    </a:solidFill>
                  </a:tcPr>
                </a:tc>
                <a:tc>
                  <a:txBody>
                    <a:bodyPr/>
                    <a:lstStyle/>
                    <a:p>
                      <a:pPr algn="ctr">
                        <a:defRPr sz="900">
                          <a:solidFill>
                            <a:srgbClr val="28283C"/>
                          </a:solidFill>
                          <a:latin typeface="Calibri"/>
                        </a:defRPr>
                      </a:pPr>
                      <a:r>
                        <a:t>0.05 Cr</a:t>
                      </a:r>
                    </a:p>
                  </a:txBody>
                  <a:tcPr>
                    <a:solidFill>
                      <a:srgbClr val="FFFFFF"/>
                    </a:solidFill>
                  </a:tcPr>
                </a:tc>
                <a:tc>
                  <a:txBody>
                    <a:bodyPr/>
                    <a:lstStyle/>
                    <a:p>
                      <a:pPr algn="ctr">
                        <a:defRPr sz="900">
                          <a:solidFill>
                            <a:srgbClr val="28283C"/>
                          </a:solidFill>
                          <a:latin typeface="Calibri"/>
                        </a:defRPr>
                      </a:pPr>
                      <a:r>
                        <a:t>0.09 Cr</a:t>
                      </a:r>
                    </a:p>
                  </a:txBody>
                  <a:tcPr>
                    <a:solidFill>
                      <a:srgbClr val="FFFFFF"/>
                    </a:solidFill>
                  </a:tcPr>
                </a:tc>
              </a:tr>
              <a:tr h="685800">
                <a:tc>
                  <a:txBody>
                    <a:bodyPr/>
                    <a:lstStyle/>
                    <a:p>
                      <a:pPr algn="l">
                        <a:defRPr sz="900" b="1">
                          <a:solidFill>
                            <a:srgbClr val="28283C"/>
                          </a:solidFill>
                          <a:latin typeface="Calibri"/>
                        </a:defRPr>
                      </a:pPr>
                      <a:r>
                        <a:t>2023Q1</a:t>
                      </a:r>
                    </a:p>
                  </a:txBody>
                  <a:tcPr>
                    <a:solidFill>
                      <a:srgbClr val="F0EDE6"/>
                    </a:solidFill>
                  </a:tcPr>
                </a:tc>
                <a:tc>
                  <a:txBody>
                    <a:bodyPr/>
                    <a:lstStyle/>
                    <a:p>
                      <a:pPr algn="l">
                        <a:defRPr sz="900">
                          <a:solidFill>
                            <a:srgbClr val="28283C"/>
                          </a:solidFill>
                          <a:latin typeface="Calibri"/>
                        </a:defRPr>
                      </a:pPr>
                      <a:r>
                        <a:t>8</a:t>
                      </a:r>
                    </a:p>
                  </a:txBody>
                  <a:tcPr>
                    <a:solidFill>
                      <a:srgbClr val="F0EDE6"/>
                    </a:solidFill>
                  </a:tcPr>
                </a:tc>
                <a:tc>
                  <a:txBody>
                    <a:bodyPr/>
                    <a:lstStyle/>
                    <a:p>
                      <a:pPr algn="ctr">
                        <a:defRPr sz="900">
                          <a:solidFill>
                            <a:srgbClr val="28283C"/>
                          </a:solidFill>
                          <a:latin typeface="Calibri"/>
                        </a:defRPr>
                      </a:pPr>
                      <a:r>
                        <a:t>0.06 Cr</a:t>
                      </a:r>
                    </a:p>
                  </a:txBody>
                  <a:tcPr>
                    <a:solidFill>
                      <a:srgbClr val="F0EDE6"/>
                    </a:solidFill>
                  </a:tcPr>
                </a:tc>
                <a:tc>
                  <a:txBody>
                    <a:bodyPr/>
                    <a:lstStyle/>
                    <a:p>
                      <a:pPr algn="ctr">
                        <a:defRPr sz="900">
                          <a:solidFill>
                            <a:srgbClr val="28283C"/>
                          </a:solidFill>
                          <a:latin typeface="Calibri"/>
                        </a:defRPr>
                      </a:pPr>
                      <a:r>
                        <a:t>0.06 Cr</a:t>
                      </a:r>
                    </a:p>
                  </a:txBody>
                  <a:tcPr>
                    <a:solidFill>
                      <a:srgbClr val="F0EDE6"/>
                    </a:solidFill>
                  </a:tcPr>
                </a:tc>
                <a:tc>
                  <a:txBody>
                    <a:bodyPr/>
                    <a:lstStyle/>
                    <a:p>
                      <a:pPr algn="ctr">
                        <a:defRPr sz="900">
                          <a:solidFill>
                            <a:srgbClr val="28283C"/>
                          </a:solidFill>
                          <a:latin typeface="Calibri"/>
                        </a:defRPr>
                      </a:pPr>
                      <a:r>
                        <a:t>0.00 Cr</a:t>
                      </a:r>
                    </a:p>
                  </a:txBody>
                  <a:tcPr>
                    <a:solidFill>
                      <a:srgbClr val="F0EDE6"/>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10</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DASHBOARD OVERVIEW</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Power BI Visual Specifications</a:t>
            </a:r>
          </a:p>
          <a:p>
            <a:pPr>
              <a:lnSpc>
                <a:spcPct val="115000"/>
              </a:lnSpc>
              <a:spcAft>
                <a:spcPts val="800"/>
              </a:spcAft>
              <a:defRPr sz="1100">
                <a:solidFill>
                  <a:srgbClr val="28283C"/>
                </a:solidFill>
                <a:latin typeface="Calibri"/>
              </a:defRPr>
            </a:pPr>
            <a:r>
              <a:t>Theme Design &amp; Canvas:</a:t>
            </a:r>
          </a:p>
          <a:p>
            <a:pPr>
              <a:lnSpc>
                <a:spcPct val="115000"/>
              </a:lnSpc>
              <a:spcAft>
                <a:spcPts val="800"/>
              </a:spcAft>
              <a:defRPr sz="1100">
                <a:solidFill>
                  <a:srgbClr val="28283C"/>
                </a:solidFill>
                <a:latin typeface="Calibri"/>
              </a:defRPr>
            </a:pPr>
            <a:r>
              <a:t>  • Visual Background: Deep Charcoal (#1E2235)</a:t>
            </a:r>
          </a:p>
          <a:p>
            <a:pPr>
              <a:lnSpc>
                <a:spcPct val="115000"/>
              </a:lnSpc>
              <a:spcAft>
                <a:spcPts val="800"/>
              </a:spcAft>
              <a:defRPr sz="1100">
                <a:solidFill>
                  <a:srgbClr val="28283C"/>
                </a:solidFill>
                <a:latin typeface="Calibri"/>
              </a:defRPr>
            </a:pPr>
            <a:r>
              <a:t>  • Dashboard Canvas Background: Deep Carbon (#0F111A)</a:t>
            </a:r>
          </a:p>
          <a:p>
            <a:pPr>
              <a:lnSpc>
                <a:spcPct val="115000"/>
              </a:lnSpc>
              <a:spcAft>
                <a:spcPts val="800"/>
              </a:spcAft>
              <a:defRPr sz="1100">
                <a:solidFill>
                  <a:srgbClr val="28283C"/>
                </a:solidFill>
                <a:latin typeface="Calibri"/>
              </a:defRPr>
            </a:pPr>
            <a:r>
              <a:t>  • Key Accent Colors: Cyan (#00E5FF) and Emerald Green (#00E676)</a:t>
            </a:r>
          </a:p>
          <a:p>
            <a:pPr>
              <a:lnSpc>
                <a:spcPct val="115000"/>
              </a:lnSpc>
              <a:spcAft>
                <a:spcPts val="800"/>
              </a:spcAft>
              <a:defRPr sz="1100">
                <a:solidFill>
                  <a:srgbClr val="28283C"/>
                </a:solidFill>
                <a:latin typeface="Calibri"/>
              </a:defRPr>
            </a:pPr>
            <a:r>
              <a:t>Layout Structure:</a:t>
            </a:r>
          </a:p>
          <a:p>
            <a:pPr>
              <a:lnSpc>
                <a:spcPct val="115000"/>
              </a:lnSpc>
              <a:spcAft>
                <a:spcPts val="800"/>
              </a:spcAft>
              <a:defRPr sz="1100">
                <a:solidFill>
                  <a:srgbClr val="28283C"/>
                </a:solidFill>
                <a:latin typeface="Calibri"/>
              </a:defRPr>
            </a:pPr>
            <a:r>
              <a:t>  • Standard Segoe UI typography for clean metric numbers.</a:t>
            </a:r>
          </a:p>
          <a:p>
            <a:pPr>
              <a:lnSpc>
                <a:spcPct val="115000"/>
              </a:lnSpc>
              <a:spcAft>
                <a:spcPts val="800"/>
              </a:spcAft>
              <a:defRPr sz="1100">
                <a:solidFill>
                  <a:srgbClr val="28283C"/>
                </a:solidFill>
                <a:latin typeface="Calibri"/>
              </a:defRPr>
            </a:pPr>
            <a:r>
              <a:t>  • Optimized custom DAX views to prevent client-side join lag.</a:t>
            </a:r>
          </a:p>
        </p:txBody>
      </p:sp>
      <p:sp>
        <p:nvSpPr>
          <p:cNvPr id="8" name="Rectangle 7"/>
          <p:cNvSpPr/>
          <p:nvPr/>
        </p:nvSpPr>
        <p:spPr>
          <a:xfrm>
            <a:off x="5943600" y="1463040"/>
            <a:ext cx="2560320" cy="192024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1463040"/>
            <a:ext cx="2560320" cy="192024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PAGE 1: INDUSTRY</a:t>
            </a:r>
          </a:p>
          <a:p>
            <a:pPr>
              <a:lnSpc>
                <a:spcPct val="110000"/>
              </a:lnSpc>
              <a:spcAft>
                <a:spcPts val="300"/>
              </a:spcAft>
              <a:defRPr sz="950">
                <a:solidFill>
                  <a:srgbClr val="28283C"/>
                </a:solidFill>
                <a:latin typeface="Calibri"/>
              </a:defRPr>
            </a:pPr>
            <a:r>
              <a:t>Total Industry AUM (₹24,850 Cr)</a:t>
            </a:r>
          </a:p>
          <a:p>
            <a:pPr>
              <a:lnSpc>
                <a:spcPct val="110000"/>
              </a:lnSpc>
              <a:spcAft>
                <a:spcPts val="300"/>
              </a:spcAft>
              <a:defRPr sz="950">
                <a:solidFill>
                  <a:srgbClr val="28283C"/>
                </a:solidFill>
                <a:latin typeface="Calibri"/>
              </a:defRPr>
            </a:pPr>
            <a:r>
              <a:t>Monthly inflows</a:t>
            </a:r>
          </a:p>
          <a:p>
            <a:pPr>
              <a:lnSpc>
                <a:spcPct val="110000"/>
              </a:lnSpc>
              <a:spcAft>
                <a:spcPts val="300"/>
              </a:spcAft>
              <a:defRPr sz="950">
                <a:solidFill>
                  <a:srgbClr val="28283C"/>
                </a:solidFill>
                <a:latin typeface="Calibri"/>
              </a:defRPr>
            </a:pPr>
            <a:r>
              <a:t>AMC market shares</a:t>
            </a:r>
          </a:p>
        </p:txBody>
      </p:sp>
      <p:sp>
        <p:nvSpPr>
          <p:cNvPr id="10" name="Rectangle 9"/>
          <p:cNvSpPr/>
          <p:nvPr/>
        </p:nvSpPr>
        <p:spPr>
          <a:xfrm>
            <a:off x="8686800" y="1463040"/>
            <a:ext cx="2560320" cy="192024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463040"/>
            <a:ext cx="2560320" cy="192024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PAGE 2: PERFORMANCE</a:t>
            </a:r>
          </a:p>
          <a:p>
            <a:pPr>
              <a:lnSpc>
                <a:spcPct val="110000"/>
              </a:lnSpc>
              <a:spcAft>
                <a:spcPts val="300"/>
              </a:spcAft>
              <a:defRPr sz="950">
                <a:solidFill>
                  <a:srgbClr val="28283C"/>
                </a:solidFill>
                <a:latin typeface="Calibri"/>
              </a:defRPr>
            </a:pPr>
            <a:r>
              <a:t>Risk-return scatter (Beta vs CAGR)</a:t>
            </a:r>
          </a:p>
          <a:p>
            <a:pPr>
              <a:lnSpc>
                <a:spcPct val="110000"/>
              </a:lnSpc>
              <a:spcAft>
                <a:spcPts val="300"/>
              </a:spcAft>
              <a:defRPr sz="950">
                <a:solidFill>
                  <a:srgbClr val="28283C"/>
                </a:solidFill>
                <a:latin typeface="Calibri"/>
              </a:defRPr>
            </a:pPr>
            <a:r>
              <a:t>Index line comparisons</a:t>
            </a:r>
          </a:p>
          <a:p>
            <a:pPr>
              <a:lnSpc>
                <a:spcPct val="110000"/>
              </a:lnSpc>
              <a:spcAft>
                <a:spcPts val="300"/>
              </a:spcAft>
              <a:defRPr sz="950">
                <a:solidFill>
                  <a:srgbClr val="28283C"/>
                </a:solidFill>
                <a:latin typeface="Calibri"/>
              </a:defRPr>
            </a:pPr>
            <a:r>
              <a:t>Scorecard Leaderboard</a:t>
            </a:r>
          </a:p>
        </p:txBody>
      </p:sp>
      <p:sp>
        <p:nvSpPr>
          <p:cNvPr id="12" name="Rectangle 11"/>
          <p:cNvSpPr/>
          <p:nvPr/>
        </p:nvSpPr>
        <p:spPr>
          <a:xfrm>
            <a:off x="5943600" y="3566160"/>
            <a:ext cx="2560320" cy="192024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3566160"/>
            <a:ext cx="2560320" cy="192024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PAGE 3: INVESTORS</a:t>
            </a:r>
          </a:p>
          <a:p>
            <a:pPr>
              <a:lnSpc>
                <a:spcPct val="110000"/>
              </a:lnSpc>
              <a:spcAft>
                <a:spcPts val="300"/>
              </a:spcAft>
              <a:defRPr sz="950">
                <a:solidFill>
                  <a:srgbClr val="28283C"/>
                </a:solidFill>
                <a:latin typeface="Calibri"/>
              </a:defRPr>
            </a:pPr>
            <a:r>
              <a:t>Indian geographical map</a:t>
            </a:r>
          </a:p>
          <a:p>
            <a:pPr>
              <a:lnSpc>
                <a:spcPct val="110000"/>
              </a:lnSpc>
              <a:spcAft>
                <a:spcPts val="300"/>
              </a:spcAft>
              <a:defRPr sz="950">
                <a:solidFill>
                  <a:srgbClr val="28283C"/>
                </a:solidFill>
                <a:latin typeface="Calibri"/>
              </a:defRPr>
            </a:pPr>
            <a:r>
              <a:t>Transaction type share</a:t>
            </a:r>
          </a:p>
          <a:p>
            <a:pPr>
              <a:lnSpc>
                <a:spcPct val="110000"/>
              </a:lnSpc>
              <a:spcAft>
                <a:spcPts val="300"/>
              </a:spcAft>
              <a:defRPr sz="950">
                <a:solidFill>
                  <a:srgbClr val="28283C"/>
                </a:solidFill>
                <a:latin typeface="Calibri"/>
              </a:defRPr>
            </a:pPr>
            <a:r>
              <a:t>Age cohort distribution</a:t>
            </a:r>
          </a:p>
        </p:txBody>
      </p:sp>
      <p:sp>
        <p:nvSpPr>
          <p:cNvPr id="14" name="Rectangle 13"/>
          <p:cNvSpPr/>
          <p:nvPr/>
        </p:nvSpPr>
        <p:spPr>
          <a:xfrm>
            <a:off x="8686800" y="3566160"/>
            <a:ext cx="2560320" cy="192024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3566160"/>
            <a:ext cx="2560320" cy="192024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PAGE 4: SIP TRENDS</a:t>
            </a:r>
          </a:p>
          <a:p>
            <a:pPr>
              <a:lnSpc>
                <a:spcPct val="110000"/>
              </a:lnSpc>
              <a:spcAft>
                <a:spcPts val="300"/>
              </a:spcAft>
              <a:defRPr sz="950">
                <a:solidFill>
                  <a:srgbClr val="28283C"/>
                </a:solidFill>
                <a:latin typeface="Calibri"/>
              </a:defRPr>
            </a:pPr>
            <a:r>
              <a:t>SIP inflows vs Nifty 50 close</a:t>
            </a:r>
          </a:p>
          <a:p>
            <a:pPr>
              <a:lnSpc>
                <a:spcPct val="110000"/>
              </a:lnSpc>
              <a:spcAft>
                <a:spcPts val="300"/>
              </a:spcAft>
              <a:defRPr sz="950">
                <a:solidFill>
                  <a:srgbClr val="28283C"/>
                </a:solidFill>
                <a:latin typeface="Calibri"/>
              </a:defRPr>
            </a:pPr>
            <a:r>
              <a:t>Net inflow quarterly heatmap</a:t>
            </a:r>
          </a:p>
          <a:p>
            <a:pPr>
              <a:lnSpc>
                <a:spcPct val="110000"/>
              </a:lnSpc>
              <a:spcAft>
                <a:spcPts val="300"/>
              </a:spcAft>
              <a:defRPr sz="950">
                <a:solidFill>
                  <a:srgbClr val="28283C"/>
                </a:solidFill>
                <a:latin typeface="Calibri"/>
              </a:defRPr>
            </a:pPr>
            <a:r>
              <a:t>Historical SIP continuity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11</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KEY FINDINGS &amp; RECOMMENDATIONS</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Strategic Advisory Controls</a:t>
            </a:r>
          </a:p>
          <a:p>
            <a:pPr>
              <a:lnSpc>
                <a:spcPct val="115000"/>
              </a:lnSpc>
              <a:spcAft>
                <a:spcPts val="800"/>
              </a:spcAft>
              <a:defRPr sz="1100">
                <a:solidFill>
                  <a:srgbClr val="28283C"/>
                </a:solidFill>
                <a:latin typeface="Calibri"/>
              </a:defRPr>
            </a:pPr>
            <a:r>
              <a:t>• Sector concentration controls (HHI Guardrails): Portfolios holding concentrated sectoral funds (like ICICI Technology, HHI &gt; 7,000) show high daily expected shortfalls. Advisors should trigger warnings when portfolio sector HHI exceeds 2,500.</a:t>
            </a:r>
          </a:p>
          <a:p>
            <a:pPr>
              <a:lnSpc>
                <a:spcPct val="115000"/>
              </a:lnSpc>
              <a:spcAft>
                <a:spcPts val="800"/>
              </a:spcAft>
              <a:defRPr sz="1100">
                <a:solidFill>
                  <a:srgbClr val="28283C"/>
                </a:solidFill>
                <a:latin typeface="Calibri"/>
              </a:defRPr>
            </a:pPr>
            <a:r>
              <a:t>• Systematic plan (SIP) retentions: Push recurring SIP products which exhibit 87.2% continuity. Configure automated campaigns when client misses their second expected payment.</a:t>
            </a:r>
          </a:p>
          <a:p>
            <a:pPr>
              <a:lnSpc>
                <a:spcPct val="115000"/>
              </a:lnSpc>
              <a:spcAft>
                <a:spcPts val="800"/>
              </a:spcAft>
              <a:defRPr sz="1100">
                <a:solidFill>
                  <a:srgbClr val="28283C"/>
                </a:solidFill>
                <a:latin typeface="Calibri"/>
              </a:defRPr>
            </a:pPr>
            <a:r>
              <a:t>• Large Cap anchors for conservative clients: Anchor conservative accounts with a 60% allocation in diversified Large Cap funds to contain drawdowns above -20%.</a:t>
            </a:r>
          </a:p>
        </p:txBody>
      </p:sp>
      <p:sp>
        <p:nvSpPr>
          <p:cNvPr id="8" name="Rectangle 7"/>
          <p:cNvSpPr/>
          <p:nvPr/>
        </p:nvSpPr>
        <p:spPr>
          <a:xfrm>
            <a:off x="5943600" y="1463040"/>
            <a:ext cx="5303520" cy="182880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1463040"/>
            <a:ext cx="5303520" cy="182880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01 / HHI ALERTS</a:t>
            </a:r>
          </a:p>
          <a:p>
            <a:pPr>
              <a:lnSpc>
                <a:spcPct val="110000"/>
              </a:lnSpc>
              <a:spcAft>
                <a:spcPts val="300"/>
              </a:spcAft>
              <a:defRPr sz="950">
                <a:solidFill>
                  <a:srgbClr val="28283C"/>
                </a:solidFill>
                <a:latin typeface="Calibri"/>
              </a:defRPr>
            </a:pPr>
            <a:r>
              <a:t>Limit sector concentration to protect capital against sudden drawdowns.</a:t>
            </a:r>
          </a:p>
          <a:p>
            <a:pPr>
              <a:lnSpc>
                <a:spcPct val="110000"/>
              </a:lnSpc>
              <a:spcAft>
                <a:spcPts val="300"/>
              </a:spcAft>
              <a:defRPr sz="950">
                <a:solidFill>
                  <a:srgbClr val="28283C"/>
                </a:solidFill>
                <a:latin typeface="Calibri"/>
              </a:defRPr>
            </a:pPr>
            <a:r>
              <a:t>Trigger advisory system rebalancing flags when composite HHI &gt; 2,500.</a:t>
            </a:r>
          </a:p>
        </p:txBody>
      </p:sp>
      <p:sp>
        <p:nvSpPr>
          <p:cNvPr id="10" name="Rectangle 9"/>
          <p:cNvSpPr/>
          <p:nvPr/>
        </p:nvSpPr>
        <p:spPr>
          <a:xfrm>
            <a:off x="5943600" y="3566160"/>
            <a:ext cx="5303520" cy="182880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0" y="3566160"/>
            <a:ext cx="5303520" cy="182880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02 / RETENTION TRIGGERS</a:t>
            </a:r>
          </a:p>
          <a:p>
            <a:pPr>
              <a:lnSpc>
                <a:spcPct val="110000"/>
              </a:lnSpc>
              <a:spcAft>
                <a:spcPts val="300"/>
              </a:spcAft>
              <a:defRPr sz="950">
                <a:solidFill>
                  <a:srgbClr val="28283C"/>
                </a:solidFill>
                <a:latin typeface="Calibri"/>
              </a:defRPr>
            </a:pPr>
            <a:r>
              <a:t>Automatically target systematic outreach to clients after their first missed SIP payment.</a:t>
            </a:r>
          </a:p>
          <a:p>
            <a:pPr>
              <a:lnSpc>
                <a:spcPct val="110000"/>
              </a:lnSpc>
              <a:spcAft>
                <a:spcPts val="300"/>
              </a:spcAft>
              <a:defRPr sz="950">
                <a:solidFill>
                  <a:srgbClr val="28283C"/>
                </a:solidFill>
                <a:latin typeface="Calibri"/>
              </a:defRPr>
            </a:pPr>
            <a:r>
              <a:t>Configure early-stage interventions before month 2 to prevent permanent churn.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Oval 1"/>
          <p:cNvSpPr/>
          <p:nvPr/>
        </p:nvSpPr>
        <p:spPr>
          <a:xfrm>
            <a:off x="-548640" y="-548640"/>
            <a:ext cx="1097280" cy="1097280"/>
          </a:xfrm>
          <a:prstGeom prst="ellipse">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731520"/>
            <a:ext cx="137160" cy="137160"/>
          </a:xfrm>
          <a:prstGeom prst="ellipse">
            <a:avLst/>
          </a:prstGeom>
          <a:solidFill>
            <a:srgbClr val="DC78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365760"/>
            <a:ext cx="731520" cy="274320"/>
          </a:xfrm>
          <a:prstGeom prst="rect">
            <a:avLst/>
          </a:prstGeom>
          <a:noFill/>
        </p:spPr>
        <p:txBody>
          <a:bodyPr wrap="none">
            <a:spAutoFit/>
          </a:bodyPr>
          <a:lstStyle/>
          <a:p>
            <a:pPr algn="r">
              <a:defRPr sz="1000" b="1">
                <a:solidFill>
                  <a:srgbClr val="0F173C"/>
                </a:solidFill>
                <a:latin typeface="Calibri"/>
              </a:defRPr>
            </a:pPr>
            <a:r>
              <a:t>12</a:t>
            </a:r>
          </a:p>
        </p:txBody>
      </p:sp>
      <p:sp>
        <p:nvSpPr>
          <p:cNvPr id="5" name="TextBox 4"/>
          <p:cNvSpPr txBox="1"/>
          <p:nvPr/>
        </p:nvSpPr>
        <p:spPr>
          <a:xfrm>
            <a:off x="1371600" y="320040"/>
            <a:ext cx="9144000" cy="640080"/>
          </a:xfrm>
          <a:prstGeom prst="rect">
            <a:avLst/>
          </a:prstGeom>
          <a:noFill/>
        </p:spPr>
        <p:txBody>
          <a:bodyPr wrap="square" lIns="0" tIns="0">
            <a:spAutoFit/>
          </a:bodyPr>
          <a:lstStyle/>
          <a:p>
            <a:pPr>
              <a:defRPr sz="2600" b="1">
                <a:solidFill>
                  <a:srgbClr val="0F173C"/>
                </a:solidFill>
                <a:latin typeface="Calibri"/>
              </a:defRPr>
            </a:pPr>
            <a:r>
              <a:t>THANK YOU</a:t>
            </a:r>
          </a:p>
        </p:txBody>
      </p:sp>
      <p:sp>
        <p:nvSpPr>
          <p:cNvPr id="6" name="Rectangle 5"/>
          <p:cNvSpPr/>
          <p:nvPr/>
        </p:nvSpPr>
        <p:spPr>
          <a:xfrm>
            <a:off x="1371600" y="1051560"/>
            <a:ext cx="10131552" cy="27432"/>
          </a:xfrm>
          <a:prstGeom prst="rect">
            <a:avLst/>
          </a:prstGeom>
          <a:solidFill>
            <a:srgbClr val="0F17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463040"/>
            <a:ext cx="4114800" cy="4572000"/>
          </a:xfrm>
          <a:prstGeom prst="rect">
            <a:avLst/>
          </a:prstGeom>
          <a:noFill/>
        </p:spPr>
        <p:txBody>
          <a:bodyPr wrap="square" lIns="0" tIns="0">
            <a:spAutoFit/>
          </a:bodyPr>
          <a:lstStyle/>
          <a:p>
            <a:pPr>
              <a:spcAft>
                <a:spcPts val="1000"/>
              </a:spcAft>
              <a:defRPr sz="1400" b="1">
                <a:solidFill>
                  <a:srgbClr val="0F173C"/>
                </a:solidFill>
                <a:latin typeface="Calibri"/>
              </a:defRPr>
            </a:pPr>
            <a:r>
              <a:t>Mutual Fund Analytics Platform</a:t>
            </a:r>
          </a:p>
          <a:p>
            <a:pPr>
              <a:lnSpc>
                <a:spcPct val="115000"/>
              </a:lnSpc>
              <a:spcAft>
                <a:spcPts val="800"/>
              </a:spcAft>
              <a:defRPr sz="1100">
                <a:solidFill>
                  <a:srgbClr val="28283C"/>
                </a:solidFill>
                <a:latin typeface="Calibri"/>
              </a:defRPr>
            </a:pPr>
            <a:r>
              <a:t>The mutual fund analytics relational SQLite schema, ETL cleaning pipelines, scoring scoreboard, and tail risk engines are fully operational and ready for deployment.</a:t>
            </a:r>
          </a:p>
          <a:p>
            <a:pPr>
              <a:lnSpc>
                <a:spcPct val="115000"/>
              </a:lnSpc>
              <a:spcAft>
                <a:spcPts val="800"/>
              </a:spcAft>
              <a:defRPr sz="1100">
                <a:solidFill>
                  <a:srgbClr val="28283C"/>
                </a:solidFill>
                <a:latin typeface="Calibri"/>
              </a:defRPr>
            </a:pPr>
          </a:p>
          <a:p>
            <a:pPr>
              <a:lnSpc>
                <a:spcPct val="115000"/>
              </a:lnSpc>
              <a:spcAft>
                <a:spcPts val="800"/>
              </a:spcAft>
              <a:defRPr sz="1100">
                <a:solidFill>
                  <a:srgbClr val="28283C"/>
                </a:solidFill>
                <a:latin typeface="Calibri"/>
              </a:defRPr>
            </a:pPr>
            <a:r>
              <a:t>Open to Questions and Discussion.</a:t>
            </a:r>
          </a:p>
        </p:txBody>
      </p:sp>
      <p:sp>
        <p:nvSpPr>
          <p:cNvPr id="8" name="Rectangle 7"/>
          <p:cNvSpPr/>
          <p:nvPr/>
        </p:nvSpPr>
        <p:spPr>
          <a:xfrm>
            <a:off x="5943600" y="1463040"/>
            <a:ext cx="5303520" cy="4114800"/>
          </a:xfrm>
          <a:prstGeom prst="rect">
            <a:avLst/>
          </a:prstGeom>
          <a:solidFill>
            <a:srgbClr val="ADD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1463040"/>
            <a:ext cx="5303520" cy="4114800"/>
          </a:xfrm>
          <a:prstGeom prst="rect">
            <a:avLst/>
          </a:prstGeom>
          <a:noFill/>
        </p:spPr>
        <p:txBody>
          <a:bodyPr wrap="square" lIns="182880" rIns="182880" tIns="137160" bIns="137160">
            <a:spAutoFit/>
          </a:bodyPr>
          <a:lstStyle/>
          <a:p>
            <a:pPr>
              <a:spcAft>
                <a:spcPts val="600"/>
              </a:spcAft>
              <a:defRPr sz="1200" b="1">
                <a:solidFill>
                  <a:srgbClr val="0F173C"/>
                </a:solidFill>
                <a:latin typeface="Calibri"/>
              </a:defRPr>
            </a:pPr>
            <a:r>
              <a:t>CONTACT &amp; REFERENCES</a:t>
            </a:r>
          </a:p>
          <a:p>
            <a:pPr>
              <a:lnSpc>
                <a:spcPct val="110000"/>
              </a:lnSpc>
              <a:spcAft>
                <a:spcPts val="300"/>
              </a:spcAft>
              <a:defRPr sz="950">
                <a:solidFill>
                  <a:srgbClr val="28283C"/>
                </a:solidFill>
                <a:latin typeface="Calibri"/>
              </a:defRPr>
            </a:pPr>
            <a:r>
              <a:t>Presenter: Dhileep B, Lead Financial Data Analyst</a:t>
            </a:r>
          </a:p>
          <a:p>
            <a:pPr>
              <a:lnSpc>
                <a:spcPct val="110000"/>
              </a:lnSpc>
              <a:spcAft>
                <a:spcPts val="300"/>
              </a:spcAft>
              <a:defRPr sz="950">
                <a:solidFill>
                  <a:srgbClr val="28283C"/>
                </a:solidFill>
                <a:latin typeface="Calibri"/>
              </a:defRPr>
            </a:pPr>
            <a:r>
              <a:t>Organization: Bluestock Portfolio Management Advisory Services</a:t>
            </a:r>
          </a:p>
          <a:p>
            <a:pPr>
              <a:lnSpc>
                <a:spcPct val="110000"/>
              </a:lnSpc>
              <a:spcAft>
                <a:spcPts val="300"/>
              </a:spcAft>
              <a:defRPr sz="950">
                <a:solidFill>
                  <a:srgbClr val="28283C"/>
                </a:solidFill>
                <a:latin typeface="Calibri"/>
              </a:defRPr>
            </a:pPr>
          </a:p>
          <a:p>
            <a:pPr>
              <a:lnSpc>
                <a:spcPct val="110000"/>
              </a:lnSpc>
              <a:spcAft>
                <a:spcPts val="300"/>
              </a:spcAft>
              <a:defRPr sz="950">
                <a:solidFill>
                  <a:srgbClr val="28283C"/>
                </a:solidFill>
                <a:latin typeface="Calibri"/>
              </a:defRPr>
            </a:pPr>
            <a:r>
              <a:t>Handouts Available:</a:t>
            </a:r>
          </a:p>
          <a:p>
            <a:pPr>
              <a:lnSpc>
                <a:spcPct val="110000"/>
              </a:lnSpc>
              <a:spcAft>
                <a:spcPts val="300"/>
              </a:spcAft>
              <a:defRPr sz="950">
                <a:solidFill>
                  <a:srgbClr val="28283C"/>
                </a:solidFill>
                <a:latin typeface="Calibri"/>
              </a:defRPr>
            </a:pPr>
            <a:r>
              <a:t>  • Technical Paper: reports/Final_Report.pdf (9 Pages)</a:t>
            </a:r>
          </a:p>
          <a:p>
            <a:pPr>
              <a:lnSpc>
                <a:spcPct val="110000"/>
              </a:lnSpc>
              <a:spcAft>
                <a:spcPts val="300"/>
              </a:spcAft>
              <a:defRPr sz="950">
                <a:solidFill>
                  <a:srgbClr val="28283C"/>
                </a:solidFill>
                <a:latin typeface="Calibri"/>
              </a:defRPr>
            </a:pPr>
            <a:r>
              <a:t>  • Presentation: reports/Presentation.pptx (12 Slides)</a:t>
            </a:r>
          </a:p>
          <a:p>
            <a:pPr>
              <a:lnSpc>
                <a:spcPct val="110000"/>
              </a:lnSpc>
              <a:spcAft>
                <a:spcPts val="300"/>
              </a:spcAft>
              <a:defRPr sz="950">
                <a:solidFill>
                  <a:srgbClr val="28283C"/>
                </a:solidFill>
                <a:latin typeface="Calibri"/>
              </a:defRPr>
            </a:pPr>
            <a:r>
              <a:t>  • Ingestion Schema: sql/schema.sql</a:t>
            </a:r>
          </a:p>
          <a:p>
            <a:pPr>
              <a:lnSpc>
                <a:spcPct val="110000"/>
              </a:lnSpc>
              <a:spcAft>
                <a:spcPts val="300"/>
              </a:spcAft>
              <a:defRPr sz="950">
                <a:solidFill>
                  <a:srgbClr val="28283C"/>
                </a:solidFill>
                <a:latin typeface="Calibri"/>
              </a:defRPr>
            </a:pPr>
          </a:p>
          <a:p>
            <a:pPr>
              <a:lnSpc>
                <a:spcPct val="110000"/>
              </a:lnSpc>
              <a:spcAft>
                <a:spcPts val="300"/>
              </a:spcAft>
              <a:defRPr sz="950">
                <a:solidFill>
                  <a:srgbClr val="28283C"/>
                </a:solidFill>
                <a:latin typeface="Calibri"/>
              </a:defRPr>
            </a:pPr>
            <a:r>
              <a:t>Workspace Codebase: bluestock_capstone_project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