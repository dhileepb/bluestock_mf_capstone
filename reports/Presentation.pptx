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Good morning/afternoon. Today I am presenting our Mutual Fund Analytics and Risk Platform. This platform serves as an end-to-end quantitative tool that moves data from raw records to clean relational database tables, calculates complex risk-adjusted ratios, and presents actionable insights in an interactive Power BI dashboard.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Many investment managers struggle with fragmented data. Real-time updates are slow, and calculating downside tail risk or sector concentrations remains a manual process. This dashboard addresses these challenges by automating quantitative analytics.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integrate daily NAV records, retail transaction histories, Nifty benchmarks, and portfolio holdings. This provides a unified data model to evaluate returns, costs, and risk profiles.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Our pipeline is fully automated. The master orchestrator runs data cleaning, downloads benchmarks, and populates the SQLite database. The star schema is optimized for analytical query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Our EDA revealed strong outperformance in mid and small cap segments. The returns data shows fat-tail distributions, while correlation analysis highlights how sectoral funds can help diversify a portfolio.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found that higher expense ratios drag down net returns. At the same time, systematic investment plan (SIP) inflows grew steadily, showing rising retail investor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weighted scorecard ranks funds based on five factors. DSP Top 100 ranked first due to high Sharpe and Alpha, while Mirae Asset ranked second due to its strong drawdown control.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Advanced risk analytics confirm that sectoral concentration increases tail risk. HHI analysis highlights that the Tech Fund has higher downside risk compared to diversified large-cap options.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dashboard uses a 4-page dark-mode layout. It features a geographical map of inflows, custom hover tooltips for risk metrics, and interactive drill-through pages for transaction-level histories.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custom theme file ensures consistent branding. Conditional formatting helps users identify top performers, while dynamic benchmarking charts compare returns against Nifty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recommend that asset managers adjust sectoral allocations to manage concentration risk, emphasize SIP products to stabilize inflows, and utilize the weighted scorecard to identify top-performing funds.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Thank you for your time. The code, notebooks, and reports are available in the repository. I would be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Bluestock Capstone</a:t>
            </a:r>
          </a:p>
        </p:txBody>
      </p:sp>
      <p:sp>
        <p:nvSpPr>
          <p:cNvPr id="3" name="TextBox 2"/>
          <p:cNvSpPr txBox="1"/>
          <p:nvPr/>
        </p:nvSpPr>
        <p:spPr>
          <a:xfrm>
            <a:off x="457200" y="1645920"/>
            <a:ext cx="11274552" cy="45720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Mutual Fund Analytics &amp; Quantitative Risk Platform</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   Subtitle: Portfolio Risk Modeling, Segment Analytics, &amp; BI Dashboard Orchestration</a:t>
            </a:r>
          </a:p>
          <a:p>
            <a:pPr>
              <a:spcAft>
                <a:spcPts val="800"/>
              </a:spcAft>
              <a:defRPr sz="1800">
                <a:solidFill>
                  <a:srgbClr val="DCDCDC"/>
                </a:solidFill>
                <a:latin typeface="Arial"/>
              </a:defRPr>
            </a:pPr>
            <a:r>
              <a:t>   Presenter: Lead Data Analytics Consultant / Quantitative Analyst</a:t>
            </a:r>
          </a:p>
          <a:p>
            <a:pPr>
              <a:spcAft>
                <a:spcPts val="800"/>
              </a:spcAft>
              <a:defRPr sz="1800">
                <a:solidFill>
                  <a:srgbClr val="DCDCDC"/>
                </a:solidFill>
                <a:latin typeface="Arial"/>
              </a:defRPr>
            </a:pPr>
            <a:r>
              <a:t>Visual Guidelines: Centered, premium charcoal background (`#0F111A`), high-contrast electric cyan text (`#00E5FF`), subtle geometric background shapes.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The Problem: Data Fragmentation &amp; Risk Ambiguity</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Data Silos: Historical NAVs, transactional sheets, and benchmark indices are fragmented across different formats.</a:t>
            </a:r>
          </a:p>
          <a:p>
            <a:pPr>
              <a:spcAft>
                <a:spcPts val="800"/>
              </a:spcAft>
              <a:defRPr sz="1800">
                <a:solidFill>
                  <a:srgbClr val="DCDCDC"/>
                </a:solidFill>
                <a:latin typeface="Arial"/>
              </a:defRPr>
            </a:pPr>
            <a:r>
              <a:t>Performance Lag: Standard quarterly reports fail to provide the real-time insights needed for volatile market environments.</a:t>
            </a:r>
          </a:p>
          <a:p>
            <a:pPr>
              <a:spcAft>
                <a:spcPts val="800"/>
              </a:spcAft>
              <a:defRPr sz="1800">
                <a:solidFill>
                  <a:srgbClr val="DCDCDC"/>
                </a:solidFill>
                <a:latin typeface="Arial"/>
              </a:defRPr>
            </a:pPr>
            <a:r>
              <a:t>Ambiguity in Risk Management: Portfolio managers lack unified metrics (such as VaR, CVaR, HHI, and Beta) to identify sectoral concentration and manage downside risk.</a:t>
            </a:r>
          </a:p>
          <a:p>
            <a:pPr>
              <a:spcAft>
                <a:spcPts val="800"/>
              </a:spcAft>
              <a:defRPr sz="1800">
                <a:solidFill>
                  <a:srgbClr val="DCDCDC"/>
                </a:solidFill>
                <a:latin typeface="Arial"/>
              </a:defRPr>
            </a:pPr>
            <a:r>
              <a:t>Visual Guidelines: Left side: Bullet list of issues. Right side: Split screen showing a workflow comparison (e.g. Traditional manual reporting vs. Automated analytical pipelines).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Ingesting Market Data &amp; Transaction Records</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Daily NAV History: Ingested 7,798 raw AMFI NAV records (2022–2024) across 10 mutual funds.</a:t>
            </a:r>
          </a:p>
          <a:p>
            <a:pPr>
              <a:spcAft>
                <a:spcPts val="800"/>
              </a:spcAft>
              <a:defRPr sz="1800">
                <a:solidFill>
                  <a:srgbClr val="DCDCDC"/>
                </a:solidFill>
                <a:latin typeface="Arial"/>
              </a:defRPr>
            </a:pPr>
            <a:r>
              <a:t>Retail Transactions: Cleaned 1,985 granular transaction rows for 200 distinct folios.</a:t>
            </a:r>
          </a:p>
          <a:p>
            <a:pPr>
              <a:spcAft>
                <a:spcPts val="800"/>
              </a:spcAft>
              <a:defRPr sz="1800">
                <a:solidFill>
                  <a:srgbClr val="DCDCDC"/>
                </a:solidFill>
                <a:latin typeface="Arial"/>
              </a:defRPr>
            </a:pPr>
            <a:r>
              <a:t>Benchmark Feeds: Ingested Nifty 50 and Nifty 100 historical prices via Yahoo Finance API.</a:t>
            </a:r>
          </a:p>
          <a:p>
            <a:pPr>
              <a:spcAft>
                <a:spcPts val="800"/>
              </a:spcAft>
              <a:defRPr sz="1800">
                <a:solidFill>
                  <a:srgbClr val="DCDCDC"/>
                </a:solidFill>
                <a:latin typeface="Arial"/>
              </a:defRPr>
            </a:pPr>
            <a:r>
              <a:t>Portfolio Holdings: Mapped stock-level allocations to evaluate portfolio concentration.</a:t>
            </a:r>
          </a:p>
          <a:p>
            <a:pPr>
              <a:spcAft>
                <a:spcPts val="800"/>
              </a:spcAft>
              <a:defRPr sz="1800">
                <a:solidFill>
                  <a:srgbClr val="DCDCDC"/>
                </a:solidFill>
                <a:latin typeface="Arial"/>
              </a:defRPr>
            </a:pPr>
            <a:r>
              <a:t>Visual Guidelines: Clean data dictionary table showing datasets, record counts, and formats.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The Data Orchestrator &amp; Star Schema</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Automated Pipeline: Centralized orchestrator `run_pipeline.py` executes data cleaning and updates the SQLite database.</a:t>
            </a:r>
          </a:p>
          <a:p>
            <a:pPr>
              <a:spcAft>
                <a:spcPts val="800"/>
              </a:spcAft>
              <a:defRPr sz="1800">
                <a:solidFill>
                  <a:srgbClr val="DCDCDC"/>
                </a:solidFill>
                <a:latin typeface="Arial"/>
              </a:defRPr>
            </a:pPr>
            <a:r>
              <a:t>Star Schema: Built 4 dimension tables and 3 fact tables in SQLite to support analytical queries.</a:t>
            </a:r>
          </a:p>
          <a:p>
            <a:pPr>
              <a:spcAft>
                <a:spcPts val="800"/>
              </a:spcAft>
              <a:defRPr sz="1800">
                <a:solidFill>
                  <a:srgbClr val="DCDCDC"/>
                </a:solidFill>
                <a:latin typeface="Arial"/>
              </a:defRPr>
            </a:pPr>
            <a:r>
              <a:t>Referential Integrity: Implemented strict primary/foreign key constraints and SQL indexes.</a:t>
            </a:r>
          </a:p>
          <a:p>
            <a:pPr>
              <a:spcAft>
                <a:spcPts val="800"/>
              </a:spcAft>
              <a:defRPr sz="1800">
                <a:solidFill>
                  <a:srgbClr val="DCDCDC"/>
                </a:solidFill>
                <a:latin typeface="Arial"/>
              </a:defRPr>
            </a:pPr>
            <a:r>
              <a:t>Visual Guidelines: Relational schema diagram linking dimensions to fact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Exploratory Data Analysis: NAV &amp; Returns Dynamics</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Growth Trends: SBI Small Cap and HDFC Mid-Cap outperformed the benchmark over 2022–2024.</a:t>
            </a:r>
          </a:p>
          <a:p>
            <a:pPr>
              <a:spcAft>
                <a:spcPts val="800"/>
              </a:spcAft>
              <a:defRPr sz="1800">
                <a:solidFill>
                  <a:srgbClr val="DCDCDC"/>
                </a:solidFill>
                <a:latin typeface="Arial"/>
              </a:defRPr>
            </a:pPr>
            <a:r>
              <a:t>Volatility Profiles: Returns display fat-tail distributions, highlighting the importance of managing downside risk.</a:t>
            </a:r>
          </a:p>
          <a:p>
            <a:pPr>
              <a:spcAft>
                <a:spcPts val="800"/>
              </a:spcAft>
              <a:defRPr sz="1800">
                <a:solidFill>
                  <a:srgbClr val="DCDCDC"/>
                </a:solidFill>
                <a:latin typeface="Arial"/>
              </a:defRPr>
            </a:pPr>
            <a:r>
              <a:t>Sector Correlation: Diversified large-cap funds show correlations above 0.85, while the Tech sectoral fund shows low correlation, highlighting its diversification utility.</a:t>
            </a:r>
          </a:p>
          <a:p>
            <a:pPr>
              <a:spcAft>
                <a:spcPts val="800"/>
              </a:spcAft>
              <a:defRPr sz="1800">
                <a:solidFill>
                  <a:srgbClr val="DCDCDC"/>
                </a:solidFill>
                <a:latin typeface="Arial"/>
              </a:defRPr>
            </a:pPr>
            <a:r>
              <a:t>Visual Guidelines: Side-by-side plots: Daily Returns Distribution (`daily_returns_dist.png`) and Scheme Correlation Matrix (`correlation_matrix.png`).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Exploratory Data Analysis: Costs &amp; Cash Inflows</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Cost Impact: Scatter plot reveals a negative relationship between high expense ratios and long-term CAGR.</a:t>
            </a:r>
          </a:p>
          <a:p>
            <a:pPr>
              <a:spcAft>
                <a:spcPts val="800"/>
              </a:spcAft>
              <a:defRPr sz="1800">
                <a:solidFill>
                  <a:srgbClr val="DCDCDC"/>
                </a:solidFill>
                <a:latin typeface="Arial"/>
              </a:defRPr>
            </a:pPr>
            <a:r>
              <a:t>SIP Expansion: Retail inflows grew steadily, with monthly SIP volumes peaking in Q4 2024.</a:t>
            </a:r>
          </a:p>
          <a:p>
            <a:pPr>
              <a:spcAft>
                <a:spcPts val="800"/>
              </a:spcAft>
              <a:defRPr sz="1800">
                <a:solidFill>
                  <a:srgbClr val="DCDCDC"/>
                </a:solidFill>
                <a:latin typeface="Arial"/>
              </a:defRPr>
            </a:pPr>
            <a:r>
              <a:t>Asset Concentration: Large-cap funds represent the majority of total AUM.</a:t>
            </a:r>
          </a:p>
          <a:p>
            <a:pPr>
              <a:spcAft>
                <a:spcPts val="800"/>
              </a:spcAft>
              <a:defRPr sz="1800">
                <a:solidFill>
                  <a:srgbClr val="DCDCDC"/>
                </a:solidFill>
                <a:latin typeface="Arial"/>
              </a:defRPr>
            </a:pPr>
            <a:r>
              <a:t>Visual Guidelines: Left side: Cost vs. Return scatter plot. Right side: Monthly SIP volume trend chart.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The Weighted Fund Scorecard</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Consolidated Ranking: Combined CAGR, Sharpe, Alpha, Expense, and Drawdown to rank all 10 funds.</a:t>
            </a:r>
          </a:p>
          <a:p>
            <a:pPr>
              <a:spcAft>
                <a:spcPts val="800"/>
              </a:spcAft>
              <a:defRPr sz="1800">
                <a:solidFill>
                  <a:srgbClr val="DCDCDC"/>
                </a:solidFill>
                <a:latin typeface="Arial"/>
              </a:defRPr>
            </a:pPr>
            <a:r>
              <a:t>DSP Top 100 Equity: Ranked #1 due to strong risk-adjusted returns (Sharpe 1.22) and CAPM Alpha (28.8% annualized).</a:t>
            </a:r>
          </a:p>
          <a:p>
            <a:pPr>
              <a:spcAft>
                <a:spcPts val="800"/>
              </a:spcAft>
              <a:defRPr sz="1800">
                <a:solidFill>
                  <a:srgbClr val="DCDCDC"/>
                </a:solidFill>
                <a:latin typeface="Arial"/>
              </a:defRPr>
            </a:pPr>
            <a:r>
              <a:t>Mirae Asset Large Cap: Ranked #2 due to low max drawdown (-17.4%).</a:t>
            </a:r>
          </a:p>
          <a:p>
            <a:pPr>
              <a:spcAft>
                <a:spcPts val="800"/>
              </a:spcAft>
              <a:defRPr sz="1800">
                <a:solidFill>
                  <a:srgbClr val="DCDCDC"/>
                </a:solidFill>
                <a:latin typeface="Arial"/>
              </a:defRPr>
            </a:pPr>
            <a:r>
              <a:t>Visual Guidelines: Performance comparison table showing CAGRs, Sharpe/Sortino ratios, CAPM metrics, and final ranks.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Portfolio Concentration &amp; Tail Risk</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Sector Concentration: The Technology Fund has a high concentration score (HHI = 7,338.00), while diversified funds show lower scores (HHI = 1,827.16).</a:t>
            </a:r>
          </a:p>
          <a:p>
            <a:pPr>
              <a:spcAft>
                <a:spcPts val="800"/>
              </a:spcAft>
              <a:defRPr sz="1800">
                <a:solidFill>
                  <a:srgbClr val="DCDCDC"/>
                </a:solidFill>
                <a:latin typeface="Arial"/>
              </a:defRPr>
            </a:pPr>
            <a:r>
              <a:t>Tail Risk (VaR &amp; CVaR): Concentrated exposure leads to higher tail risk: Tech Fund 95% Daily VaR = 2.33% vs. Mirae Large Cap = 2.08%.</a:t>
            </a:r>
          </a:p>
          <a:p>
            <a:pPr>
              <a:spcAft>
                <a:spcPts val="800"/>
              </a:spcAft>
              <a:defRPr sz="1800">
                <a:solidFill>
                  <a:srgbClr val="DCDCDC"/>
                </a:solidFill>
                <a:latin typeface="Arial"/>
              </a:defRPr>
            </a:pPr>
            <a:r>
              <a:t>SIP Continuity: Active accounts show high continuity (87.2%), while inactive accounts show lower continuity before churning.</a:t>
            </a:r>
          </a:p>
          <a:p>
            <a:pPr>
              <a:spcAft>
                <a:spcPts val="800"/>
              </a:spcAft>
              <a:defRPr sz="1800">
                <a:solidFill>
                  <a:srgbClr val="DCDCDC"/>
                </a:solidFill>
                <a:latin typeface="Arial"/>
              </a:defRPr>
            </a:pPr>
            <a:r>
              <a:t>Visual Guidelines: Left side: HHI concentration table. Right side: Rolling 90-day Sharpe Ratio chart (`rolling_sharpe_chart.png`).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Power BI Dashboard: Visual Infrastructure</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Executive Layout: 4 pages designed with a dark-mode theme to prioritize visual readability.</a:t>
            </a:r>
          </a:p>
          <a:p>
            <a:pPr>
              <a:spcAft>
                <a:spcPts val="800"/>
              </a:spcAft>
              <a:defRPr sz="1800">
                <a:solidFill>
                  <a:srgbClr val="DCDCDC"/>
                </a:solidFill>
                <a:latin typeface="Arial"/>
              </a:defRPr>
            </a:pPr>
            <a:r>
              <a:t>Indian State Map: Displays retail transaction volumes by geographical state.</a:t>
            </a:r>
          </a:p>
          <a:p>
            <a:pPr>
              <a:spcAft>
                <a:spcPts val="800"/>
              </a:spcAft>
              <a:defRPr sz="1800">
                <a:solidFill>
                  <a:srgbClr val="DCDCDC"/>
                </a:solidFill>
                <a:latin typeface="Arial"/>
              </a:defRPr>
            </a:pPr>
            <a:r>
              <a:t>Fund Detail Drill-Through: Interactive drill-through to view transaction-level histories for selected funds.</a:t>
            </a:r>
          </a:p>
          <a:p>
            <a:pPr>
              <a:spcAft>
                <a:spcPts val="800"/>
              </a:spcAft>
              <a:defRPr sz="1800">
                <a:solidFill>
                  <a:srgbClr val="DCDCDC"/>
                </a:solidFill>
                <a:latin typeface="Arial"/>
              </a:defRPr>
            </a:pPr>
            <a:r>
              <a:t>Custom Tooltips: Hover cards display Sharpe, Sortino, and Beta statistics.</a:t>
            </a:r>
          </a:p>
          <a:p>
            <a:pPr>
              <a:spcAft>
                <a:spcPts val="800"/>
              </a:spcAft>
              <a:defRPr sz="1800">
                <a:solidFill>
                  <a:srgbClr val="DCDCDC"/>
                </a:solidFill>
                <a:latin typeface="Arial"/>
              </a:defRPr>
            </a:pPr>
            <a:r>
              <a:t>Visual Guidelines: Left side: List of dashboard pages. Right side: Graphic wireframe representation of the dashboard layout.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Dashboard Visual Specifications &amp; Assets</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Branding Palette: Custom theme file (`bluestock_theme.json`) sets the visual colors to deep navy and cyan.</a:t>
            </a:r>
          </a:p>
          <a:p>
            <a:pPr>
              <a:spcAft>
                <a:spcPts val="800"/>
              </a:spcAft>
              <a:defRPr sz="1800">
                <a:solidFill>
                  <a:srgbClr val="DCDCDC"/>
                </a:solidFill>
                <a:latin typeface="Arial"/>
              </a:defRPr>
            </a:pPr>
            <a:r>
              <a:t>Conditional Formatting: Data bars highlight Sharpe ratios, while color scales highlight maximum drawdowns.</a:t>
            </a:r>
          </a:p>
          <a:p>
            <a:pPr>
              <a:spcAft>
                <a:spcPts val="800"/>
              </a:spcAft>
              <a:defRPr sz="1800">
                <a:solidFill>
                  <a:srgbClr val="DCDCDC"/>
                </a:solidFill>
                <a:latin typeface="Arial"/>
              </a:defRPr>
            </a:pPr>
            <a:r>
              <a:t>Dynamic Comparison: Dynamic growth charts compare cumulative returns to the Nifty 100 benchmark.</a:t>
            </a:r>
          </a:p>
          <a:p>
            <a:pPr>
              <a:spcAft>
                <a:spcPts val="800"/>
              </a:spcAft>
              <a:defRPr sz="1800">
                <a:solidFill>
                  <a:srgbClr val="DCDCDC"/>
                </a:solidFill>
                <a:latin typeface="Arial"/>
              </a:defRPr>
            </a:pPr>
            <a:r>
              <a:t>Visual Guidelines: Dashboard visual components and color palette swatches.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Strategic Insights for Asset Managers</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Key Points:</a:t>
            </a:r>
          </a:p>
          <a:p>
            <a:pPr>
              <a:spcAft>
                <a:spcPts val="800"/>
              </a:spcAft>
              <a:defRPr sz="1800">
                <a:solidFill>
                  <a:srgbClr val="DCDCDC"/>
                </a:solidFill>
                <a:latin typeface="Arial"/>
              </a:defRPr>
            </a:pPr>
            <a:r>
              <a:t>Monitor Concentration: Adjust sectoral allocations when the HHI rises above 2,500 to mitigate tail risk.</a:t>
            </a:r>
          </a:p>
          <a:p>
            <a:pPr>
              <a:spcAft>
                <a:spcPts val="800"/>
              </a:spcAft>
              <a:defRPr sz="1800">
                <a:solidFill>
                  <a:srgbClr val="DCDCDC"/>
                </a:solidFill>
                <a:latin typeface="Arial"/>
              </a:defRPr>
            </a:pPr>
            <a:r>
              <a:t>Promote Systematic Inflows: Emphasize SIP products to extend investor holding periods and stabilize fund AUM.</a:t>
            </a:r>
          </a:p>
          <a:p>
            <a:pPr>
              <a:spcAft>
                <a:spcPts val="800"/>
              </a:spcAft>
              <a:defRPr sz="1800">
                <a:solidFill>
                  <a:srgbClr val="DCDCDC"/>
                </a:solidFill>
                <a:latin typeface="Arial"/>
              </a:defRPr>
            </a:pPr>
            <a:r>
              <a:t>Leverage Scorecard: Use the multi-factor scorecard to identify top-performing funds on a risk-adjusted basis.</a:t>
            </a:r>
          </a:p>
          <a:p>
            <a:pPr>
              <a:spcAft>
                <a:spcPts val="800"/>
              </a:spcAft>
              <a:defRPr sz="1800">
                <a:solidFill>
                  <a:srgbClr val="DCDCDC"/>
                </a:solidFill>
                <a:latin typeface="Arial"/>
              </a:defRPr>
            </a:pPr>
            <a:r>
              <a:t>Visual Guidelines: Summary layout showing recommendations for Risk, Returns, and Business Development.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11A"/>
        </a:solidFill>
        <a:effectLst/>
      </p:bgPr>
    </p:bg>
    <p:spTree>
      <p:nvGrpSpPr>
        <p:cNvPr id="1" name=""/>
        <p:cNvGrpSpPr/>
        <p:nvPr/>
      </p:nvGrpSpPr>
      <p:grpSpPr/>
      <p:sp>
        <p:nvSpPr>
          <p:cNvPr id="2" name="TextBox 1"/>
          <p:cNvSpPr txBox="1"/>
          <p:nvPr/>
        </p:nvSpPr>
        <p:spPr>
          <a:xfrm>
            <a:off x="457200" y="457200"/>
            <a:ext cx="11274552" cy="1097280"/>
          </a:xfrm>
          <a:prstGeom prst="rect">
            <a:avLst/>
          </a:prstGeom>
          <a:noFill/>
        </p:spPr>
        <p:txBody>
          <a:bodyPr wrap="square">
            <a:spAutoFit/>
          </a:bodyPr>
          <a:lstStyle/>
          <a:p>
            <a:pPr>
              <a:defRPr sz="3600" b="1">
                <a:solidFill>
                  <a:srgbClr val="00E5FF"/>
                </a:solidFill>
                <a:latin typeface="Arial"/>
              </a:defRPr>
            </a:pPr>
            <a:r>
              <a:t> Thank You &amp; Q&amp;A</a:t>
            </a:r>
          </a:p>
        </p:txBody>
      </p:sp>
      <p:sp>
        <p:nvSpPr>
          <p:cNvPr id="3" name="TextBox 2"/>
          <p:cNvSpPr txBox="1"/>
          <p:nvPr/>
        </p:nvSpPr>
        <p:spPr>
          <a:xfrm>
            <a:off x="457200" y="1645920"/>
            <a:ext cx="11274552" cy="4572000"/>
          </a:xfrm>
          <a:prstGeom prst="rect">
            <a:avLst/>
          </a:prstGeom>
          <a:noFill/>
        </p:spPr>
        <p:txBody>
          <a:bodyPr wrap="square">
            <a:spAutoFit/>
          </a:bodyPr>
          <a:lstStyle/>
          <a:p>
            <a:pPr>
              <a:spcAft>
                <a:spcPts val="800"/>
              </a:spcAft>
              <a:defRPr sz="1800">
                <a:solidFill>
                  <a:srgbClr val="DCDCDC"/>
                </a:solidFill>
                <a:latin typeface="Arial"/>
              </a:defRPr>
            </a:pPr>
            <a:r>
              <a:t>Content:</a:t>
            </a:r>
          </a:p>
          <a:p>
            <a:pPr>
              <a:spcAft>
                <a:spcPts val="800"/>
              </a:spcAft>
              <a:defRPr sz="1800">
                <a:solidFill>
                  <a:srgbClr val="DCDCDC"/>
                </a:solidFill>
                <a:latin typeface="Arial"/>
              </a:defRPr>
            </a:pPr>
            <a:r>
              <a:t>Mutual Fund Analytics Capstone Project</a:t>
            </a:r>
          </a:p>
          <a:p>
            <a:pPr>
              <a:spcAft>
                <a:spcPts val="800"/>
              </a:spcAft>
              <a:defRPr sz="1800">
                <a:solidFill>
                  <a:srgbClr val="DCDCDC"/>
                </a:solidFill>
                <a:latin typeface="Arial"/>
              </a:defRPr>
            </a:pPr>
            <a:r>
              <a:t>Documentation &amp; Codebase: `README.md`, `run_pipeline.py`, `notebooks/`, `reports/`</a:t>
            </a:r>
          </a:p>
          <a:p>
            <a:pPr>
              <a:spcAft>
                <a:spcPts val="800"/>
              </a:spcAft>
              <a:defRPr sz="1800">
                <a:solidFill>
                  <a:srgbClr val="DCDCDC"/>
                </a:solidFill>
                <a:latin typeface="Arial"/>
              </a:defRPr>
            </a:pPr>
            <a:r>
              <a:t>Q&amp;A Session</a:t>
            </a:r>
          </a:p>
          <a:p>
            <a:pPr>
              <a:spcAft>
                <a:spcPts val="800"/>
              </a:spcAft>
              <a:defRPr sz="1800">
                <a:solidFill>
                  <a:srgbClr val="DCDCDC"/>
                </a:solidFill>
                <a:latin typeface="Arial"/>
              </a:defRPr>
            </a:pPr>
            <a:r>
              <a:t>Visual Guidelines: Widescreen clean dark template.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