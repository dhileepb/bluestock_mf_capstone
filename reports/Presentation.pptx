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of our Mutual Fund Analytics and Risk Platform. This platform represents an end-to-end data pipeline, from raw AMFI file ingestion to quantitative risk calculation and Power BI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Advisors and portfolio managers struggle with scattered data. Calculating real-time risk-adjusted returns or monitoring retail inflows typically requires manual effort, which lags volatile market movements.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consolidated daily NAV records, retail transaction histories, Nifty benchmarks, and portfolio holdings to establish a single, unified dataset for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pipeline processes raw files, checks schema columns, and loads data into a star schema in SQLite. This database is optimized for analytical queries.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resolved several key production challenges, including handling MultiIndex columns from yfinance, Kaleido export freezes on Windows, and invalid transaction dates.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Exploratory analysis shows large-cap funds correlate closely, while the Tech fund acts as a good diversifier. We also confirmed that higher expense ratios drag down long-term compounding returns.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scorecard ranks the 10 mutual funds based on both risk and returns. DSP Top 100 ranked first due to active alpha, while Mirae Asset ranked second due to low drawdown.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calculated the Herfindahl-Hirschman Index (HHI). High HHI values indicate sector concentration, which is typical for specialized sectoral funds.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 risk analysis confirms that specialized sector exposure leads to larger daily Value at Risk (VaR) and Conditional VaR (CVaR)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behavior analysis shows that systematic investment plans (SIP) encourage more disciplined retail behavior, showing significantly higher continuity rates than lumpsum products.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BI dashboard is designed for high visual contrast, featuring a geographical heatmap of transactions, risk bubbles, and dynamic benchmark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implementing sector concentration limits when HHIs exceed 2,500, focusing on systematic plans to stabilize inflows, and anchoring conservative clients in large-cap funds.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Mutual Fund Analytics &amp; Risk Platform</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Quantitative Risk Modeling, Inflow Cohorts, &amp; Power BI Dashboard Specs</a:t>
            </a:r>
          </a:p>
          <a:p>
            <a:pPr>
              <a:spcAft>
                <a:spcPts val="1200"/>
              </a:spcAft>
              <a:defRPr sz="1600">
                <a:solidFill>
                  <a:srgbClr val="DCDCDC"/>
                </a:solidFill>
                <a:latin typeface="Arial"/>
              </a:defRPr>
            </a:pPr>
            <a:r>
              <a:t>• Developer: Lead Data Analytics Consultant / Senior Quantitative Analyst</a:t>
            </a:r>
          </a:p>
          <a:p>
            <a:pPr>
              <a:spcAft>
                <a:spcPts val="1200"/>
              </a:spcAft>
              <a:defRPr sz="1600">
                <a:solidFill>
                  <a:srgbClr val="DCDCDC"/>
                </a:solidFill>
                <a:latin typeface="Arial"/>
              </a:defRPr>
            </a:pPr>
            <a:r>
              <a:t>• Technology Stack: Python, SQLite, yfinance API, and Power BI</a:t>
            </a:r>
          </a:p>
          <a:p>
            <a:pPr>
              <a:spcAft>
                <a:spcPts val="1200"/>
              </a:spcAft>
              <a:defRPr sz="1600">
                <a:solidFill>
                  <a:srgbClr val="DCDCDC"/>
                </a:solidFill>
                <a:latin typeface="Arial"/>
              </a:defRPr>
            </a:pPr>
            <a:r>
              <a:t>• Scope: Analysis of 10 mutual funds across returns, costs, and retail inflows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The Problem: Data Fragmentation</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Challenges in mutual fund analysis</a:t>
            </a:r>
          </a:p>
          <a:p>
            <a:pPr>
              <a:spcAft>
                <a:spcPts val="1200"/>
              </a:spcAft>
              <a:defRPr sz="1600">
                <a:solidFill>
                  <a:srgbClr val="DCDCDC"/>
                </a:solidFill>
                <a:latin typeface="Arial"/>
              </a:defRPr>
            </a:pPr>
            <a:r>
              <a:t>• Fragmented data: Daily NAV sheets, retail ledger transactions, and indices are scattered</a:t>
            </a:r>
          </a:p>
          <a:p>
            <a:pPr>
              <a:spcAft>
                <a:spcPts val="1200"/>
              </a:spcAft>
              <a:defRPr sz="1600">
                <a:solidFill>
                  <a:srgbClr val="DCDCDC"/>
                </a:solidFill>
                <a:latin typeface="Arial"/>
              </a:defRPr>
            </a:pPr>
            <a:r>
              <a:t>• Reporting lags: Standard quarterly performance ratios lack the latency needed for rapid decisions</a:t>
            </a:r>
          </a:p>
          <a:p>
            <a:pPr>
              <a:spcAft>
                <a:spcPts val="1200"/>
              </a:spcAft>
              <a:defRPr sz="1600">
                <a:solidFill>
                  <a:srgbClr val="DCDCDC"/>
                </a:solidFill>
                <a:latin typeface="Arial"/>
              </a:defRPr>
            </a:pPr>
            <a:r>
              <a:t>• Undefined risk exposure: Advisors lack simple metrics to evaluate sector concentration and tail risk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Unified Data Assets Ingested</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Platform inputs</a:t>
            </a:r>
          </a:p>
          <a:p>
            <a:pPr>
              <a:spcAft>
                <a:spcPts val="1200"/>
              </a:spcAft>
              <a:defRPr sz="1600">
                <a:solidFill>
                  <a:srgbClr val="DCDCDC"/>
                </a:solidFill>
                <a:latin typeface="Arial"/>
              </a:defRPr>
            </a:pPr>
            <a:r>
              <a:t>• Daily NAV Histories: Ingested 7,798 AMFI daily NAV rows (2022–2024)</a:t>
            </a:r>
          </a:p>
          <a:p>
            <a:pPr>
              <a:spcAft>
                <a:spcPts val="1200"/>
              </a:spcAft>
              <a:defRPr sz="1600">
                <a:solidFill>
                  <a:srgbClr val="DCDCDC"/>
                </a:solidFill>
                <a:latin typeface="Arial"/>
              </a:defRPr>
            </a:pPr>
            <a:r>
              <a:t>• Retail Transaction Logs: 1,985 granular buy/sell records across 200 distinct investor profiles</a:t>
            </a:r>
          </a:p>
          <a:p>
            <a:pPr>
              <a:spcAft>
                <a:spcPts val="1200"/>
              </a:spcAft>
              <a:defRPr sz="1600">
                <a:solidFill>
                  <a:srgbClr val="DCDCDC"/>
                </a:solidFill>
                <a:latin typeface="Arial"/>
              </a:defRPr>
            </a:pPr>
            <a:r>
              <a:t>• Benchmark Indices: Daily Nifty 50 and Nifty 100 prices fetched from yfinance API</a:t>
            </a:r>
          </a:p>
          <a:p>
            <a:pPr>
              <a:spcAft>
                <a:spcPts val="1200"/>
              </a:spcAft>
              <a:defRPr sz="1600">
                <a:solidFill>
                  <a:srgbClr val="DCDCDC"/>
                </a:solidFill>
                <a:latin typeface="Arial"/>
              </a:defRPr>
            </a:pPr>
            <a:r>
              <a:t>• Holdings Allocations: Stock-level allocations mapped across schemes to evaluate sector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ETL Ingestion &amp; Database STAR Schema</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Engineered data pipeline</a:t>
            </a:r>
          </a:p>
          <a:p>
            <a:pPr>
              <a:spcAft>
                <a:spcPts val="1200"/>
              </a:spcAft>
              <a:defRPr sz="1600">
                <a:solidFill>
                  <a:srgbClr val="DCDCDC"/>
                </a:solidFill>
                <a:latin typeface="Arial"/>
              </a:defRPr>
            </a:pPr>
            <a:r>
              <a:t>• Modular pipeline: run scripts/etl_pipeline.py to process and clean files</a:t>
            </a:r>
          </a:p>
          <a:p>
            <a:pPr>
              <a:spcAft>
                <a:spcPts val="1200"/>
              </a:spcAft>
              <a:defRPr sz="1600">
                <a:solidFill>
                  <a:srgbClr val="DCDCDC"/>
                </a:solidFill>
                <a:latin typeface="Arial"/>
              </a:defRPr>
            </a:pPr>
            <a:r>
              <a:t>• SQLite STAR Schema: Loads dimensions (AMC, Scheme, Date, Investor) and facts (NAV, Transact, Performance)</a:t>
            </a:r>
          </a:p>
          <a:p>
            <a:pPr>
              <a:spcAft>
                <a:spcPts val="1200"/>
              </a:spcAft>
              <a:defRPr sz="1600">
                <a:solidFill>
                  <a:srgbClr val="DCDCDC"/>
                </a:solidFill>
                <a:latin typeface="Arial"/>
              </a:defRPr>
            </a:pPr>
            <a:r>
              <a:t>• Referential integrity: Foreign key mapping and indexes implemented to optimize query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Engineering Challenges &amp; Resolutions</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Handling raw data anomalies in production</a:t>
            </a:r>
          </a:p>
          <a:p>
            <a:pPr>
              <a:spcAft>
                <a:spcPts val="1200"/>
              </a:spcAft>
              <a:defRPr sz="1600">
                <a:solidFill>
                  <a:srgbClr val="DCDCDC"/>
                </a:solidFill>
                <a:latin typeface="Arial"/>
              </a:defRPr>
            </a:pPr>
            <a:r>
              <a:t>• Plotly Static Export: Windows Kaleido hangs resolved by Matplotlib visualization fallback</a:t>
            </a:r>
          </a:p>
          <a:p>
            <a:pPr>
              <a:spcAft>
                <a:spcPts val="1200"/>
              </a:spcAft>
              <a:defRPr sz="1600">
                <a:solidFill>
                  <a:srgbClr val="DCDCDC"/>
                </a:solidFill>
                <a:latin typeface="Arial"/>
              </a:defRPr>
            </a:pPr>
            <a:r>
              <a:t>• yfinance API Column Shifting: Solved yfinance MultiIndex column headers programmatically</a:t>
            </a:r>
          </a:p>
          <a:p>
            <a:pPr>
              <a:spcAft>
                <a:spcPts val="1200"/>
              </a:spcAft>
              <a:defRPr sz="1600">
                <a:solidFill>
                  <a:srgbClr val="DCDCDC"/>
                </a:solidFill>
                <a:latin typeface="Arial"/>
              </a:defRPr>
            </a:pPr>
            <a:r>
              <a:t>• Dirty Raw Inputs: Coerced invalid dates ('INVALID' string) to NaT and purged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Statistical EDA Insights</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Correlation and cost impact findings</a:t>
            </a:r>
          </a:p>
          <a:p>
            <a:pPr>
              <a:spcAft>
                <a:spcPts val="1200"/>
              </a:spcAft>
              <a:defRPr sz="1600">
                <a:solidFill>
                  <a:srgbClr val="DCDCDC"/>
                </a:solidFill>
                <a:latin typeface="Arial"/>
              </a:defRPr>
            </a:pPr>
            <a:r>
              <a:t>• High correlation: Large-cap schemes show returns correlation above 0.85</a:t>
            </a:r>
          </a:p>
          <a:p>
            <a:pPr>
              <a:spcAft>
                <a:spcPts val="1200"/>
              </a:spcAft>
              <a:defRPr sz="1600">
                <a:solidFill>
                  <a:srgbClr val="DCDCDC"/>
                </a:solidFill>
                <a:latin typeface="Arial"/>
              </a:defRPr>
            </a:pPr>
            <a:r>
              <a:t>• Diversification utility: The Tech Fund exhibits low returns correlation (~0.42) to standard indices</a:t>
            </a:r>
          </a:p>
          <a:p>
            <a:pPr>
              <a:spcAft>
                <a:spcPts val="1200"/>
              </a:spcAft>
              <a:defRPr sz="1600">
                <a:solidFill>
                  <a:srgbClr val="DCDCDC"/>
                </a:solidFill>
                <a:latin typeface="Arial"/>
              </a:defRPr>
            </a:pPr>
            <a:r>
              <a:t>• Expense ratio drag: Plotting fees against 3Y CAGR reveals a clear negative cost drag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The Weighted Fund Scorecard</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Dynamic performance leaderboard (Day 4)</a:t>
            </a:r>
          </a:p>
          <a:p>
            <a:pPr>
              <a:spcAft>
                <a:spcPts val="1200"/>
              </a:spcAft>
              <a:defRPr sz="1600">
                <a:solidFill>
                  <a:srgbClr val="DCDCDC"/>
                </a:solidFill>
                <a:latin typeface="Arial"/>
              </a:defRPr>
            </a:pPr>
            <a:r>
              <a:t>• Multi-factor scoring: CAGR (30%), Sharpe (25%), Alpha (20%), Expense (15%), Drawdown (10%)</a:t>
            </a:r>
          </a:p>
          <a:p>
            <a:pPr>
              <a:spcAft>
                <a:spcPts val="1200"/>
              </a:spcAft>
              <a:defRPr sz="1600">
                <a:solidFill>
                  <a:srgbClr val="DCDCDC"/>
                </a:solidFill>
                <a:latin typeface="Arial"/>
              </a:defRPr>
            </a:pPr>
            <a:r>
              <a:t>• DSP Top 100 Equity: Ranked #1 due to strong Sharpe (1.22) and CAPM Alpha (28.8%)</a:t>
            </a:r>
          </a:p>
          <a:p>
            <a:pPr>
              <a:spcAft>
                <a:spcPts val="1200"/>
              </a:spcAft>
              <a:defRPr sz="1600">
                <a:solidFill>
                  <a:srgbClr val="DCDCDC"/>
                </a:solidFill>
                <a:latin typeface="Arial"/>
              </a:defRPr>
            </a:pPr>
            <a:r>
              <a:t>• Mirae Asset Large Cap: Ranked #2 due to strong drawdown control (-17.4% max drawdown)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Portfolio Concentration &amp; Sector HHI</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Measuring sector concentration (Day 6)</a:t>
            </a:r>
          </a:p>
          <a:p>
            <a:pPr>
              <a:spcAft>
                <a:spcPts val="1200"/>
              </a:spcAft>
              <a:defRPr sz="1600">
                <a:solidFill>
                  <a:srgbClr val="DCDCDC"/>
                </a:solidFill>
                <a:latin typeface="Arial"/>
              </a:defRPr>
            </a:pPr>
            <a:r>
              <a:t>• Sector HHI: Tech sectoral fund has high concentration (HHI = 7,338.00)</a:t>
            </a:r>
          </a:p>
          <a:p>
            <a:pPr>
              <a:spcAft>
                <a:spcPts val="1200"/>
              </a:spcAft>
              <a:defRPr sz="1600">
                <a:solidFill>
                  <a:srgbClr val="DCDCDC"/>
                </a:solidFill>
                <a:latin typeface="Arial"/>
              </a:defRPr>
            </a:pPr>
            <a:r>
              <a:t>• Diversified schemes: Large-cap and flexi-cap funds maintain moderate HHIs (~1,827.16)</a:t>
            </a:r>
          </a:p>
          <a:p>
            <a:pPr>
              <a:spcAft>
                <a:spcPts val="1200"/>
              </a:spcAft>
              <a:defRPr sz="1600">
                <a:solidFill>
                  <a:srgbClr val="DCDCDC"/>
                </a:solidFill>
                <a:latin typeface="Arial"/>
              </a:defRPr>
            </a:pPr>
            <a:r>
              <a:t>• Asset allocation: Diversification helps reduce sector-specific risk exposure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Downside Tail Risk (VaR &amp; CVaR)</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Estimating tail risk thresholds</a:t>
            </a:r>
          </a:p>
          <a:p>
            <a:pPr>
              <a:spcAft>
                <a:spcPts val="1200"/>
              </a:spcAft>
              <a:defRPr sz="1600">
                <a:solidFill>
                  <a:srgbClr val="DCDCDC"/>
                </a:solidFill>
                <a:latin typeface="Arial"/>
              </a:defRPr>
            </a:pPr>
            <a:r>
              <a:t>• Value at Risk (95% VaR): Tech Fund daily VaR = 2.33% vs. Mirae Large Cap = 2.08%</a:t>
            </a:r>
          </a:p>
          <a:p>
            <a:pPr>
              <a:spcAft>
                <a:spcPts val="1200"/>
              </a:spcAft>
              <a:defRPr sz="1600">
                <a:solidFill>
                  <a:srgbClr val="DCDCDC"/>
                </a:solidFill>
                <a:latin typeface="Arial"/>
              </a:defRPr>
            </a:pPr>
            <a:r>
              <a:t>• Expected Shortfall (95% CVaR): Tech Fund daily CVaR = 3.19% vs. Mirae Large Cap = 2.76%</a:t>
            </a:r>
          </a:p>
          <a:p>
            <a:pPr>
              <a:spcAft>
                <a:spcPts val="1200"/>
              </a:spcAft>
              <a:defRPr sz="1600">
                <a:solidFill>
                  <a:srgbClr val="DCDCDC"/>
                </a:solidFill>
                <a:latin typeface="Arial"/>
              </a:defRPr>
            </a:pPr>
            <a:r>
              <a:t>• Tail Risk: High sector concentration directly correlates with larger tail risk losses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Retail Cohorts &amp; SIP continuity</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Analyzing investor behavior</a:t>
            </a:r>
          </a:p>
          <a:p>
            <a:pPr>
              <a:spcAft>
                <a:spcPts val="1200"/>
              </a:spcAft>
              <a:defRPr sz="1600">
                <a:solidFill>
                  <a:srgbClr val="DCDCDC"/>
                </a:solidFill>
                <a:latin typeface="Arial"/>
              </a:defRPr>
            </a:pPr>
            <a:r>
              <a:t>• SIP accounts: Active accounts show strong continuity (87.2% active rate)</a:t>
            </a:r>
          </a:p>
          <a:p>
            <a:pPr>
              <a:spcAft>
                <a:spcPts val="1200"/>
              </a:spcAft>
              <a:defRPr sz="1600">
                <a:solidFill>
                  <a:srgbClr val="DCDCDC"/>
                </a:solidFill>
                <a:latin typeface="Arial"/>
              </a:defRPr>
            </a:pPr>
            <a:r>
              <a:t>• Inactive accounts: Show lower continuity and short streaks before churning</a:t>
            </a:r>
          </a:p>
          <a:p>
            <a:pPr>
              <a:spcAft>
                <a:spcPts val="1200"/>
              </a:spcAft>
              <a:defRPr sz="1600">
                <a:solidFill>
                  <a:srgbClr val="DCDCDC"/>
                </a:solidFill>
                <a:latin typeface="Arial"/>
              </a:defRPr>
            </a:pPr>
            <a:r>
              <a:t>• Vintage cohorts: Capital retention is higher among aggressive risk-profile investors during dips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Executive BI Dashboard Blueprint</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4-Page Power BI layout specification</a:t>
            </a:r>
          </a:p>
          <a:p>
            <a:pPr>
              <a:spcAft>
                <a:spcPts val="1200"/>
              </a:spcAft>
              <a:defRPr sz="1600">
                <a:solidFill>
                  <a:srgbClr val="DCDCDC"/>
                </a:solidFill>
                <a:latin typeface="Arial"/>
              </a:defRPr>
            </a:pPr>
            <a:r>
              <a:t>• Branding Theme: Custom dark-mode json palette (deep carbon background and cyan text)</a:t>
            </a:r>
          </a:p>
          <a:p>
            <a:pPr>
              <a:spcAft>
                <a:spcPts val="1200"/>
              </a:spcAft>
              <a:defRPr sz="1600">
                <a:solidFill>
                  <a:srgbClr val="DCDCDC"/>
                </a:solidFill>
                <a:latin typeface="Arial"/>
              </a:defRPr>
            </a:pPr>
            <a:r>
              <a:t>• Interactive features: Custom hover tooltip canvas for metrics and drill-through links</a:t>
            </a:r>
          </a:p>
          <a:p>
            <a:pPr>
              <a:spcAft>
                <a:spcPts val="1200"/>
              </a:spcAft>
              <a:defRPr sz="1600">
                <a:solidFill>
                  <a:srgbClr val="DCDCDC"/>
                </a:solidFill>
                <a:latin typeface="Arial"/>
              </a:defRPr>
            </a:pPr>
            <a:r>
              <a:t>• Visual specs: Inflows mapped by state, risk bubbles, and dynamic growth curves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A"/>
        </a:solidFill>
        <a:effectLst/>
      </p:bgPr>
    </p:bg>
    <p:spTree>
      <p:nvGrpSpPr>
        <p:cNvPr id="1" name=""/>
        <p:cNvGrpSpPr/>
        <p:nvPr/>
      </p:nvGrpSpPr>
      <p:grpSpPr/>
      <p:sp>
        <p:nvSpPr>
          <p:cNvPr id="2" name="TextBox 1"/>
          <p:cNvSpPr txBox="1"/>
          <p:nvPr/>
        </p:nvSpPr>
        <p:spPr>
          <a:xfrm>
            <a:off x="457200" y="457200"/>
            <a:ext cx="11274552" cy="1097280"/>
          </a:xfrm>
          <a:prstGeom prst="rect">
            <a:avLst/>
          </a:prstGeom>
          <a:noFill/>
        </p:spPr>
        <p:txBody>
          <a:bodyPr wrap="square">
            <a:spAutoFit/>
          </a:bodyPr>
          <a:lstStyle/>
          <a:p>
            <a:pPr>
              <a:defRPr sz="3200" b="1">
                <a:solidFill>
                  <a:srgbClr val="00E5FF"/>
                </a:solidFill>
                <a:latin typeface="Arial"/>
              </a:defRPr>
            </a:pPr>
            <a:r>
              <a:t>Analyst Recommendations</a:t>
            </a:r>
          </a:p>
        </p:txBody>
      </p:sp>
      <p:sp>
        <p:nvSpPr>
          <p:cNvPr id="3" name="TextBox 2"/>
          <p:cNvSpPr txBox="1"/>
          <p:nvPr/>
        </p:nvSpPr>
        <p:spPr>
          <a:xfrm>
            <a:off x="457200" y="1645920"/>
            <a:ext cx="11274552" cy="4572000"/>
          </a:xfrm>
          <a:prstGeom prst="rect">
            <a:avLst/>
          </a:prstGeom>
          <a:noFill/>
        </p:spPr>
        <p:txBody>
          <a:bodyPr wrap="square">
            <a:spAutoFit/>
          </a:bodyPr>
          <a:lstStyle/>
          <a:p>
            <a:pPr>
              <a:spcAft>
                <a:spcPts val="2000"/>
              </a:spcAft>
              <a:defRPr sz="1800" i="1">
                <a:solidFill>
                  <a:srgbClr val="00E5FF"/>
                </a:solidFill>
                <a:latin typeface="Arial"/>
              </a:defRPr>
            </a:pPr>
            <a:r>
              <a:t>Actionable insights for advisors and managers</a:t>
            </a:r>
          </a:p>
          <a:p>
            <a:pPr>
              <a:spcAft>
                <a:spcPts val="1200"/>
              </a:spcAft>
              <a:defRPr sz="1600">
                <a:solidFill>
                  <a:srgbClr val="DCDCDC"/>
                </a:solidFill>
                <a:latin typeface="Arial"/>
              </a:defRPr>
            </a:pPr>
            <a:r>
              <a:t>• Sector Concentration: Monitor sector weights and rebalance when the HHI exceeds 2,500</a:t>
            </a:r>
          </a:p>
          <a:p>
            <a:pPr>
              <a:spcAft>
                <a:spcPts val="1200"/>
              </a:spcAft>
              <a:defRPr sz="1600">
                <a:solidFill>
                  <a:srgbClr val="DCDCDC"/>
                </a:solidFill>
                <a:latin typeface="Arial"/>
              </a:defRPr>
            </a:pPr>
            <a:r>
              <a:t>• Systematic Products: Emphasize SIP plans in retail marketing to build steady, sticky AUM</a:t>
            </a:r>
          </a:p>
          <a:p>
            <a:pPr>
              <a:spcAft>
                <a:spcPts val="1200"/>
              </a:spcAft>
              <a:defRPr sz="1600">
                <a:solidFill>
                  <a:srgbClr val="DCDCDC"/>
                </a:solidFill>
                <a:latin typeface="Arial"/>
              </a:defRPr>
            </a:pPr>
            <a:r>
              <a:t>• Conservative Folios: Anchor conservative client portfolios in Large Cap allocations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