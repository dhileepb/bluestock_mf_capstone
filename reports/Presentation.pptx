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board presentation of our Mutual Fund Analytics and Risk Platform. This platform represents a complete end-to-end data pipeline: from raw AMFI and clienttransaction files, to relational database modeling, advanced quantitative risk metrics calculation, and finally, dynamic reporting in Power BI. Today, we will discuss both the engineering architecture and the key strategic findings that our calculations have revealed.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look at the core problem we are addressing. Traditional wealth management is plagued by data fragmentation. Advisors have client transaction files, AMFI publishes daily NAVs, and benchmarks reside on separate APIs. Without a unified system, we cannot calculate real-time performance or risk. This leads to hours of manual work and, more critically, leaves advisors blind to tail risk when recommending highly concentrated sector funds. Our platform bridges this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four pillars of our database. We ingest over seven thousand daily NAV records directly from AMFI, and merge them with nearly two thousand granular client transaction rows. To establish standard benchmarks, we fetch Nifty 50 and Nifty 100 prices using the Yahoo Finance API. Lastly, we mapped stock-level portfolio holdings to evaluate sector-level allocations. This establishes a unified, single source of truth for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side displays our ETL flow, handled by python scripts. We validate headers, prune duplicates, and forward-fill missing quotes to ensure database completeness. The right side shows our database structure in SQLite. We modeled this as a STAR schema. Separating the structural dimensions like schemes and investor profiles from the transactional facts allows us to write clean and fast analytical SQL queries, and optimize the data loading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part of building a production-ready application, we solved several real-world engineering issues. First, we solved Plotly/Kaleido PDF export freezes on Windows by building a Matplotlib rendering fallback. Second, we resolved yfinance API MultiIndex column flattening programmatically. Third, we resolved raw file data anomalies, such as coercing string 'INVALID' transaction dates to NaT and purging them before database load. This ensures the engine runs smoothly from start to finish.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statistical EDA highlighted two key dynamics. First, large-cap mutual funds show a high return correlation, meaning they provide minimal diversification from each other. However, the ICICI Technology sectoral fund correlates at only 0.42, showing it works well to diversify equity risk. Second, our OLS regression mapping returns to fee rates confirmed a strong, negative fee drag on long-term compound growth. This underscores the importance of monitoring expense ratios.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results of our multi-factor performance scorecard. We ranked all 10 mutual funds based on 3Y CAGR, Sharpe ratio, CAPM Alpha, expense ratio, and maximum drawdown. As you can see in the table on the right, DSP Top 100 Equity ranked first due to an exceptional 39.8% CAGR and 28.8% annualized Alpha. Mirae Asset Large Cap ranked second, driven by its industry-leading capital protection with a drawdown of only -17.5%.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explore portfolio concentration using the Herfindahl-Hirschman Index, or HHI. The ICICI Technology sectoral fund shows an extremely high HHI concentration of 7,288, which is to be expected given its mandated exposure to a single sector. Standard diversified funds, like Mirae Asset Large Cap, maintain moderate concentration scores around 1,827, showing healthy asset-class and sector-level diversification.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look at downside tail risk. We calculated the 95% Daily Historical Value at Risk, which measures the threshold loss limit, and Conditional VaR, which is the expected shortfall. Notice the technology fund: it shows a daily VaR of 2.33% and a daily CVaR of 3.01%. In simple terms, in the worst 5% of trading sessions, investors in this tech fund lose an average of 3.01% of their capital in a single day. The diversified Mirae Asset Large Cap, on the other hand, reduces this expected shortfall to 2.76%.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Understanding investor behavior is critical. In our cohort analysis on the left, we found that conservative retail investors show elevated redemptions during market pullbacks. On the right, we explore SIP continuity. Active systematic accounts display a high 87.2% continuity rate. However, inactive folios lapse very early, typically within the first two months. This indicates that if a client misses their second payment, they are highly likely to churn permanently, pointing to a key window for automated client interventions.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designed a widescreen Power BI layout spec to display these calculations. Page 1 shows the high-level industry KPIs, Page 2 features risk-return scatters and scorecard tables. Page 3 tracks geographical concentrations and demographics, and Page 4 compares systematic flows with market index trends. All pages share a custom carbon dark theme to optimize visual contrast and readability.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we translate our analytical findings into three strategic advisor recommendations. First, implement automated portfolio rebalancing alerts when a client's sector concentration HHI exceeds 2,500. Second, prioritize systematic SIP marketing campaigns, and configure automated alerts for missed early payments. Third, enforce a minimum 60% large-cap anchor for conservative retail clients to buffer drawdowns and avoid behavioral redemptions. Thank you, and I am open to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2191695" cy="320040"/>
          </a:xfrm>
          <a:prstGeom prst="rect">
            <a:avLst/>
          </a:prstGeom>
          <a:solidFill>
            <a:srgbClr val="1E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004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17352" cy="1645920"/>
          </a:xfrm>
          <a:prstGeom prst="rect">
            <a:avLst/>
          </a:prstGeom>
          <a:noFill/>
        </p:spPr>
        <p:txBody>
          <a:bodyPr wrap="square">
            <a:spAutoFit/>
          </a:bodyPr>
          <a:lstStyle/>
          <a:p>
            <a:pPr>
              <a:defRPr sz="4400" b="1">
                <a:solidFill>
                  <a:srgbClr val="FFFFFF"/>
                </a:solidFill>
                <a:latin typeface="Trebuchet MS"/>
              </a:defRPr>
            </a:pPr>
            <a:r>
              <a:t>Mutual Fund Analytics &amp; Portfolio Risk</a:t>
            </a:r>
          </a:p>
          <a:p>
            <a:pPr>
              <a:spcBef>
                <a:spcPts val="1000"/>
              </a:spcBef>
              <a:defRPr sz="2000">
                <a:solidFill>
                  <a:srgbClr val="00E5FF"/>
                </a:solidFill>
                <a:latin typeface="Trebuchet MS"/>
              </a:defRPr>
            </a:pPr>
            <a:r>
              <a:t>Technical Case Study &amp; Executive Dashboard Specifications</a:t>
            </a:r>
          </a:p>
        </p:txBody>
      </p:sp>
      <p:sp>
        <p:nvSpPr>
          <p:cNvPr id="5" name="TextBox 4"/>
          <p:cNvSpPr txBox="1"/>
          <p:nvPr/>
        </p:nvSpPr>
        <p:spPr>
          <a:xfrm>
            <a:off x="685800" y="3840480"/>
            <a:ext cx="5943600" cy="2011680"/>
          </a:xfrm>
          <a:prstGeom prst="rect">
            <a:avLst/>
          </a:prstGeom>
          <a:noFill/>
        </p:spPr>
        <p:txBody>
          <a:bodyPr wrap="square">
            <a:spAutoFit/>
          </a:bodyPr>
          <a:lstStyle/>
          <a:p>
            <a:pPr>
              <a:spcAft>
                <a:spcPts val="600"/>
              </a:spcAft>
            </a:pPr>
            <a:r>
              <a:rPr sz="1100" b="1">
                <a:solidFill>
                  <a:srgbClr val="FFFFFF"/>
                </a:solidFill>
                <a:latin typeface="Segoe UI"/>
              </a:rPr>
              <a:t>Presenter:</a:t>
            </a:r>
            <a:r>
              <a:rPr sz="1100">
                <a:solidFill>
                  <a:srgbClr val="B0BEC5"/>
                </a:solidFill>
                <a:latin typeface="Segoe UI"/>
              </a:rPr>
              <a:t> Dhileep B, Lead Financial Data Analyst &amp; Quant Analyst</a:t>
            </a:r>
          </a:p>
          <a:p>
            <a:pPr>
              <a:spcAft>
                <a:spcPts val="600"/>
              </a:spcAft>
            </a:pPr>
            <a:r>
              <a:rPr sz="1100" b="1">
                <a:solidFill>
                  <a:srgbClr val="FFFFFF"/>
                </a:solidFill>
                <a:latin typeface="Segoe UI"/>
              </a:rPr>
              <a:t>Database Layer:</a:t>
            </a:r>
            <a:r>
              <a:rPr sz="1100">
                <a:solidFill>
                  <a:srgbClr val="B0BEC5"/>
                </a:solidFill>
                <a:latin typeface="Segoe UI"/>
              </a:rPr>
              <a:t> Relational SQLite 3 Schema with automated indexing</a:t>
            </a:r>
          </a:p>
          <a:p>
            <a:pPr>
              <a:spcAft>
                <a:spcPts val="600"/>
              </a:spcAft>
            </a:pPr>
            <a:r>
              <a:rPr sz="1100" b="1">
                <a:solidFill>
                  <a:srgbClr val="FFFFFF"/>
                </a:solidFill>
                <a:latin typeface="Segoe UI"/>
              </a:rPr>
              <a:t>Analytics Stack:</a:t>
            </a:r>
            <a:r>
              <a:rPr sz="1100">
                <a:solidFill>
                  <a:srgbClr val="B0BEC5"/>
                </a:solidFill>
                <a:latin typeface="Segoe UI"/>
              </a:rPr>
              <a:t> Python, pandas, scipy, yfinance API, &amp; Power BI Theme</a:t>
            </a:r>
          </a:p>
          <a:p>
            <a:pPr>
              <a:spcAft>
                <a:spcPts val="600"/>
              </a:spcAft>
            </a:pPr>
            <a:r>
              <a:rPr sz="1100" b="1">
                <a:solidFill>
                  <a:srgbClr val="FFFFFF"/>
                </a:solidFill>
                <a:latin typeface="Segoe UI"/>
              </a:rPr>
              <a:t>Project Status:</a:t>
            </a:r>
            <a:r>
              <a:rPr sz="1100">
                <a:solidFill>
                  <a:srgbClr val="B0BEC5"/>
                </a:solidFill>
                <a:latin typeface="Segoe UI"/>
              </a:rPr>
              <a:t> Production Ready Build (CFD86E1)</a:t>
            </a:r>
          </a:p>
        </p:txBody>
      </p:sp>
      <p:sp>
        <p:nvSpPr>
          <p:cNvPr id="6" name="Rectangle 5"/>
          <p:cNvSpPr/>
          <p:nvPr/>
        </p:nvSpPr>
        <p:spPr>
          <a:xfrm>
            <a:off x="7772400" y="3840480"/>
            <a:ext cx="3730752" cy="201168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defRPr sz="1100" b="1">
                <a:solidFill>
                  <a:srgbClr val="00E5FF"/>
                </a:solidFill>
                <a:latin typeface="Trebuchet MS"/>
              </a:defRPr>
            </a:pPr>
            <a:r>
              <a:t>BLUESTOCK SUBMISSION</a:t>
            </a:r>
          </a:p>
          <a:p>
            <a:pPr>
              <a:spcBef>
                <a:spcPts val="800"/>
              </a:spcBef>
              <a:defRPr sz="1400" b="1">
                <a:solidFill>
                  <a:srgbClr val="FFFFFF"/>
                </a:solidFill>
                <a:latin typeface="Segoe UI"/>
              </a:defRPr>
            </a:pPr>
            <a:r>
              <a:t>Day 1 to Day 6 Deliverables</a:t>
            </a:r>
          </a:p>
          <a:p>
            <a:pPr>
              <a:spcBef>
                <a:spcPts val="800"/>
              </a:spcBef>
              <a:defRPr sz="950">
                <a:solidFill>
                  <a:srgbClr val="B0BEC5"/>
                </a:solidFill>
                <a:latin typeface="Segoe UI"/>
              </a:defRPr>
            </a:pPr>
            <a:r>
              <a:t>ETL Pipeline, SQL DB, Performance scorecard, Value-at-Risk modeling, and BI themes.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900" b="1">
                <a:solidFill>
                  <a:srgbClr val="00E5FF"/>
                </a:solidFill>
                <a:latin typeface="Trebuchet MS"/>
              </a:defRPr>
            </a:pPr>
            <a:r>
              <a:t>BLUESTOCK MUTUAL FUND ANALYTICS</a:t>
            </a:r>
          </a:p>
        </p:txBody>
      </p:sp>
      <p:sp>
        <p:nvSpPr>
          <p:cNvPr id="3" name="TextBox 2"/>
          <p:cNvSpPr txBox="1"/>
          <p:nvPr/>
        </p:nvSpPr>
        <p:spPr>
          <a:xfrm>
            <a:off x="685800" y="594360"/>
            <a:ext cx="10817352" cy="731520"/>
          </a:xfrm>
          <a:prstGeom prst="rect">
            <a:avLst/>
          </a:prstGeom>
          <a:noFill/>
        </p:spPr>
        <p:txBody>
          <a:bodyPr wrap="square">
            <a:spAutoFit/>
          </a:bodyPr>
          <a:lstStyle/>
          <a:p>
            <a:pPr>
              <a:defRPr sz="2800" b="1">
                <a:solidFill>
                  <a:srgbClr val="FFFFFF"/>
                </a:solidFill>
                <a:latin typeface="Trebuchet MS"/>
              </a:defRPr>
            </a:pPr>
            <a:r>
              <a:t>The Problem: Data Fragmentation &amp; Risk Uncertainty</a:t>
            </a:r>
          </a:p>
        </p:txBody>
      </p:sp>
      <p:sp>
        <p:nvSpPr>
          <p:cNvPr id="4" name="Rectangle 3"/>
          <p:cNvSpPr/>
          <p:nvPr/>
        </p:nvSpPr>
        <p:spPr>
          <a:xfrm>
            <a:off x="685800" y="1280160"/>
            <a:ext cx="10817352" cy="18288"/>
          </a:xfrm>
          <a:prstGeom prst="rect">
            <a:avLst/>
          </a:prstGeom>
          <a:solidFill>
            <a:srgbClr val="1E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3364992" cy="41148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3364992" cy="4114800"/>
          </a:xfrm>
          <a:prstGeom prst="rect">
            <a:avLst/>
          </a:prstGeom>
          <a:noFill/>
        </p:spPr>
        <p:txBody>
          <a:bodyPr wrap="square" lIns="228600" rIns="228600" tIns="228600">
            <a:spAutoFit/>
          </a:bodyPr>
          <a:lstStyle/>
          <a:p>
            <a:pPr>
              <a:defRPr sz="2800" b="1">
                <a:solidFill>
                  <a:srgbClr val="00E5FF"/>
                </a:solidFill>
                <a:latin typeface="Trebuchet MS"/>
              </a:defRPr>
            </a:pPr>
            <a:r>
              <a:t>01</a:t>
            </a:r>
          </a:p>
          <a:p>
            <a:pPr>
              <a:spcBef>
                <a:spcPts val="1000"/>
              </a:spcBef>
              <a:spcAft>
                <a:spcPts val="1200"/>
              </a:spcAft>
              <a:defRPr sz="1300" b="1">
                <a:solidFill>
                  <a:srgbClr val="FFFFFF"/>
                </a:solidFill>
                <a:latin typeface="Trebuchet MS"/>
              </a:defRPr>
            </a:pPr>
            <a:r>
              <a:t>DATA FRAGMENTATION</a:t>
            </a:r>
          </a:p>
          <a:p>
            <a:pPr>
              <a:lnSpc>
                <a:spcPct val="125000"/>
              </a:lnSpc>
              <a:defRPr sz="1050">
                <a:solidFill>
                  <a:srgbClr val="B0BEC5"/>
                </a:solidFill>
                <a:latin typeface="Segoe UI"/>
              </a:defRPr>
            </a:pPr>
            <a:r>
              <a:t>Financial advisors manage data spread across scattered daily NAV files, raw client buy/sell transactions, and benchmark indices. The lack of a single unified data source limits rapid performance reporting.</a:t>
            </a:r>
          </a:p>
        </p:txBody>
      </p:sp>
      <p:sp>
        <p:nvSpPr>
          <p:cNvPr id="7" name="Rectangle 6"/>
          <p:cNvSpPr/>
          <p:nvPr/>
        </p:nvSpPr>
        <p:spPr>
          <a:xfrm>
            <a:off x="4407408" y="1645920"/>
            <a:ext cx="3364992" cy="41148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7408" y="1645920"/>
            <a:ext cx="3364992" cy="4114800"/>
          </a:xfrm>
          <a:prstGeom prst="rect">
            <a:avLst/>
          </a:prstGeom>
          <a:noFill/>
        </p:spPr>
        <p:txBody>
          <a:bodyPr wrap="square" lIns="228600" rIns="228600" tIns="228600">
            <a:spAutoFit/>
          </a:bodyPr>
          <a:lstStyle/>
          <a:p>
            <a:pPr>
              <a:defRPr sz="2800" b="1">
                <a:solidFill>
                  <a:srgbClr val="00E5FF"/>
                </a:solidFill>
                <a:latin typeface="Trebuchet MS"/>
              </a:defRPr>
            </a:pPr>
            <a:r>
              <a:t>02</a:t>
            </a:r>
          </a:p>
          <a:p>
            <a:pPr>
              <a:spcBef>
                <a:spcPts val="1000"/>
              </a:spcBef>
              <a:spcAft>
                <a:spcPts val="1200"/>
              </a:spcAft>
              <a:defRPr sz="1300" b="1">
                <a:solidFill>
                  <a:srgbClr val="FFFFFF"/>
                </a:solidFill>
                <a:latin typeface="Trebuchet MS"/>
              </a:defRPr>
            </a:pPr>
            <a:r>
              <a:t>REPORTING &amp; ANALYTICAL LAGS</a:t>
            </a:r>
          </a:p>
          <a:p>
            <a:pPr>
              <a:lnSpc>
                <a:spcPct val="125000"/>
              </a:lnSpc>
              <a:defRPr sz="1050">
                <a:solidFill>
                  <a:srgbClr val="B0BEC5"/>
                </a:solidFill>
                <a:latin typeface="Segoe UI"/>
              </a:defRPr>
            </a:pPr>
            <a:r>
              <a:t>Standard quarterly reports fail to calculate risk metrics in real-time. Manually evaluating portfolio drawdowns or calculating alpha/beta figures takes hours and delays critical rebalancing advice.</a:t>
            </a:r>
          </a:p>
        </p:txBody>
      </p:sp>
      <p:sp>
        <p:nvSpPr>
          <p:cNvPr id="9" name="Rectangle 8"/>
          <p:cNvSpPr/>
          <p:nvPr/>
        </p:nvSpPr>
        <p:spPr>
          <a:xfrm>
            <a:off x="8129016" y="1645920"/>
            <a:ext cx="3364992" cy="41148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9016" y="1645920"/>
            <a:ext cx="3364992" cy="4114800"/>
          </a:xfrm>
          <a:prstGeom prst="rect">
            <a:avLst/>
          </a:prstGeom>
          <a:noFill/>
        </p:spPr>
        <p:txBody>
          <a:bodyPr wrap="square" lIns="228600" rIns="228600" tIns="228600">
            <a:spAutoFit/>
          </a:bodyPr>
          <a:lstStyle/>
          <a:p>
            <a:pPr>
              <a:defRPr sz="2800" b="1">
                <a:solidFill>
                  <a:srgbClr val="00E5FF"/>
                </a:solidFill>
                <a:latin typeface="Trebuchet MS"/>
              </a:defRPr>
            </a:pPr>
            <a:r>
              <a:t>03</a:t>
            </a:r>
          </a:p>
          <a:p>
            <a:pPr>
              <a:spcBef>
                <a:spcPts val="1000"/>
              </a:spcBef>
              <a:spcAft>
                <a:spcPts val="1200"/>
              </a:spcAft>
              <a:defRPr sz="1300" b="1">
                <a:solidFill>
                  <a:srgbClr val="FFFFFF"/>
                </a:solidFill>
                <a:latin typeface="Trebuchet MS"/>
              </a:defRPr>
            </a:pPr>
            <a:r>
              <a:t>UNMANAGED SECTOR TAIL RISK</a:t>
            </a:r>
          </a:p>
          <a:p>
            <a:pPr>
              <a:lnSpc>
                <a:spcPct val="125000"/>
              </a:lnSpc>
              <a:defRPr sz="1050">
                <a:solidFill>
                  <a:srgbClr val="B0BEC5"/>
                </a:solidFill>
                <a:latin typeface="Segoe UI"/>
              </a:defRPr>
            </a:pPr>
            <a:r>
              <a:t>Advisors recommend sectoral or specialty funds (e.g. technology funds) based on recent returns without quantifying underlying concentration (HHI) or daily expected tail losses (VaR/CVaR) during market drawdowns.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900" b="1">
                <a:solidFill>
                  <a:srgbClr val="00E5FF"/>
                </a:solidFill>
                <a:latin typeface="Trebuchet MS"/>
              </a:defRPr>
            </a:pPr>
            <a:r>
              <a:t>BLUESTOCK MUTUAL FUND ANALYTICS</a:t>
            </a:r>
          </a:p>
        </p:txBody>
      </p:sp>
      <p:sp>
        <p:nvSpPr>
          <p:cNvPr id="3" name="TextBox 2"/>
          <p:cNvSpPr txBox="1"/>
          <p:nvPr/>
        </p:nvSpPr>
        <p:spPr>
          <a:xfrm>
            <a:off x="685800" y="594360"/>
            <a:ext cx="10817352" cy="731520"/>
          </a:xfrm>
          <a:prstGeom prst="rect">
            <a:avLst/>
          </a:prstGeom>
          <a:noFill/>
        </p:spPr>
        <p:txBody>
          <a:bodyPr wrap="square">
            <a:spAutoFit/>
          </a:bodyPr>
          <a:lstStyle/>
          <a:p>
            <a:pPr>
              <a:defRPr sz="2800" b="1">
                <a:solidFill>
                  <a:srgbClr val="FFFFFF"/>
                </a:solidFill>
                <a:latin typeface="Trebuchet MS"/>
              </a:defRPr>
            </a:pPr>
            <a:r>
              <a:t>Unified Integration: The Ingested Platform Inputs</a:t>
            </a:r>
          </a:p>
        </p:txBody>
      </p:sp>
      <p:sp>
        <p:nvSpPr>
          <p:cNvPr id="4" name="Rectangle 3"/>
          <p:cNvSpPr/>
          <p:nvPr/>
        </p:nvSpPr>
        <p:spPr>
          <a:xfrm>
            <a:off x="685800" y="1280160"/>
            <a:ext cx="10817352" cy="18288"/>
          </a:xfrm>
          <a:prstGeom prst="rect">
            <a:avLst/>
          </a:prstGeom>
          <a:solidFill>
            <a:srgbClr val="1E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2468880" cy="41148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2468880" cy="4114800"/>
          </a:xfrm>
          <a:prstGeom prst="rect">
            <a:avLst/>
          </a:prstGeom>
          <a:noFill/>
        </p:spPr>
        <p:txBody>
          <a:bodyPr wrap="square" lIns="182880" rIns="182880" tIns="228600">
            <a:spAutoFit/>
          </a:bodyPr>
          <a:lstStyle/>
          <a:p>
            <a:pPr>
              <a:defRPr sz="1200" b="1">
                <a:solidFill>
                  <a:srgbClr val="00E5FF"/>
                </a:solidFill>
                <a:latin typeface="Trebuchet MS"/>
              </a:defRPr>
            </a:pPr>
            <a:r>
              <a:t>NAV HISTORY</a:t>
            </a:r>
          </a:p>
          <a:p>
            <a:pPr>
              <a:spcBef>
                <a:spcPts val="800"/>
              </a:spcBef>
              <a:spcAft>
                <a:spcPts val="1200"/>
              </a:spcAft>
              <a:defRPr sz="1400" b="1">
                <a:solidFill>
                  <a:srgbClr val="FFFFFF"/>
                </a:solidFill>
                <a:latin typeface="Segoe UI"/>
              </a:defRPr>
            </a:pPr>
            <a:r>
              <a:t>7,798 Clean Rows</a:t>
            </a:r>
          </a:p>
          <a:p>
            <a:pPr>
              <a:lnSpc>
                <a:spcPct val="120000"/>
              </a:lnSpc>
              <a:defRPr sz="950">
                <a:solidFill>
                  <a:srgbClr val="B0BEC5"/>
                </a:solidFill>
                <a:latin typeface="Segoe UI"/>
              </a:defRPr>
            </a:pPr>
            <a:r>
              <a:t>Ingested daily Net Asset Value history spanning a 3-year period (2022-2024) across 10 mutual funds. Establishes the core pricing baseline for return calculations.</a:t>
            </a:r>
          </a:p>
        </p:txBody>
      </p:sp>
      <p:sp>
        <p:nvSpPr>
          <p:cNvPr id="7" name="Rectangle 6"/>
          <p:cNvSpPr/>
          <p:nvPr/>
        </p:nvSpPr>
        <p:spPr>
          <a:xfrm>
            <a:off x="3429000" y="1645920"/>
            <a:ext cx="2468880" cy="41148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1645920"/>
            <a:ext cx="2468880" cy="4114800"/>
          </a:xfrm>
          <a:prstGeom prst="rect">
            <a:avLst/>
          </a:prstGeom>
          <a:noFill/>
        </p:spPr>
        <p:txBody>
          <a:bodyPr wrap="square" lIns="182880" rIns="182880" tIns="228600">
            <a:spAutoFit/>
          </a:bodyPr>
          <a:lstStyle/>
          <a:p>
            <a:pPr>
              <a:defRPr sz="1200" b="1">
                <a:solidFill>
                  <a:srgbClr val="00E5FF"/>
                </a:solidFill>
                <a:latin typeface="Trebuchet MS"/>
              </a:defRPr>
            </a:pPr>
            <a:r>
              <a:t>RETAIL TRANSACTIONS</a:t>
            </a:r>
          </a:p>
          <a:p>
            <a:pPr>
              <a:spcBef>
                <a:spcPts val="800"/>
              </a:spcBef>
              <a:spcAft>
                <a:spcPts val="1200"/>
              </a:spcAft>
              <a:defRPr sz="1400" b="1">
                <a:solidFill>
                  <a:srgbClr val="FFFFFF"/>
                </a:solidFill>
                <a:latin typeface="Segoe UI"/>
              </a:defRPr>
            </a:pPr>
            <a:r>
              <a:t>1,985 Ledger Records</a:t>
            </a:r>
          </a:p>
          <a:p>
            <a:pPr>
              <a:lnSpc>
                <a:spcPct val="120000"/>
              </a:lnSpc>
              <a:defRPr sz="950">
                <a:solidFill>
                  <a:srgbClr val="B0BEC5"/>
                </a:solidFill>
                <a:latin typeface="Segoe UI"/>
              </a:defRPr>
            </a:pPr>
            <a:r>
              <a:t>Granular client transactions covering 200 distinct investor profiles. Contains buy/sell classifications, amounts, and units for cohort analysis.</a:t>
            </a:r>
          </a:p>
        </p:txBody>
      </p:sp>
      <p:sp>
        <p:nvSpPr>
          <p:cNvPr id="9" name="Rectangle 8"/>
          <p:cNvSpPr/>
          <p:nvPr/>
        </p:nvSpPr>
        <p:spPr>
          <a:xfrm>
            <a:off x="6172200" y="1645920"/>
            <a:ext cx="2468880" cy="41148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2200" y="1645920"/>
            <a:ext cx="2468880" cy="4114800"/>
          </a:xfrm>
          <a:prstGeom prst="rect">
            <a:avLst/>
          </a:prstGeom>
          <a:noFill/>
        </p:spPr>
        <p:txBody>
          <a:bodyPr wrap="square" lIns="182880" rIns="182880" tIns="228600">
            <a:spAutoFit/>
          </a:bodyPr>
          <a:lstStyle/>
          <a:p>
            <a:pPr>
              <a:defRPr sz="1200" b="1">
                <a:solidFill>
                  <a:srgbClr val="00E676"/>
                </a:solidFill>
                <a:latin typeface="Trebuchet MS"/>
              </a:defRPr>
            </a:pPr>
            <a:r>
              <a:t>MARKET BENCHMARKS</a:t>
            </a:r>
          </a:p>
          <a:p>
            <a:pPr>
              <a:spcBef>
                <a:spcPts val="800"/>
              </a:spcBef>
              <a:spcAft>
                <a:spcPts val="1200"/>
              </a:spcAft>
              <a:defRPr sz="1400" b="1">
                <a:solidFill>
                  <a:srgbClr val="FFFFFF"/>
                </a:solidFill>
                <a:latin typeface="Segoe UI"/>
              </a:defRPr>
            </a:pPr>
            <a:r>
              <a:t>Daily Index Feeds</a:t>
            </a:r>
          </a:p>
          <a:p>
            <a:pPr>
              <a:lnSpc>
                <a:spcPct val="120000"/>
              </a:lnSpc>
              <a:defRPr sz="950">
                <a:solidFill>
                  <a:srgbClr val="B0BEC5"/>
                </a:solidFill>
                <a:latin typeface="Segoe UI"/>
              </a:defRPr>
            </a:pPr>
            <a:r>
              <a:t>Fetched daily close pricing for Nifty 50 and Nifty 100 via the yfinance API to serve as market indices and risk baselines.</a:t>
            </a:r>
          </a:p>
        </p:txBody>
      </p:sp>
      <p:sp>
        <p:nvSpPr>
          <p:cNvPr id="11" name="Rectangle 10"/>
          <p:cNvSpPr/>
          <p:nvPr/>
        </p:nvSpPr>
        <p:spPr>
          <a:xfrm>
            <a:off x="8915400" y="1645920"/>
            <a:ext cx="2468880" cy="41148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15400" y="1645920"/>
            <a:ext cx="2468880" cy="4114800"/>
          </a:xfrm>
          <a:prstGeom prst="rect">
            <a:avLst/>
          </a:prstGeom>
          <a:noFill/>
        </p:spPr>
        <p:txBody>
          <a:bodyPr wrap="square" lIns="182880" rIns="182880" tIns="228600">
            <a:spAutoFit/>
          </a:bodyPr>
          <a:lstStyle/>
          <a:p>
            <a:pPr>
              <a:defRPr sz="1200" b="1">
                <a:solidFill>
                  <a:srgbClr val="00E676"/>
                </a:solidFill>
                <a:latin typeface="Trebuchet MS"/>
              </a:defRPr>
            </a:pPr>
            <a:r>
              <a:t>PORTFOLIO HOLDINGS</a:t>
            </a:r>
          </a:p>
          <a:p>
            <a:pPr>
              <a:spcBef>
                <a:spcPts val="800"/>
              </a:spcBef>
              <a:spcAft>
                <a:spcPts val="1200"/>
              </a:spcAft>
              <a:defRPr sz="1400" b="1">
                <a:solidFill>
                  <a:srgbClr val="FFFFFF"/>
                </a:solidFill>
                <a:latin typeface="Segoe UI"/>
              </a:defRPr>
            </a:pPr>
            <a:r>
              <a:t>Stock-Level Weights</a:t>
            </a:r>
          </a:p>
          <a:p>
            <a:pPr>
              <a:lnSpc>
                <a:spcPct val="120000"/>
              </a:lnSpc>
              <a:defRPr sz="950">
                <a:solidFill>
                  <a:srgbClr val="B0BEC5"/>
                </a:solidFill>
                <a:latin typeface="Segoe UI"/>
              </a:defRPr>
            </a:pPr>
            <a:r>
              <a:t>Holdings allocations mapped across schemes to evaluate sector weights. Drives our Herfindahl-Hirschman Index (HHI) concentration calculations.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900" b="1">
                <a:solidFill>
                  <a:srgbClr val="00E5FF"/>
                </a:solidFill>
                <a:latin typeface="Trebuchet MS"/>
              </a:defRPr>
            </a:pPr>
            <a:r>
              <a:t>BLUESTOCK MUTUAL FUND ANALYTICS</a:t>
            </a:r>
          </a:p>
        </p:txBody>
      </p:sp>
      <p:sp>
        <p:nvSpPr>
          <p:cNvPr id="3" name="TextBox 2"/>
          <p:cNvSpPr txBox="1"/>
          <p:nvPr/>
        </p:nvSpPr>
        <p:spPr>
          <a:xfrm>
            <a:off x="685800" y="594360"/>
            <a:ext cx="10817352" cy="731520"/>
          </a:xfrm>
          <a:prstGeom prst="rect">
            <a:avLst/>
          </a:prstGeom>
          <a:noFill/>
        </p:spPr>
        <p:txBody>
          <a:bodyPr wrap="square">
            <a:spAutoFit/>
          </a:bodyPr>
          <a:lstStyle/>
          <a:p>
            <a:pPr>
              <a:defRPr sz="2800" b="1">
                <a:solidFill>
                  <a:srgbClr val="FFFFFF"/>
                </a:solidFill>
                <a:latin typeface="Trebuchet MS"/>
              </a:defRPr>
            </a:pPr>
            <a:r>
              <a:t>ETL Pipeline &amp; SQLite STAR Schema Database Design</a:t>
            </a:r>
          </a:p>
        </p:txBody>
      </p:sp>
      <p:sp>
        <p:nvSpPr>
          <p:cNvPr id="4" name="Rectangle 3"/>
          <p:cNvSpPr/>
          <p:nvPr/>
        </p:nvSpPr>
        <p:spPr>
          <a:xfrm>
            <a:off x="685800" y="1280160"/>
            <a:ext cx="10817352" cy="18288"/>
          </a:xfrm>
          <a:prstGeom prst="rect">
            <a:avLst/>
          </a:prstGeom>
          <a:solidFill>
            <a:srgbClr val="1E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5212080" cy="41148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a:lstStyle/>
          <a:p>
            <a:pPr algn="ctr">
              <a:defRPr sz="1600" b="1">
                <a:solidFill>
                  <a:srgbClr val="00E5FF"/>
                </a:solidFill>
                <a:latin typeface="Trebuchet MS"/>
              </a:defRPr>
            </a:pPr>
            <a:r>
              <a:t>Ingestion Pipeline &amp; Operations</a:t>
            </a:r>
          </a:p>
          <a:p>
            <a:pPr>
              <a:lnSpc>
                <a:spcPct val="120000"/>
              </a:lnSpc>
              <a:spcBef>
                <a:spcPts val="1200"/>
              </a:spcBef>
              <a:defRPr sz="1100">
                <a:solidFill>
                  <a:srgbClr val="B0BEC5"/>
                </a:solidFill>
                <a:latin typeface="Segoe UI"/>
              </a:defRPr>
            </a:pPr>
            <a:r>
              <a:t>1. Schema Ingestion Check: Standardizes CSV headers and forces correct naming configurations.</a:t>
            </a:r>
          </a:p>
          <a:p>
            <a:pPr>
              <a:lnSpc>
                <a:spcPct val="120000"/>
              </a:lnSpc>
              <a:spcBef>
                <a:spcPts val="1200"/>
              </a:spcBef>
              <a:defRPr sz="1100">
                <a:solidFill>
                  <a:srgbClr val="B0BEC5"/>
                </a:solidFill>
                <a:latin typeface="Segoe UI"/>
              </a:defRPr>
            </a:pPr>
            <a:r>
              <a:t>2. Duplicate and Null Pruning: Purges identical ledger lines and imputes missing intermediate NAV entries.</a:t>
            </a:r>
          </a:p>
          <a:p>
            <a:pPr>
              <a:lnSpc>
                <a:spcPct val="120000"/>
              </a:lnSpc>
              <a:spcBef>
                <a:spcPts val="1200"/>
              </a:spcBef>
              <a:defRPr sz="1100">
                <a:solidFill>
                  <a:srgbClr val="B0BEC5"/>
                </a:solidFill>
                <a:latin typeface="Segoe UI"/>
              </a:defRPr>
            </a:pPr>
            <a:r>
              <a:t>3. SQL Loading Engine: Establishes a transaction and loads the dimension and fact tables into SQLite.</a:t>
            </a:r>
          </a:p>
        </p:txBody>
      </p:sp>
      <p:sp>
        <p:nvSpPr>
          <p:cNvPr id="6" name="Rectangle 5"/>
          <p:cNvSpPr/>
          <p:nvPr/>
        </p:nvSpPr>
        <p:spPr>
          <a:xfrm>
            <a:off x="6291072" y="1645920"/>
            <a:ext cx="5212080" cy="41148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a:lstStyle/>
          <a:p>
            <a:pPr algn="ctr">
              <a:defRPr sz="1600" b="1">
                <a:solidFill>
                  <a:srgbClr val="00E676"/>
                </a:solidFill>
                <a:latin typeface="Trebuchet MS"/>
              </a:defRPr>
            </a:pPr>
            <a:r>
              <a:t>Relational Star Schema Design</a:t>
            </a:r>
          </a:p>
          <a:p>
            <a:pPr>
              <a:lnSpc>
                <a:spcPct val="120000"/>
              </a:lnSpc>
              <a:spcBef>
                <a:spcPts val="1000"/>
              </a:spcBef>
              <a:defRPr sz="1050">
                <a:solidFill>
                  <a:srgbClr val="B0BEC5"/>
                </a:solidFill>
                <a:latin typeface="Segoe UI"/>
              </a:defRPr>
            </a:pPr>
            <a:r>
              <a:t>• Dimension Tables: dim_scheme (fund attributes), dim_amc (asset manager masters), dim_investor (client demographics &amp; risk profiles), dim_date (unified time dimension).</a:t>
            </a:r>
          </a:p>
          <a:p>
            <a:pPr>
              <a:lnSpc>
                <a:spcPct val="120000"/>
              </a:lnSpc>
              <a:spcBef>
                <a:spcPts val="1000"/>
              </a:spcBef>
              <a:defRPr sz="1050">
                <a:solidFill>
                  <a:srgbClr val="B0BEC5"/>
                </a:solidFill>
                <a:latin typeface="Segoe UI"/>
              </a:defRPr>
            </a:pPr>
            <a:r>
              <a:t>• Central Fact Tables: fact_nav_history (pricing records), fact_investor_transactions (retail transaction ledger), fact_scheme_performance (returns summaries).</a:t>
            </a:r>
          </a:p>
          <a:p>
            <a:pPr>
              <a:lnSpc>
                <a:spcPct val="120000"/>
              </a:lnSpc>
              <a:spcBef>
                <a:spcPts val="1000"/>
              </a:spcBef>
              <a:defRPr sz="1050">
                <a:solidFill>
                  <a:srgbClr val="B0BEC5"/>
                </a:solidFill>
                <a:latin typeface="Segoe UI"/>
              </a:defRPr>
            </a:pPr>
            <a:r>
              <a:t>• Database Integrity: Primary key constraints, cascading foreign keys, and index keys on (date, scheme_code) to optimize analytical queries.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900" b="1">
                <a:solidFill>
                  <a:srgbClr val="00E5FF"/>
                </a:solidFill>
                <a:latin typeface="Trebuchet MS"/>
              </a:defRPr>
            </a:pPr>
            <a:r>
              <a:t>BLUESTOCK MUTUAL FUND ANALYTICS</a:t>
            </a:r>
          </a:p>
        </p:txBody>
      </p:sp>
      <p:sp>
        <p:nvSpPr>
          <p:cNvPr id="3" name="TextBox 2"/>
          <p:cNvSpPr txBox="1"/>
          <p:nvPr/>
        </p:nvSpPr>
        <p:spPr>
          <a:xfrm>
            <a:off x="685800" y="594360"/>
            <a:ext cx="10817352" cy="731520"/>
          </a:xfrm>
          <a:prstGeom prst="rect">
            <a:avLst/>
          </a:prstGeom>
          <a:noFill/>
        </p:spPr>
        <p:txBody>
          <a:bodyPr wrap="square">
            <a:spAutoFit/>
          </a:bodyPr>
          <a:lstStyle/>
          <a:p>
            <a:pPr>
              <a:defRPr sz="2800" b="1">
                <a:solidFill>
                  <a:srgbClr val="FFFFFF"/>
                </a:solidFill>
                <a:latin typeface="Trebuchet MS"/>
              </a:defRPr>
            </a:pPr>
            <a:r>
              <a:t>Engineering Fallbacks: Handling Production Anomalies</a:t>
            </a:r>
          </a:p>
        </p:txBody>
      </p:sp>
      <p:sp>
        <p:nvSpPr>
          <p:cNvPr id="4" name="Rectangle 3"/>
          <p:cNvSpPr/>
          <p:nvPr/>
        </p:nvSpPr>
        <p:spPr>
          <a:xfrm>
            <a:off x="685800" y="1280160"/>
            <a:ext cx="10817352" cy="18288"/>
          </a:xfrm>
          <a:prstGeom prst="rect">
            <a:avLst/>
          </a:prstGeom>
          <a:solidFill>
            <a:srgbClr val="1E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10817352" cy="11430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817352" cy="1143000"/>
          </a:xfrm>
          <a:prstGeom prst="rect">
            <a:avLst/>
          </a:prstGeom>
          <a:noFill/>
        </p:spPr>
        <p:txBody>
          <a:bodyPr wrap="square" lIns="274320" rIns="274320" tIns="137160">
            <a:spAutoFit/>
          </a:bodyPr>
          <a:lstStyle/>
          <a:p>
            <a:pPr>
              <a:defRPr sz="1300" b="1">
                <a:solidFill>
                  <a:srgbClr val="00E5FF"/>
                </a:solidFill>
                <a:latin typeface="Trebuchet MS"/>
              </a:defRPr>
            </a:pPr>
            <a:r>
              <a:t>Plotly Image Export Fallback</a:t>
            </a:r>
          </a:p>
          <a:p>
            <a:pPr>
              <a:lnSpc>
                <a:spcPct val="115000"/>
              </a:lnSpc>
              <a:spcBef>
                <a:spcPts val="400"/>
              </a:spcBef>
              <a:defRPr sz="1050">
                <a:solidFill>
                  <a:srgbClr val="B0BEC5"/>
                </a:solidFill>
                <a:latin typeface="Segoe UI"/>
              </a:defRPr>
            </a:pPr>
            <a:r>
              <a:t>Headless tasks on Windows often freeze when running Plotly's static image exporter (Kaleido). We implemented a Matplotlib/Seaborn rendering fallback that automatically translates Plotly trace definitions and exports high-fidelity PNGs if Kaleido hangs.</a:t>
            </a:r>
          </a:p>
        </p:txBody>
      </p:sp>
      <p:sp>
        <p:nvSpPr>
          <p:cNvPr id="7" name="Rectangle 6"/>
          <p:cNvSpPr/>
          <p:nvPr/>
        </p:nvSpPr>
        <p:spPr>
          <a:xfrm>
            <a:off x="685800" y="3017520"/>
            <a:ext cx="10817352" cy="11430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17520"/>
            <a:ext cx="10817352" cy="1143000"/>
          </a:xfrm>
          <a:prstGeom prst="rect">
            <a:avLst/>
          </a:prstGeom>
          <a:noFill/>
        </p:spPr>
        <p:txBody>
          <a:bodyPr wrap="square" lIns="274320" rIns="274320" tIns="137160">
            <a:spAutoFit/>
          </a:bodyPr>
          <a:lstStyle/>
          <a:p>
            <a:pPr>
              <a:defRPr sz="1300" b="1">
                <a:solidFill>
                  <a:srgbClr val="00E676"/>
                </a:solidFill>
                <a:latin typeface="Trebuchet MS"/>
              </a:defRPr>
            </a:pPr>
            <a:r>
              <a:t>yfinance MultiIndex Flattening</a:t>
            </a:r>
          </a:p>
          <a:p>
            <a:pPr>
              <a:lnSpc>
                <a:spcPct val="115000"/>
              </a:lnSpc>
              <a:spcBef>
                <a:spcPts val="400"/>
              </a:spcBef>
              <a:defRPr sz="1050">
                <a:solidFill>
                  <a:srgbClr val="B0BEC5"/>
                </a:solidFill>
                <a:latin typeface="Segoe UI"/>
              </a:defRPr>
            </a:pPr>
            <a:r>
              <a:t>Downloading market indices via the Yahoo Finance API returns MultiIndexed columns on single tickers. The ingestion script programmatically flattens these column headers to prevent column shifting during dataframe serialization.</a:t>
            </a:r>
          </a:p>
        </p:txBody>
      </p:sp>
      <p:sp>
        <p:nvSpPr>
          <p:cNvPr id="9" name="Rectangle 8"/>
          <p:cNvSpPr/>
          <p:nvPr/>
        </p:nvSpPr>
        <p:spPr>
          <a:xfrm>
            <a:off x="685800" y="4389120"/>
            <a:ext cx="10817352" cy="11430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389120"/>
            <a:ext cx="10817352" cy="1143000"/>
          </a:xfrm>
          <a:prstGeom prst="rect">
            <a:avLst/>
          </a:prstGeom>
          <a:noFill/>
        </p:spPr>
        <p:txBody>
          <a:bodyPr wrap="square" lIns="274320" rIns="274320" tIns="137160">
            <a:spAutoFit/>
          </a:bodyPr>
          <a:lstStyle/>
          <a:p>
            <a:pPr>
              <a:defRPr sz="1300" b="1">
                <a:solidFill>
                  <a:srgbClr val="00E5FF"/>
                </a:solidFill>
                <a:latin typeface="Trebuchet MS"/>
              </a:defRPr>
            </a:pPr>
            <a:r>
              <a:t>Invalid Transaction Dates</a:t>
            </a:r>
          </a:p>
          <a:p>
            <a:pPr>
              <a:lnSpc>
                <a:spcPct val="115000"/>
              </a:lnSpc>
              <a:spcBef>
                <a:spcPts val="400"/>
              </a:spcBef>
              <a:defRPr sz="1050">
                <a:solidFill>
                  <a:srgbClr val="B0BEC5"/>
                </a:solidFill>
                <a:latin typeface="Segoe UI"/>
              </a:defRPr>
            </a:pPr>
            <a:r>
              <a:t>The raw transactional sheet contained anomalous text inputs (e.g. 'INVALID' string entries). The cleaning pipeline resolves this by parsing date fields with errors coerced, and purging NaT rows to preserve integrity.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900" b="1">
                <a:solidFill>
                  <a:srgbClr val="00E5FF"/>
                </a:solidFill>
                <a:latin typeface="Trebuchet MS"/>
              </a:defRPr>
            </a:pPr>
            <a:r>
              <a:t>BLUESTOCK MUTUAL FUND ANALYTICS</a:t>
            </a:r>
          </a:p>
        </p:txBody>
      </p:sp>
      <p:sp>
        <p:nvSpPr>
          <p:cNvPr id="3" name="TextBox 2"/>
          <p:cNvSpPr txBox="1"/>
          <p:nvPr/>
        </p:nvSpPr>
        <p:spPr>
          <a:xfrm>
            <a:off x="685800" y="594360"/>
            <a:ext cx="10817352" cy="731520"/>
          </a:xfrm>
          <a:prstGeom prst="rect">
            <a:avLst/>
          </a:prstGeom>
          <a:noFill/>
        </p:spPr>
        <p:txBody>
          <a:bodyPr wrap="square">
            <a:spAutoFit/>
          </a:bodyPr>
          <a:lstStyle/>
          <a:p>
            <a:pPr>
              <a:defRPr sz="2800" b="1">
                <a:solidFill>
                  <a:srgbClr val="FFFFFF"/>
                </a:solidFill>
                <a:latin typeface="Trebuchet MS"/>
              </a:defRPr>
            </a:pPr>
            <a:r>
              <a:t>Exploratory Data Analysis: Key Statistical Insights</a:t>
            </a:r>
          </a:p>
        </p:txBody>
      </p:sp>
      <p:sp>
        <p:nvSpPr>
          <p:cNvPr id="4" name="Rectangle 3"/>
          <p:cNvSpPr/>
          <p:nvPr/>
        </p:nvSpPr>
        <p:spPr>
          <a:xfrm>
            <a:off x="685800" y="1280160"/>
            <a:ext cx="10817352" cy="18288"/>
          </a:xfrm>
          <a:prstGeom prst="rect">
            <a:avLst/>
          </a:prstGeom>
          <a:solidFill>
            <a:srgbClr val="1E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10817352" cy="192024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817352" cy="1920240"/>
          </a:xfrm>
          <a:prstGeom prst="rect">
            <a:avLst/>
          </a:prstGeom>
          <a:noFill/>
        </p:spPr>
        <p:txBody>
          <a:bodyPr wrap="square" lIns="274320" rIns="274320" tIns="182880">
            <a:spAutoFit/>
          </a:bodyPr>
          <a:lstStyle/>
          <a:p>
            <a:pPr>
              <a:defRPr sz="1500" b="1">
                <a:solidFill>
                  <a:srgbClr val="00E5FF"/>
                </a:solidFill>
                <a:latin typeface="Trebuchet MS"/>
              </a:defRPr>
            </a:pPr>
            <a:r>
              <a:t>Scheme Co-movement &amp; Diversification</a:t>
            </a:r>
          </a:p>
          <a:p>
            <a:pPr>
              <a:lnSpc>
                <a:spcPct val="125000"/>
              </a:lnSpc>
              <a:spcBef>
                <a:spcPts val="800"/>
              </a:spcBef>
              <a:defRPr sz="1100">
                <a:solidFill>
                  <a:srgbClr val="B0BEC5"/>
                </a:solidFill>
                <a:latin typeface="Segoe UI"/>
              </a:defRPr>
            </a:pPr>
            <a:r>
              <a:t>Computing the Pearson correlation matrix on daily returns reveals a highly integrated large-cap segment. All core large-cap funds display return correlations above 0.85. In contrast, the ICICI Prudential Technology Fund exhibits a daily correlation of only 0.42 to the core index. This highlights its significant diversification benefit, serving as a shock-absorber during standard large-cap pullbacks.</a:t>
            </a:r>
          </a:p>
        </p:txBody>
      </p:sp>
      <p:sp>
        <p:nvSpPr>
          <p:cNvPr id="7" name="Rectangle 6"/>
          <p:cNvSpPr/>
          <p:nvPr/>
        </p:nvSpPr>
        <p:spPr>
          <a:xfrm>
            <a:off x="685800" y="3840480"/>
            <a:ext cx="10817352" cy="192024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840480"/>
            <a:ext cx="10817352" cy="1920240"/>
          </a:xfrm>
          <a:prstGeom prst="rect">
            <a:avLst/>
          </a:prstGeom>
          <a:noFill/>
        </p:spPr>
        <p:txBody>
          <a:bodyPr wrap="square" lIns="274320" rIns="274320" tIns="182880">
            <a:spAutoFit/>
          </a:bodyPr>
          <a:lstStyle/>
          <a:p>
            <a:pPr>
              <a:defRPr sz="1500" b="1">
                <a:solidFill>
                  <a:srgbClr val="00E676"/>
                </a:solidFill>
                <a:latin typeface="Trebuchet MS"/>
              </a:defRPr>
            </a:pPr>
            <a:r>
              <a:t>Expense Ratio Drag (OLS Regression)</a:t>
            </a:r>
          </a:p>
          <a:p>
            <a:pPr>
              <a:lnSpc>
                <a:spcPct val="125000"/>
              </a:lnSpc>
              <a:spcBef>
                <a:spcPts val="800"/>
              </a:spcBef>
              <a:defRPr sz="1100">
                <a:solidFill>
                  <a:srgbClr val="B0BEC5"/>
                </a:solidFill>
                <a:latin typeface="Segoe UI"/>
              </a:defRPr>
            </a:pPr>
            <a:r>
              <a:t>We ran an Ordinary Least Squares (OLS) regression mapping return drag as a function of annual fund fees. The model confirms that expense ratios act as a systemic drag on performance. Active schemes with expense structures exceeding 1.10% (e.g. SBI Small Cap) consistently erode net compounding returns compared to cost-efficient peers with similar portfolios.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900" b="1">
                <a:solidFill>
                  <a:srgbClr val="00E5FF"/>
                </a:solidFill>
                <a:latin typeface="Trebuchet MS"/>
              </a:defRPr>
            </a:pPr>
            <a:r>
              <a:t>BLUESTOCK MUTUAL FUND ANALYTICS</a:t>
            </a:r>
          </a:p>
        </p:txBody>
      </p:sp>
      <p:sp>
        <p:nvSpPr>
          <p:cNvPr id="3" name="TextBox 2"/>
          <p:cNvSpPr txBox="1"/>
          <p:nvPr/>
        </p:nvSpPr>
        <p:spPr>
          <a:xfrm>
            <a:off x="685800" y="594360"/>
            <a:ext cx="10817352" cy="731520"/>
          </a:xfrm>
          <a:prstGeom prst="rect">
            <a:avLst/>
          </a:prstGeom>
          <a:noFill/>
        </p:spPr>
        <p:txBody>
          <a:bodyPr wrap="square">
            <a:spAutoFit/>
          </a:bodyPr>
          <a:lstStyle/>
          <a:p>
            <a:pPr>
              <a:defRPr sz="2800" b="1">
                <a:solidFill>
                  <a:srgbClr val="FFFFFF"/>
                </a:solidFill>
                <a:latin typeface="Trebuchet MS"/>
              </a:defRPr>
            </a:pPr>
            <a:r>
              <a:t>The Performance Scorecard Leaderboard (Day 4)</a:t>
            </a:r>
          </a:p>
        </p:txBody>
      </p:sp>
      <p:sp>
        <p:nvSpPr>
          <p:cNvPr id="4" name="Rectangle 3"/>
          <p:cNvSpPr/>
          <p:nvPr/>
        </p:nvSpPr>
        <p:spPr>
          <a:xfrm>
            <a:off x="685800" y="1280160"/>
            <a:ext cx="10817352" cy="18288"/>
          </a:xfrm>
          <a:prstGeom prst="rect">
            <a:avLst/>
          </a:prstGeom>
          <a:solidFill>
            <a:srgbClr val="1E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3474720" cy="4114800"/>
          </a:xfrm>
          <a:prstGeom prst="rect">
            <a:avLst/>
          </a:prstGeom>
          <a:noFill/>
        </p:spPr>
        <p:txBody>
          <a:bodyPr wrap="square" lIns="0">
            <a:spAutoFit/>
          </a:bodyPr>
          <a:lstStyle/>
          <a:p>
            <a:pPr>
              <a:defRPr sz="1600" b="1">
                <a:solidFill>
                  <a:srgbClr val="00E5FF"/>
                </a:solidFill>
                <a:latin typeface="Trebuchet MS"/>
              </a:defRPr>
            </a:pPr>
            <a:r>
              <a:t>Multi-Factor Scoring</a:t>
            </a:r>
          </a:p>
          <a:p>
            <a:pPr>
              <a:lnSpc>
                <a:spcPct val="120000"/>
              </a:lnSpc>
              <a:spcBef>
                <a:spcPts val="800"/>
              </a:spcBef>
              <a:defRPr sz="1000">
                <a:solidFill>
                  <a:srgbClr val="B0BEC5"/>
                </a:solidFill>
                <a:latin typeface="Segoe UI"/>
              </a:defRPr>
            </a:pPr>
            <a:r>
              <a:t>We scored the 10 mutual funds based on a weighted rank model:</a:t>
            </a:r>
            <a:br/>
            <a:br/>
            <a:r>
              <a:t>• 30% 3-Year CAGR Rank</a:t>
            </a:r>
            <a:br/>
            <a:r>
              <a:t>• 25% Sharpe Ratio Rank</a:t>
            </a:r>
            <a:br/>
            <a:r>
              <a:t>• 20% CAPM Alpha Rank</a:t>
            </a:r>
            <a:br/>
            <a:r>
              <a:t>• 15% Expense Ratio Rank (Inverse)</a:t>
            </a:r>
            <a:br/>
            <a:r>
              <a:t>• 10% Max Drawdown Rank (Inverse)</a:t>
            </a:r>
            <a:br/>
            <a:br/>
            <a:r>
              <a:t>DSP Top 100 ranks #1 due to high annualized active Alpha (28.88%) and a Sharpe of 1.22.</a:t>
            </a:r>
            <a:br/>
            <a:br/>
            <a:r>
              <a:t>Mirae Asset Large Cap ranks #2 due to strong drawdown control (-17.47%).</a:t>
            </a:r>
          </a:p>
        </p:txBody>
      </p:sp>
      <p:graphicFrame>
        <p:nvGraphicFramePr>
          <p:cNvPr id="6" name="Table 5"/>
          <p:cNvGraphicFramePr>
            <a:graphicFrameLocks noGrp="1"/>
          </p:cNvGraphicFramePr>
          <p:nvPr/>
        </p:nvGraphicFramePr>
        <p:xfrm>
          <a:off x="4389120" y="1645920"/>
          <a:ext cx="7022591" cy="4114800"/>
        </p:xfrm>
        <a:graphic>
          <a:graphicData uri="http://schemas.openxmlformats.org/drawingml/2006/table">
            <a:tbl>
              <a:tblPr firstRow="1" bandRow="1">
                <a:tableStyleId>{5C22544A-7EE6-4342-B048-85BDC9FD1C3A}</a:tableStyleId>
              </a:tblPr>
              <a:tblGrid>
                <a:gridCol w="594360"/>
                <a:gridCol w="2084831"/>
                <a:gridCol w="914400"/>
                <a:gridCol w="822960"/>
                <a:gridCol w="822960"/>
                <a:gridCol w="914400"/>
                <a:gridCol w="868680"/>
              </a:tblGrid>
              <a:tr h="587828">
                <a:tc>
                  <a:txBody>
                    <a:bodyPr/>
                    <a:lstStyle/>
                    <a:p>
                      <a:pPr algn="ctr">
                        <a:defRPr sz="950" b="1">
                          <a:solidFill>
                            <a:srgbClr val="FFFFFF"/>
                          </a:solidFill>
                          <a:latin typeface="Trebuchet MS"/>
                        </a:defRPr>
                      </a:pPr>
                      <a:r>
                        <a:t>Rank</a:t>
                      </a:r>
                    </a:p>
                  </a:txBody>
                  <a:tcPr>
                    <a:solidFill>
                      <a:srgbClr val="1E2235"/>
                    </a:solidFill>
                  </a:tcPr>
                </a:tc>
                <a:tc>
                  <a:txBody>
                    <a:bodyPr/>
                    <a:lstStyle/>
                    <a:p>
                      <a:pPr algn="ctr">
                        <a:defRPr sz="950" b="1">
                          <a:solidFill>
                            <a:srgbClr val="FFFFFF"/>
                          </a:solidFill>
                          <a:latin typeface="Trebuchet MS"/>
                        </a:defRPr>
                      </a:pPr>
                      <a:r>
                        <a:t>Scheme Name</a:t>
                      </a:r>
                    </a:p>
                  </a:txBody>
                  <a:tcPr>
                    <a:solidFill>
                      <a:srgbClr val="1E2235"/>
                    </a:solidFill>
                  </a:tcPr>
                </a:tc>
                <a:tc>
                  <a:txBody>
                    <a:bodyPr/>
                    <a:lstStyle/>
                    <a:p>
                      <a:pPr algn="ctr">
                        <a:defRPr sz="950" b="1">
                          <a:solidFill>
                            <a:srgbClr val="FFFFFF"/>
                          </a:solidFill>
                          <a:latin typeface="Trebuchet MS"/>
                        </a:defRPr>
                      </a:pPr>
                      <a:r>
                        <a:t>3Y CAGR</a:t>
                      </a:r>
                    </a:p>
                  </a:txBody>
                  <a:tcPr>
                    <a:solidFill>
                      <a:srgbClr val="1E2235"/>
                    </a:solidFill>
                  </a:tcPr>
                </a:tc>
                <a:tc>
                  <a:txBody>
                    <a:bodyPr/>
                    <a:lstStyle/>
                    <a:p>
                      <a:pPr algn="ctr">
                        <a:defRPr sz="950" b="1">
                          <a:solidFill>
                            <a:srgbClr val="FFFFFF"/>
                          </a:solidFill>
                          <a:latin typeface="Trebuchet MS"/>
                        </a:defRPr>
                      </a:pPr>
                      <a:r>
                        <a:t>Sharpe</a:t>
                      </a:r>
                    </a:p>
                  </a:txBody>
                  <a:tcPr>
                    <a:solidFill>
                      <a:srgbClr val="1E2235"/>
                    </a:solidFill>
                  </a:tcPr>
                </a:tc>
                <a:tc>
                  <a:txBody>
                    <a:bodyPr/>
                    <a:lstStyle/>
                    <a:p>
                      <a:pPr algn="ctr">
                        <a:defRPr sz="950" b="1">
                          <a:solidFill>
                            <a:srgbClr val="FFFFFF"/>
                          </a:solidFill>
                          <a:latin typeface="Trebuchet MS"/>
                        </a:defRPr>
                      </a:pPr>
                      <a:r>
                        <a:t>Alpha</a:t>
                      </a:r>
                    </a:p>
                  </a:txBody>
                  <a:tcPr>
                    <a:solidFill>
                      <a:srgbClr val="1E2235"/>
                    </a:solidFill>
                  </a:tcPr>
                </a:tc>
                <a:tc>
                  <a:txBody>
                    <a:bodyPr/>
                    <a:lstStyle/>
                    <a:p>
                      <a:pPr algn="ctr">
                        <a:defRPr sz="950" b="1">
                          <a:solidFill>
                            <a:srgbClr val="FFFFFF"/>
                          </a:solidFill>
                          <a:latin typeface="Trebuchet MS"/>
                        </a:defRPr>
                      </a:pPr>
                      <a:r>
                        <a:t>Max DD</a:t>
                      </a:r>
                    </a:p>
                  </a:txBody>
                  <a:tcPr>
                    <a:solidFill>
                      <a:srgbClr val="1E2235"/>
                    </a:solidFill>
                  </a:tcPr>
                </a:tc>
                <a:tc>
                  <a:txBody>
                    <a:bodyPr/>
                    <a:lstStyle/>
                    <a:p>
                      <a:pPr algn="ctr">
                        <a:defRPr sz="950" b="1">
                          <a:solidFill>
                            <a:srgbClr val="FFFFFF"/>
                          </a:solidFill>
                          <a:latin typeface="Trebuchet MS"/>
                        </a:defRPr>
                      </a:pPr>
                      <a:r>
                        <a:t>Expense</a:t>
                      </a:r>
                    </a:p>
                  </a:txBody>
                  <a:tcPr>
                    <a:solidFill>
                      <a:srgbClr val="1E2235"/>
                    </a:solidFill>
                  </a:tcPr>
                </a:tc>
              </a:tr>
              <a:tr h="587828">
                <a:tc>
                  <a:txBody>
                    <a:bodyPr/>
                    <a:lstStyle/>
                    <a:p>
                      <a:pPr algn="ctr">
                        <a:defRPr sz="900" b="1">
                          <a:solidFill>
                            <a:srgbClr val="00E5FF"/>
                          </a:solidFill>
                          <a:latin typeface="Segoe UI"/>
                        </a:defRPr>
                      </a:pPr>
                      <a:r>
                        <a:t>#1</a:t>
                      </a:r>
                    </a:p>
                  </a:txBody>
                  <a:tcPr>
                    <a:solidFill>
                      <a:srgbClr val="141826"/>
                    </a:solidFill>
                  </a:tcPr>
                </a:tc>
                <a:tc>
                  <a:txBody>
                    <a:bodyPr/>
                    <a:lstStyle/>
                    <a:p>
                      <a:pPr algn="l">
                        <a:defRPr sz="900">
                          <a:solidFill>
                            <a:srgbClr val="B0BEC5"/>
                          </a:solidFill>
                          <a:latin typeface="Segoe UI"/>
                        </a:defRPr>
                      </a:pPr>
                      <a:r>
                        <a:t>DSP Top 100 Equity</a:t>
                      </a:r>
                    </a:p>
                  </a:txBody>
                  <a:tcPr>
                    <a:solidFill>
                      <a:srgbClr val="141826"/>
                    </a:solidFill>
                  </a:tcPr>
                </a:tc>
                <a:tc>
                  <a:txBody>
                    <a:bodyPr/>
                    <a:lstStyle/>
                    <a:p>
                      <a:pPr algn="ctr">
                        <a:defRPr sz="900">
                          <a:solidFill>
                            <a:srgbClr val="B0BEC5"/>
                          </a:solidFill>
                          <a:latin typeface="Segoe UI"/>
                        </a:defRPr>
                      </a:pPr>
                      <a:r>
                        <a:t>39.8%</a:t>
                      </a:r>
                    </a:p>
                  </a:txBody>
                  <a:tcPr>
                    <a:solidFill>
                      <a:srgbClr val="141826"/>
                    </a:solidFill>
                  </a:tcPr>
                </a:tc>
                <a:tc>
                  <a:txBody>
                    <a:bodyPr/>
                    <a:lstStyle/>
                    <a:p>
                      <a:pPr algn="ctr">
                        <a:defRPr sz="900">
                          <a:solidFill>
                            <a:srgbClr val="B0BEC5"/>
                          </a:solidFill>
                          <a:latin typeface="Segoe UI"/>
                        </a:defRPr>
                      </a:pPr>
                      <a:r>
                        <a:t>1.22</a:t>
                      </a:r>
                    </a:p>
                  </a:txBody>
                  <a:tcPr>
                    <a:solidFill>
                      <a:srgbClr val="141826"/>
                    </a:solidFill>
                  </a:tcPr>
                </a:tc>
                <a:tc>
                  <a:txBody>
                    <a:bodyPr/>
                    <a:lstStyle/>
                    <a:p>
                      <a:pPr algn="ctr">
                        <a:defRPr sz="900">
                          <a:solidFill>
                            <a:srgbClr val="B0BEC5"/>
                          </a:solidFill>
                          <a:latin typeface="Segoe UI"/>
                        </a:defRPr>
                      </a:pPr>
                      <a:r>
                        <a:t>28.9%</a:t>
                      </a:r>
                    </a:p>
                  </a:txBody>
                  <a:tcPr>
                    <a:solidFill>
                      <a:srgbClr val="141826"/>
                    </a:solidFill>
                  </a:tcPr>
                </a:tc>
                <a:tc>
                  <a:txBody>
                    <a:bodyPr/>
                    <a:lstStyle/>
                    <a:p>
                      <a:pPr algn="ctr">
                        <a:defRPr sz="900">
                          <a:solidFill>
                            <a:srgbClr val="B0BEC5"/>
                          </a:solidFill>
                          <a:latin typeface="Segoe UI"/>
                        </a:defRPr>
                      </a:pPr>
                      <a:r>
                        <a:t>-24.7%</a:t>
                      </a:r>
                    </a:p>
                  </a:txBody>
                  <a:tcPr>
                    <a:solidFill>
                      <a:srgbClr val="141826"/>
                    </a:solidFill>
                  </a:tcPr>
                </a:tc>
                <a:tc>
                  <a:txBody>
                    <a:bodyPr/>
                    <a:lstStyle/>
                    <a:p>
                      <a:pPr algn="ctr">
                        <a:defRPr sz="900">
                          <a:solidFill>
                            <a:srgbClr val="B0BEC5"/>
                          </a:solidFill>
                          <a:latin typeface="Segoe UI"/>
                        </a:defRPr>
                      </a:pPr>
                      <a:r>
                        <a:t>59.70%</a:t>
                      </a:r>
                    </a:p>
                  </a:txBody>
                  <a:tcPr>
                    <a:solidFill>
                      <a:srgbClr val="141826"/>
                    </a:solidFill>
                  </a:tcPr>
                </a:tc>
              </a:tr>
              <a:tr h="587828">
                <a:tc>
                  <a:txBody>
                    <a:bodyPr/>
                    <a:lstStyle/>
                    <a:p>
                      <a:pPr algn="ctr">
                        <a:defRPr sz="900" b="1">
                          <a:solidFill>
                            <a:srgbClr val="00E5FF"/>
                          </a:solidFill>
                          <a:latin typeface="Segoe UI"/>
                        </a:defRPr>
                      </a:pPr>
                      <a:r>
                        <a:t>#2</a:t>
                      </a:r>
                    </a:p>
                  </a:txBody>
                  <a:tcPr>
                    <a:solidFill>
                      <a:srgbClr val="0B0E14"/>
                    </a:solidFill>
                  </a:tcPr>
                </a:tc>
                <a:tc>
                  <a:txBody>
                    <a:bodyPr/>
                    <a:lstStyle/>
                    <a:p>
                      <a:pPr algn="l">
                        <a:defRPr sz="900">
                          <a:solidFill>
                            <a:srgbClr val="B0BEC5"/>
                          </a:solidFill>
                          <a:latin typeface="Segoe UI"/>
                        </a:defRPr>
                      </a:pPr>
                      <a:r>
                        <a:t>Mirae Asset Large Cap</a:t>
                      </a:r>
                    </a:p>
                  </a:txBody>
                  <a:tcPr>
                    <a:solidFill>
                      <a:srgbClr val="0B0E14"/>
                    </a:solidFill>
                  </a:tcPr>
                </a:tc>
                <a:tc>
                  <a:txBody>
                    <a:bodyPr/>
                    <a:lstStyle/>
                    <a:p>
                      <a:pPr algn="ctr">
                        <a:defRPr sz="900">
                          <a:solidFill>
                            <a:srgbClr val="B0BEC5"/>
                          </a:solidFill>
                          <a:latin typeface="Segoe UI"/>
                        </a:defRPr>
                      </a:pPr>
                      <a:r>
                        <a:t>33.1%</a:t>
                      </a:r>
                    </a:p>
                  </a:txBody>
                  <a:tcPr>
                    <a:solidFill>
                      <a:srgbClr val="0B0E14"/>
                    </a:solidFill>
                  </a:tcPr>
                </a:tc>
                <a:tc>
                  <a:txBody>
                    <a:bodyPr/>
                    <a:lstStyle/>
                    <a:p>
                      <a:pPr algn="ctr">
                        <a:defRPr sz="900">
                          <a:solidFill>
                            <a:srgbClr val="B0BEC5"/>
                          </a:solidFill>
                          <a:latin typeface="Segoe UI"/>
                        </a:defRPr>
                      </a:pPr>
                      <a:r>
                        <a:t>1.07</a:t>
                      </a:r>
                    </a:p>
                  </a:txBody>
                  <a:tcPr>
                    <a:solidFill>
                      <a:srgbClr val="0B0E14"/>
                    </a:solidFill>
                  </a:tcPr>
                </a:tc>
                <a:tc>
                  <a:txBody>
                    <a:bodyPr/>
                    <a:lstStyle/>
                    <a:p>
                      <a:pPr algn="ctr">
                        <a:defRPr sz="900">
                          <a:solidFill>
                            <a:srgbClr val="B0BEC5"/>
                          </a:solidFill>
                          <a:latin typeface="Segoe UI"/>
                        </a:defRPr>
                      </a:pPr>
                      <a:r>
                        <a:t>23.9%</a:t>
                      </a:r>
                    </a:p>
                  </a:txBody>
                  <a:tcPr>
                    <a:solidFill>
                      <a:srgbClr val="0B0E14"/>
                    </a:solidFill>
                  </a:tcPr>
                </a:tc>
                <a:tc>
                  <a:txBody>
                    <a:bodyPr/>
                    <a:lstStyle/>
                    <a:p>
                      <a:pPr algn="ctr">
                        <a:defRPr sz="900">
                          <a:solidFill>
                            <a:srgbClr val="B0BEC5"/>
                          </a:solidFill>
                          <a:latin typeface="Segoe UI"/>
                        </a:defRPr>
                      </a:pPr>
                      <a:r>
                        <a:t>-17.5%</a:t>
                      </a:r>
                    </a:p>
                  </a:txBody>
                  <a:tcPr>
                    <a:solidFill>
                      <a:srgbClr val="0B0E14"/>
                    </a:solidFill>
                  </a:tcPr>
                </a:tc>
                <a:tc>
                  <a:txBody>
                    <a:bodyPr/>
                    <a:lstStyle/>
                    <a:p>
                      <a:pPr algn="ctr">
                        <a:defRPr sz="900">
                          <a:solidFill>
                            <a:srgbClr val="B0BEC5"/>
                          </a:solidFill>
                          <a:latin typeface="Segoe UI"/>
                        </a:defRPr>
                      </a:pPr>
                      <a:r>
                        <a:t>55.60%</a:t>
                      </a:r>
                    </a:p>
                  </a:txBody>
                  <a:tcPr>
                    <a:solidFill>
                      <a:srgbClr val="0B0E14"/>
                    </a:solidFill>
                  </a:tcPr>
                </a:tc>
              </a:tr>
              <a:tr h="587828">
                <a:tc>
                  <a:txBody>
                    <a:bodyPr/>
                    <a:lstStyle/>
                    <a:p>
                      <a:pPr algn="ctr">
                        <a:defRPr sz="900" b="1">
                          <a:solidFill>
                            <a:srgbClr val="00E5FF"/>
                          </a:solidFill>
                          <a:latin typeface="Segoe UI"/>
                        </a:defRPr>
                      </a:pPr>
                      <a:r>
                        <a:t>#3</a:t>
                      </a:r>
                    </a:p>
                  </a:txBody>
                  <a:tcPr>
                    <a:solidFill>
                      <a:srgbClr val="141826"/>
                    </a:solidFill>
                  </a:tcPr>
                </a:tc>
                <a:tc>
                  <a:txBody>
                    <a:bodyPr/>
                    <a:lstStyle/>
                    <a:p>
                      <a:pPr algn="l">
                        <a:defRPr sz="900">
                          <a:solidFill>
                            <a:srgbClr val="B0BEC5"/>
                          </a:solidFill>
                          <a:latin typeface="Segoe UI"/>
                        </a:defRPr>
                      </a:pPr>
                      <a:r>
                        <a:t>Axis Bluechip</a:t>
                      </a:r>
                    </a:p>
                  </a:txBody>
                  <a:tcPr>
                    <a:solidFill>
                      <a:srgbClr val="141826"/>
                    </a:solidFill>
                  </a:tcPr>
                </a:tc>
                <a:tc>
                  <a:txBody>
                    <a:bodyPr/>
                    <a:lstStyle/>
                    <a:p>
                      <a:pPr algn="ctr">
                        <a:defRPr sz="900">
                          <a:solidFill>
                            <a:srgbClr val="B0BEC5"/>
                          </a:solidFill>
                          <a:latin typeface="Segoe UI"/>
                        </a:defRPr>
                      </a:pPr>
                      <a:r>
                        <a:t>29.9%</a:t>
                      </a:r>
                    </a:p>
                  </a:txBody>
                  <a:tcPr>
                    <a:solidFill>
                      <a:srgbClr val="141826"/>
                    </a:solidFill>
                  </a:tcPr>
                </a:tc>
                <a:tc>
                  <a:txBody>
                    <a:bodyPr/>
                    <a:lstStyle/>
                    <a:p>
                      <a:pPr algn="ctr">
                        <a:defRPr sz="900">
                          <a:solidFill>
                            <a:srgbClr val="B0BEC5"/>
                          </a:solidFill>
                          <a:latin typeface="Segoe UI"/>
                        </a:defRPr>
                      </a:pPr>
                      <a:r>
                        <a:t>0.96</a:t>
                      </a:r>
                    </a:p>
                  </a:txBody>
                  <a:tcPr>
                    <a:solidFill>
                      <a:srgbClr val="141826"/>
                    </a:solidFill>
                  </a:tcPr>
                </a:tc>
                <a:tc>
                  <a:txBody>
                    <a:bodyPr/>
                    <a:lstStyle/>
                    <a:p>
                      <a:pPr algn="ctr">
                        <a:defRPr sz="900">
                          <a:solidFill>
                            <a:srgbClr val="B0BEC5"/>
                          </a:solidFill>
                          <a:latin typeface="Segoe UI"/>
                        </a:defRPr>
                      </a:pPr>
                      <a:r>
                        <a:t>21.2%</a:t>
                      </a:r>
                    </a:p>
                  </a:txBody>
                  <a:tcPr>
                    <a:solidFill>
                      <a:srgbClr val="141826"/>
                    </a:solidFill>
                  </a:tcPr>
                </a:tc>
                <a:tc>
                  <a:txBody>
                    <a:bodyPr/>
                    <a:lstStyle/>
                    <a:p>
                      <a:pPr algn="ctr">
                        <a:defRPr sz="900">
                          <a:solidFill>
                            <a:srgbClr val="B0BEC5"/>
                          </a:solidFill>
                          <a:latin typeface="Segoe UI"/>
                        </a:defRPr>
                      </a:pPr>
                      <a:r>
                        <a:t>-23.8%</a:t>
                      </a:r>
                    </a:p>
                  </a:txBody>
                  <a:tcPr>
                    <a:solidFill>
                      <a:srgbClr val="141826"/>
                    </a:solidFill>
                  </a:tcPr>
                </a:tc>
                <a:tc>
                  <a:txBody>
                    <a:bodyPr/>
                    <a:lstStyle/>
                    <a:p>
                      <a:pPr algn="ctr">
                        <a:defRPr sz="900">
                          <a:solidFill>
                            <a:srgbClr val="B0BEC5"/>
                          </a:solidFill>
                          <a:latin typeface="Segoe UI"/>
                        </a:defRPr>
                      </a:pPr>
                      <a:r>
                        <a:t>72.27%</a:t>
                      </a:r>
                    </a:p>
                  </a:txBody>
                  <a:tcPr>
                    <a:solidFill>
                      <a:srgbClr val="141826"/>
                    </a:solidFill>
                  </a:tcPr>
                </a:tc>
              </a:tr>
              <a:tr h="587828">
                <a:tc>
                  <a:txBody>
                    <a:bodyPr/>
                    <a:lstStyle/>
                    <a:p>
                      <a:pPr algn="ctr">
                        <a:defRPr sz="900" b="1">
                          <a:solidFill>
                            <a:srgbClr val="00E5FF"/>
                          </a:solidFill>
                          <a:latin typeface="Segoe UI"/>
                        </a:defRPr>
                      </a:pPr>
                      <a:r>
                        <a:t>#4</a:t>
                      </a:r>
                    </a:p>
                  </a:txBody>
                  <a:tcPr>
                    <a:solidFill>
                      <a:srgbClr val="0B0E14"/>
                    </a:solidFill>
                  </a:tcPr>
                </a:tc>
                <a:tc>
                  <a:txBody>
                    <a:bodyPr/>
                    <a:lstStyle/>
                    <a:p>
                      <a:pPr algn="l">
                        <a:defRPr sz="900">
                          <a:solidFill>
                            <a:srgbClr val="B0BEC5"/>
                          </a:solidFill>
                          <a:latin typeface="Segoe UI"/>
                        </a:defRPr>
                      </a:pPr>
                      <a:r>
                        <a:t>Canara Robeco Bluechip Equity</a:t>
                      </a:r>
                    </a:p>
                  </a:txBody>
                  <a:tcPr>
                    <a:solidFill>
                      <a:srgbClr val="0B0E14"/>
                    </a:solidFill>
                  </a:tcPr>
                </a:tc>
                <a:tc>
                  <a:txBody>
                    <a:bodyPr/>
                    <a:lstStyle/>
                    <a:p>
                      <a:pPr algn="ctr">
                        <a:defRPr sz="900">
                          <a:solidFill>
                            <a:srgbClr val="B0BEC5"/>
                          </a:solidFill>
                          <a:latin typeface="Segoe UI"/>
                        </a:defRPr>
                      </a:pPr>
                      <a:r>
                        <a:t>4.7%</a:t>
                      </a:r>
                    </a:p>
                  </a:txBody>
                  <a:tcPr>
                    <a:solidFill>
                      <a:srgbClr val="0B0E14"/>
                    </a:solidFill>
                  </a:tcPr>
                </a:tc>
                <a:tc>
                  <a:txBody>
                    <a:bodyPr/>
                    <a:lstStyle/>
                    <a:p>
                      <a:pPr algn="ctr">
                        <a:defRPr sz="900">
                          <a:solidFill>
                            <a:srgbClr val="B0BEC5"/>
                          </a:solidFill>
                          <a:latin typeface="Segoe UI"/>
                        </a:defRPr>
                      </a:pPr>
                      <a:r>
                        <a:t>0.01</a:t>
                      </a:r>
                    </a:p>
                  </a:txBody>
                  <a:tcPr>
                    <a:solidFill>
                      <a:srgbClr val="0B0E14"/>
                    </a:solidFill>
                  </a:tcPr>
                </a:tc>
                <a:tc>
                  <a:txBody>
                    <a:bodyPr/>
                    <a:lstStyle/>
                    <a:p>
                      <a:pPr algn="ctr">
                        <a:defRPr sz="900">
                          <a:solidFill>
                            <a:srgbClr val="B0BEC5"/>
                          </a:solidFill>
                          <a:latin typeface="Segoe UI"/>
                        </a:defRPr>
                      </a:pPr>
                      <a:r>
                        <a:t>0.3%</a:t>
                      </a:r>
                    </a:p>
                  </a:txBody>
                  <a:tcPr>
                    <a:solidFill>
                      <a:srgbClr val="0B0E14"/>
                    </a:solidFill>
                  </a:tcPr>
                </a:tc>
                <a:tc>
                  <a:txBody>
                    <a:bodyPr/>
                    <a:lstStyle/>
                    <a:p>
                      <a:pPr algn="ctr">
                        <a:defRPr sz="900">
                          <a:solidFill>
                            <a:srgbClr val="B0BEC5"/>
                          </a:solidFill>
                          <a:latin typeface="Segoe UI"/>
                        </a:defRPr>
                      </a:pPr>
                      <a:r>
                        <a:t>-24.1%</a:t>
                      </a:r>
                    </a:p>
                  </a:txBody>
                  <a:tcPr>
                    <a:solidFill>
                      <a:srgbClr val="0B0E14"/>
                    </a:solidFill>
                  </a:tcPr>
                </a:tc>
                <a:tc>
                  <a:txBody>
                    <a:bodyPr/>
                    <a:lstStyle/>
                    <a:p>
                      <a:pPr algn="ctr">
                        <a:defRPr sz="900">
                          <a:solidFill>
                            <a:srgbClr val="B0BEC5"/>
                          </a:solidFill>
                          <a:latin typeface="Segoe UI"/>
                        </a:defRPr>
                      </a:pPr>
                      <a:r>
                        <a:t>57.76%</a:t>
                      </a:r>
                    </a:p>
                  </a:txBody>
                  <a:tcPr>
                    <a:solidFill>
                      <a:srgbClr val="0B0E14"/>
                    </a:solidFill>
                  </a:tcPr>
                </a:tc>
              </a:tr>
              <a:tr h="587828">
                <a:tc>
                  <a:txBody>
                    <a:bodyPr/>
                    <a:lstStyle/>
                    <a:p>
                      <a:pPr algn="ctr">
                        <a:defRPr sz="900" b="1">
                          <a:solidFill>
                            <a:srgbClr val="00E5FF"/>
                          </a:solidFill>
                          <a:latin typeface="Segoe UI"/>
                        </a:defRPr>
                      </a:pPr>
                      <a:r>
                        <a:t>#5</a:t>
                      </a:r>
                    </a:p>
                  </a:txBody>
                  <a:tcPr>
                    <a:solidFill>
                      <a:srgbClr val="141826"/>
                    </a:solidFill>
                  </a:tcPr>
                </a:tc>
                <a:tc>
                  <a:txBody>
                    <a:bodyPr/>
                    <a:lstStyle/>
                    <a:p>
                      <a:pPr algn="l">
                        <a:defRPr sz="900">
                          <a:solidFill>
                            <a:srgbClr val="B0BEC5"/>
                          </a:solidFill>
                          <a:latin typeface="Segoe UI"/>
                        </a:defRPr>
                      </a:pPr>
                      <a:r>
                        <a:t>SBI Small Cap</a:t>
                      </a:r>
                    </a:p>
                  </a:txBody>
                  <a:tcPr>
                    <a:solidFill>
                      <a:srgbClr val="141826"/>
                    </a:solidFill>
                  </a:tcPr>
                </a:tc>
                <a:tc>
                  <a:txBody>
                    <a:bodyPr/>
                    <a:lstStyle/>
                    <a:p>
                      <a:pPr algn="ctr">
                        <a:defRPr sz="900">
                          <a:solidFill>
                            <a:srgbClr val="B0BEC5"/>
                          </a:solidFill>
                          <a:latin typeface="Segoe UI"/>
                        </a:defRPr>
                      </a:pPr>
                      <a:r>
                        <a:t>14.7%</a:t>
                      </a:r>
                    </a:p>
                  </a:txBody>
                  <a:tcPr>
                    <a:solidFill>
                      <a:srgbClr val="141826"/>
                    </a:solidFill>
                  </a:tcPr>
                </a:tc>
                <a:tc>
                  <a:txBody>
                    <a:bodyPr/>
                    <a:lstStyle/>
                    <a:p>
                      <a:pPr algn="ctr">
                        <a:defRPr sz="900">
                          <a:solidFill>
                            <a:srgbClr val="B0BEC5"/>
                          </a:solidFill>
                          <a:latin typeface="Segoe UI"/>
                        </a:defRPr>
                      </a:pPr>
                      <a:r>
                        <a:t>0.41</a:t>
                      </a:r>
                    </a:p>
                  </a:txBody>
                  <a:tcPr>
                    <a:solidFill>
                      <a:srgbClr val="141826"/>
                    </a:solidFill>
                  </a:tcPr>
                </a:tc>
                <a:tc>
                  <a:txBody>
                    <a:bodyPr/>
                    <a:lstStyle/>
                    <a:p>
                      <a:pPr algn="ctr">
                        <a:defRPr sz="900">
                          <a:solidFill>
                            <a:srgbClr val="B0BEC5"/>
                          </a:solidFill>
                          <a:latin typeface="Segoe UI"/>
                        </a:defRPr>
                      </a:pPr>
                      <a:r>
                        <a:t>9.1%</a:t>
                      </a:r>
                    </a:p>
                  </a:txBody>
                  <a:tcPr>
                    <a:solidFill>
                      <a:srgbClr val="141826"/>
                    </a:solidFill>
                  </a:tcPr>
                </a:tc>
                <a:tc>
                  <a:txBody>
                    <a:bodyPr/>
                    <a:lstStyle/>
                    <a:p>
                      <a:pPr algn="ctr">
                        <a:defRPr sz="900">
                          <a:solidFill>
                            <a:srgbClr val="B0BEC5"/>
                          </a:solidFill>
                          <a:latin typeface="Segoe UI"/>
                        </a:defRPr>
                      </a:pPr>
                      <a:r>
                        <a:t>-32.0%</a:t>
                      </a:r>
                    </a:p>
                  </a:txBody>
                  <a:tcPr>
                    <a:solidFill>
                      <a:srgbClr val="141826"/>
                    </a:solidFill>
                  </a:tcPr>
                </a:tc>
                <a:tc>
                  <a:txBody>
                    <a:bodyPr/>
                    <a:lstStyle/>
                    <a:p>
                      <a:pPr algn="ctr">
                        <a:defRPr sz="900">
                          <a:solidFill>
                            <a:srgbClr val="B0BEC5"/>
                          </a:solidFill>
                          <a:latin typeface="Segoe UI"/>
                        </a:defRPr>
                      </a:pPr>
                      <a:r>
                        <a:t>115.87%</a:t>
                      </a:r>
                    </a:p>
                  </a:txBody>
                  <a:tcPr>
                    <a:solidFill>
                      <a:srgbClr val="141826"/>
                    </a:solidFill>
                  </a:tcPr>
                </a:tc>
              </a:tr>
              <a:tr h="587832">
                <a:tc>
                  <a:txBody>
                    <a:bodyPr/>
                    <a:lstStyle/>
                    <a:p>
                      <a:pPr algn="ctr">
                        <a:defRPr sz="900" b="1">
                          <a:solidFill>
                            <a:srgbClr val="00E5FF"/>
                          </a:solidFill>
                          <a:latin typeface="Segoe UI"/>
                        </a:defRPr>
                      </a:pPr>
                      <a:r>
                        <a:t>#6</a:t>
                      </a:r>
                    </a:p>
                  </a:txBody>
                  <a:tcPr>
                    <a:solidFill>
                      <a:srgbClr val="0B0E14"/>
                    </a:solidFill>
                  </a:tcPr>
                </a:tc>
                <a:tc>
                  <a:txBody>
                    <a:bodyPr/>
                    <a:lstStyle/>
                    <a:p>
                      <a:pPr algn="l">
                        <a:defRPr sz="900">
                          <a:solidFill>
                            <a:srgbClr val="B0BEC5"/>
                          </a:solidFill>
                          <a:latin typeface="Segoe UI"/>
                        </a:defRPr>
                      </a:pPr>
                      <a:r>
                        <a:t>ICICI Prudential Technology</a:t>
                      </a:r>
                    </a:p>
                  </a:txBody>
                  <a:tcPr>
                    <a:solidFill>
                      <a:srgbClr val="0B0E14"/>
                    </a:solidFill>
                  </a:tcPr>
                </a:tc>
                <a:tc>
                  <a:txBody>
                    <a:bodyPr/>
                    <a:lstStyle/>
                    <a:p>
                      <a:pPr algn="ctr">
                        <a:defRPr sz="900">
                          <a:solidFill>
                            <a:srgbClr val="B0BEC5"/>
                          </a:solidFill>
                          <a:latin typeface="Segoe UI"/>
                        </a:defRPr>
                      </a:pPr>
                      <a:r>
                        <a:t>2.1%</a:t>
                      </a:r>
                    </a:p>
                  </a:txBody>
                  <a:tcPr>
                    <a:solidFill>
                      <a:srgbClr val="0B0E14"/>
                    </a:solidFill>
                  </a:tcPr>
                </a:tc>
                <a:tc>
                  <a:txBody>
                    <a:bodyPr/>
                    <a:lstStyle/>
                    <a:p>
                      <a:pPr algn="ctr">
                        <a:defRPr sz="900">
                          <a:solidFill>
                            <a:srgbClr val="B0BEC5"/>
                          </a:solidFill>
                          <a:latin typeface="Segoe UI"/>
                        </a:defRPr>
                      </a:pPr>
                      <a:r>
                        <a:t>-0.09</a:t>
                      </a:r>
                    </a:p>
                  </a:txBody>
                  <a:tcPr>
                    <a:solidFill>
                      <a:srgbClr val="0B0E14"/>
                    </a:solidFill>
                  </a:tcPr>
                </a:tc>
                <a:tc>
                  <a:txBody>
                    <a:bodyPr/>
                    <a:lstStyle/>
                    <a:p>
                      <a:pPr algn="ctr">
                        <a:defRPr sz="900">
                          <a:solidFill>
                            <a:srgbClr val="B0BEC5"/>
                          </a:solidFill>
                          <a:latin typeface="Segoe UI"/>
                        </a:defRPr>
                      </a:pPr>
                      <a:r>
                        <a:t>-2.2%</a:t>
                      </a:r>
                    </a:p>
                  </a:txBody>
                  <a:tcPr>
                    <a:solidFill>
                      <a:srgbClr val="0B0E14"/>
                    </a:solidFill>
                  </a:tcPr>
                </a:tc>
                <a:tc>
                  <a:txBody>
                    <a:bodyPr/>
                    <a:lstStyle/>
                    <a:p>
                      <a:pPr algn="ctr">
                        <a:defRPr sz="900">
                          <a:solidFill>
                            <a:srgbClr val="B0BEC5"/>
                          </a:solidFill>
                          <a:latin typeface="Segoe UI"/>
                        </a:defRPr>
                      </a:pPr>
                      <a:r>
                        <a:t>-29.9%</a:t>
                      </a:r>
                    </a:p>
                  </a:txBody>
                  <a:tcPr>
                    <a:solidFill>
                      <a:srgbClr val="0B0E14"/>
                    </a:solidFill>
                  </a:tcPr>
                </a:tc>
                <a:tc>
                  <a:txBody>
                    <a:bodyPr/>
                    <a:lstStyle/>
                    <a:p>
                      <a:pPr algn="ctr">
                        <a:defRPr sz="900">
                          <a:solidFill>
                            <a:srgbClr val="B0BEC5"/>
                          </a:solidFill>
                          <a:latin typeface="Segoe UI"/>
                        </a:defRPr>
                      </a:pPr>
                      <a:r>
                        <a:t>117.74%</a:t>
                      </a:r>
                    </a:p>
                  </a:txBody>
                  <a:tcPr>
                    <a:solidFill>
                      <a:srgbClr val="0B0E14"/>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900" b="1">
                <a:solidFill>
                  <a:srgbClr val="00E5FF"/>
                </a:solidFill>
                <a:latin typeface="Trebuchet MS"/>
              </a:defRPr>
            </a:pPr>
            <a:r>
              <a:t>BLUESTOCK MUTUAL FUND ANALYTICS</a:t>
            </a:r>
          </a:p>
        </p:txBody>
      </p:sp>
      <p:sp>
        <p:nvSpPr>
          <p:cNvPr id="3" name="TextBox 2"/>
          <p:cNvSpPr txBox="1"/>
          <p:nvPr/>
        </p:nvSpPr>
        <p:spPr>
          <a:xfrm>
            <a:off x="685800" y="594360"/>
            <a:ext cx="10817352" cy="731520"/>
          </a:xfrm>
          <a:prstGeom prst="rect">
            <a:avLst/>
          </a:prstGeom>
          <a:noFill/>
        </p:spPr>
        <p:txBody>
          <a:bodyPr wrap="square">
            <a:spAutoFit/>
          </a:bodyPr>
          <a:lstStyle/>
          <a:p>
            <a:pPr>
              <a:defRPr sz="2800" b="1">
                <a:solidFill>
                  <a:srgbClr val="FFFFFF"/>
                </a:solidFill>
                <a:latin typeface="Trebuchet MS"/>
              </a:defRPr>
            </a:pPr>
            <a:r>
              <a:t>Portfolio Concentration &amp; Sector HHI Analysis (Day 6)</a:t>
            </a:r>
          </a:p>
        </p:txBody>
      </p:sp>
      <p:sp>
        <p:nvSpPr>
          <p:cNvPr id="4" name="Rectangle 3"/>
          <p:cNvSpPr/>
          <p:nvPr/>
        </p:nvSpPr>
        <p:spPr>
          <a:xfrm>
            <a:off x="685800" y="1280160"/>
            <a:ext cx="10817352" cy="18288"/>
          </a:xfrm>
          <a:prstGeom prst="rect">
            <a:avLst/>
          </a:prstGeom>
          <a:solidFill>
            <a:srgbClr val="1E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4114800" cy="4114800"/>
          </a:xfrm>
          <a:prstGeom prst="rect">
            <a:avLst/>
          </a:prstGeom>
          <a:noFill/>
        </p:spPr>
        <p:txBody>
          <a:bodyPr wrap="square" lIns="0">
            <a:spAutoFit/>
          </a:bodyPr>
          <a:lstStyle/>
          <a:p>
            <a:pPr>
              <a:defRPr sz="1600" b="1">
                <a:solidFill>
                  <a:srgbClr val="00E5FF"/>
                </a:solidFill>
                <a:latin typeface="Trebuchet MS"/>
              </a:defRPr>
            </a:pPr>
            <a:r>
              <a:t>Herfindahl-Hirschman Index</a:t>
            </a:r>
          </a:p>
          <a:p>
            <a:pPr>
              <a:lnSpc>
                <a:spcPct val="120000"/>
              </a:lnSpc>
              <a:spcBef>
                <a:spcPts val="800"/>
              </a:spcBef>
              <a:defRPr sz="1050">
                <a:solidFill>
                  <a:srgbClr val="B0BEC5"/>
                </a:solidFill>
                <a:latin typeface="Segoe UI"/>
              </a:defRPr>
            </a:pPr>
            <a:r>
              <a:t>We calculated sector-level concentrations for each scheme using holdings data:</a:t>
            </a:r>
            <a:br/>
            <a:br/>
            <a:r>
              <a:t>• High Concentration (HHI &gt; 2,500):</a:t>
            </a:r>
            <a:br/>
            <a:r>
              <a:t>ICICI Prudential Technology Fund (HHI = 7,288.0) is highly concentrated due to its 85% tech sector allocation.</a:t>
            </a:r>
            <a:br/>
            <a:br/>
            <a:r>
              <a:t>• Moderate Concentration (HHI 1,500 - 2,500):</a:t>
            </a:r>
            <a:br/>
            <a:r>
              <a:t>Diversified Large Cap and Flexi Cap schemes maintain moderate concentrations (~1,827.16) spread across financial services, energy, tech, consumer goods, and healthcare.</a:t>
            </a:r>
            <a:br/>
            <a:br/>
            <a:r>
              <a:t>• Low Concentration (HHI &lt; 1,500):</a:t>
            </a:r>
            <a:br/>
            <a:r>
              <a:t>HDFC Mid-Cap Opportunities shows high sector-level diversification (HHI = 1,327.42).</a:t>
            </a:r>
          </a:p>
        </p:txBody>
      </p:sp>
      <p:sp>
        <p:nvSpPr>
          <p:cNvPr id="6" name="Rectangle 5"/>
          <p:cNvSpPr/>
          <p:nvPr/>
        </p:nvSpPr>
        <p:spPr>
          <a:xfrm>
            <a:off x="5303520" y="1645920"/>
            <a:ext cx="6199632" cy="86868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0" y="1645920"/>
            <a:ext cx="4114800" cy="868680"/>
          </a:xfrm>
          <a:prstGeom prst="rect">
            <a:avLst/>
          </a:prstGeom>
          <a:noFill/>
        </p:spPr>
        <p:txBody>
          <a:bodyPr wrap="square" lIns="182880" tIns="137160">
            <a:spAutoFit/>
          </a:bodyPr>
          <a:lstStyle/>
          <a:p>
            <a:pPr>
              <a:defRPr sz="1300" b="1">
                <a:solidFill>
                  <a:srgbClr val="FFFFFF"/>
                </a:solidFill>
                <a:latin typeface="Segoe UI"/>
              </a:defRPr>
            </a:pPr>
            <a:r>
              <a:t>ICICI Pru Technology</a:t>
            </a:r>
          </a:p>
          <a:p>
            <a:pPr>
              <a:spcBef>
                <a:spcPts val="200"/>
              </a:spcBef>
              <a:defRPr sz="850" b="1">
                <a:solidFill>
                  <a:srgbClr val="EF5350"/>
                </a:solidFill>
                <a:latin typeface="Segoe UI"/>
              </a:defRPr>
            </a:pPr>
            <a:r>
              <a:t>HIGH CONCENTRATION</a:t>
            </a:r>
          </a:p>
        </p:txBody>
      </p:sp>
      <p:sp>
        <p:nvSpPr>
          <p:cNvPr id="8" name="TextBox 7"/>
          <p:cNvSpPr txBox="1"/>
          <p:nvPr/>
        </p:nvSpPr>
        <p:spPr>
          <a:xfrm>
            <a:off x="9418320" y="1645920"/>
            <a:ext cx="2084831" cy="868680"/>
          </a:xfrm>
          <a:prstGeom prst="rect">
            <a:avLst/>
          </a:prstGeom>
          <a:noFill/>
        </p:spPr>
        <p:txBody>
          <a:bodyPr wrap="square" rIns="228600" tIns="109728">
            <a:spAutoFit/>
          </a:bodyPr>
          <a:lstStyle/>
          <a:p>
            <a:pPr algn="r">
              <a:defRPr sz="2200" b="1">
                <a:solidFill>
                  <a:srgbClr val="00E5FF"/>
                </a:solidFill>
                <a:latin typeface="Trebuchet MS"/>
              </a:defRPr>
            </a:pPr>
            <a:r>
              <a:t>7,288.00</a:t>
            </a:r>
          </a:p>
        </p:txBody>
      </p:sp>
      <p:sp>
        <p:nvSpPr>
          <p:cNvPr id="9" name="Rectangle 8"/>
          <p:cNvSpPr/>
          <p:nvPr/>
        </p:nvSpPr>
        <p:spPr>
          <a:xfrm>
            <a:off x="5303520" y="2679192"/>
            <a:ext cx="6199632" cy="86868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2679192"/>
            <a:ext cx="4114800" cy="868680"/>
          </a:xfrm>
          <a:prstGeom prst="rect">
            <a:avLst/>
          </a:prstGeom>
          <a:noFill/>
        </p:spPr>
        <p:txBody>
          <a:bodyPr wrap="square" lIns="182880" tIns="137160">
            <a:spAutoFit/>
          </a:bodyPr>
          <a:lstStyle/>
          <a:p>
            <a:pPr>
              <a:defRPr sz="1300" b="1">
                <a:solidFill>
                  <a:srgbClr val="FFFFFF"/>
                </a:solidFill>
                <a:latin typeface="Segoe UI"/>
              </a:defRPr>
            </a:pPr>
            <a:r>
              <a:t>Mirae Asset Large Cap</a:t>
            </a:r>
          </a:p>
          <a:p>
            <a:pPr>
              <a:spcBef>
                <a:spcPts val="200"/>
              </a:spcBef>
              <a:defRPr sz="850" b="1">
                <a:solidFill>
                  <a:srgbClr val="00E676"/>
                </a:solidFill>
                <a:latin typeface="Segoe UI"/>
              </a:defRPr>
            </a:pPr>
            <a:r>
              <a:t>MODERATE CONCENTRATION</a:t>
            </a:r>
          </a:p>
        </p:txBody>
      </p:sp>
      <p:sp>
        <p:nvSpPr>
          <p:cNvPr id="11" name="TextBox 10"/>
          <p:cNvSpPr txBox="1"/>
          <p:nvPr/>
        </p:nvSpPr>
        <p:spPr>
          <a:xfrm>
            <a:off x="9418320" y="2679192"/>
            <a:ext cx="2084831" cy="868680"/>
          </a:xfrm>
          <a:prstGeom prst="rect">
            <a:avLst/>
          </a:prstGeom>
          <a:noFill/>
        </p:spPr>
        <p:txBody>
          <a:bodyPr wrap="square" rIns="228600" tIns="109728">
            <a:spAutoFit/>
          </a:bodyPr>
          <a:lstStyle/>
          <a:p>
            <a:pPr algn="r">
              <a:defRPr sz="2200" b="1">
                <a:solidFill>
                  <a:srgbClr val="00E676"/>
                </a:solidFill>
                <a:latin typeface="Trebuchet MS"/>
              </a:defRPr>
            </a:pPr>
            <a:r>
              <a:t>1,827.16</a:t>
            </a:r>
          </a:p>
        </p:txBody>
      </p:sp>
      <p:sp>
        <p:nvSpPr>
          <p:cNvPr id="12" name="Rectangle 11"/>
          <p:cNvSpPr/>
          <p:nvPr/>
        </p:nvSpPr>
        <p:spPr>
          <a:xfrm>
            <a:off x="5303520" y="3712464"/>
            <a:ext cx="6199632" cy="86868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0" y="3712464"/>
            <a:ext cx="4114800" cy="868680"/>
          </a:xfrm>
          <a:prstGeom prst="rect">
            <a:avLst/>
          </a:prstGeom>
          <a:noFill/>
        </p:spPr>
        <p:txBody>
          <a:bodyPr wrap="square" lIns="182880" tIns="137160">
            <a:spAutoFit/>
          </a:bodyPr>
          <a:lstStyle/>
          <a:p>
            <a:pPr>
              <a:defRPr sz="1300" b="1">
                <a:solidFill>
                  <a:srgbClr val="FFFFFF"/>
                </a:solidFill>
                <a:latin typeface="Segoe UI"/>
              </a:defRPr>
            </a:pPr>
            <a:r>
              <a:t>DSP Top 100 Equity</a:t>
            </a:r>
          </a:p>
          <a:p>
            <a:pPr>
              <a:spcBef>
                <a:spcPts val="200"/>
              </a:spcBef>
              <a:defRPr sz="850" b="1">
                <a:solidFill>
                  <a:srgbClr val="00E676"/>
                </a:solidFill>
                <a:latin typeface="Segoe UI"/>
              </a:defRPr>
            </a:pPr>
            <a:r>
              <a:t>MODERATE CONCENTRATION</a:t>
            </a:r>
          </a:p>
        </p:txBody>
      </p:sp>
      <p:sp>
        <p:nvSpPr>
          <p:cNvPr id="14" name="TextBox 13"/>
          <p:cNvSpPr txBox="1"/>
          <p:nvPr/>
        </p:nvSpPr>
        <p:spPr>
          <a:xfrm>
            <a:off x="9418320" y="3712464"/>
            <a:ext cx="2084831" cy="868680"/>
          </a:xfrm>
          <a:prstGeom prst="rect">
            <a:avLst/>
          </a:prstGeom>
          <a:noFill/>
        </p:spPr>
        <p:txBody>
          <a:bodyPr wrap="square" rIns="228600" tIns="109728">
            <a:spAutoFit/>
          </a:bodyPr>
          <a:lstStyle/>
          <a:p>
            <a:pPr algn="r">
              <a:defRPr sz="2200" b="1">
                <a:solidFill>
                  <a:srgbClr val="00E676"/>
                </a:solidFill>
                <a:latin typeface="Trebuchet MS"/>
              </a:defRPr>
            </a:pPr>
            <a:r>
              <a:t>1,827.16</a:t>
            </a:r>
          </a:p>
        </p:txBody>
      </p:sp>
      <p:sp>
        <p:nvSpPr>
          <p:cNvPr id="15" name="Rectangle 14"/>
          <p:cNvSpPr/>
          <p:nvPr/>
        </p:nvSpPr>
        <p:spPr>
          <a:xfrm>
            <a:off x="5303520" y="4745736"/>
            <a:ext cx="6199632" cy="86868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745736"/>
            <a:ext cx="4114800" cy="868680"/>
          </a:xfrm>
          <a:prstGeom prst="rect">
            <a:avLst/>
          </a:prstGeom>
          <a:noFill/>
        </p:spPr>
        <p:txBody>
          <a:bodyPr wrap="square" lIns="182880" tIns="137160">
            <a:spAutoFit/>
          </a:bodyPr>
          <a:lstStyle/>
          <a:p>
            <a:pPr>
              <a:defRPr sz="1300" b="1">
                <a:solidFill>
                  <a:srgbClr val="FFFFFF"/>
                </a:solidFill>
                <a:latin typeface="Segoe UI"/>
              </a:defRPr>
            </a:pPr>
            <a:r>
              <a:t>HDFC Mid-Cap Opp</a:t>
            </a:r>
          </a:p>
          <a:p>
            <a:pPr>
              <a:spcBef>
                <a:spcPts val="200"/>
              </a:spcBef>
              <a:defRPr sz="850" b="1">
                <a:solidFill>
                  <a:srgbClr val="00E676"/>
                </a:solidFill>
                <a:latin typeface="Segoe UI"/>
              </a:defRPr>
            </a:pPr>
            <a:r>
              <a:t>LOW CONCENTRATION</a:t>
            </a:r>
          </a:p>
        </p:txBody>
      </p:sp>
      <p:sp>
        <p:nvSpPr>
          <p:cNvPr id="17" name="TextBox 16"/>
          <p:cNvSpPr txBox="1"/>
          <p:nvPr/>
        </p:nvSpPr>
        <p:spPr>
          <a:xfrm>
            <a:off x="9418320" y="4745736"/>
            <a:ext cx="2084831" cy="868680"/>
          </a:xfrm>
          <a:prstGeom prst="rect">
            <a:avLst/>
          </a:prstGeom>
          <a:noFill/>
        </p:spPr>
        <p:txBody>
          <a:bodyPr wrap="square" rIns="228600" tIns="109728">
            <a:spAutoFit/>
          </a:bodyPr>
          <a:lstStyle/>
          <a:p>
            <a:pPr algn="r">
              <a:defRPr sz="2200" b="1">
                <a:solidFill>
                  <a:srgbClr val="FFFFFF"/>
                </a:solidFill>
                <a:latin typeface="Trebuchet MS"/>
              </a:defRPr>
            </a:pPr>
            <a:r>
              <a:t>1,327.42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900" b="1">
                <a:solidFill>
                  <a:srgbClr val="00E5FF"/>
                </a:solidFill>
                <a:latin typeface="Trebuchet MS"/>
              </a:defRPr>
            </a:pPr>
            <a:r>
              <a:t>BLUESTOCK MUTUAL FUND ANALYTICS</a:t>
            </a:r>
          </a:p>
        </p:txBody>
      </p:sp>
      <p:sp>
        <p:nvSpPr>
          <p:cNvPr id="3" name="TextBox 2"/>
          <p:cNvSpPr txBox="1"/>
          <p:nvPr/>
        </p:nvSpPr>
        <p:spPr>
          <a:xfrm>
            <a:off x="685800" y="594360"/>
            <a:ext cx="10817352" cy="731520"/>
          </a:xfrm>
          <a:prstGeom prst="rect">
            <a:avLst/>
          </a:prstGeom>
          <a:noFill/>
        </p:spPr>
        <p:txBody>
          <a:bodyPr wrap="square">
            <a:spAutoFit/>
          </a:bodyPr>
          <a:lstStyle/>
          <a:p>
            <a:pPr>
              <a:defRPr sz="2800" b="1">
                <a:solidFill>
                  <a:srgbClr val="FFFFFF"/>
                </a:solidFill>
                <a:latin typeface="Trebuchet MS"/>
              </a:defRPr>
            </a:pPr>
            <a:r>
              <a:t>Downside Tail Risk: Daily Historical VaR &amp; CVaR</a:t>
            </a:r>
          </a:p>
        </p:txBody>
      </p:sp>
      <p:sp>
        <p:nvSpPr>
          <p:cNvPr id="4" name="Rectangle 3"/>
          <p:cNvSpPr/>
          <p:nvPr/>
        </p:nvSpPr>
        <p:spPr>
          <a:xfrm>
            <a:off x="685800" y="1280160"/>
            <a:ext cx="10817352" cy="18288"/>
          </a:xfrm>
          <a:prstGeom prst="rect">
            <a:avLst/>
          </a:prstGeom>
          <a:solidFill>
            <a:srgbClr val="1E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4114800" cy="4114800"/>
          </a:xfrm>
          <a:prstGeom prst="rect">
            <a:avLst/>
          </a:prstGeom>
          <a:noFill/>
        </p:spPr>
        <p:txBody>
          <a:bodyPr wrap="square" lIns="0">
            <a:spAutoFit/>
          </a:bodyPr>
          <a:lstStyle/>
          <a:p>
            <a:pPr>
              <a:defRPr sz="1600" b="1">
                <a:solidFill>
                  <a:srgbClr val="00E5FF"/>
                </a:solidFill>
                <a:latin typeface="Trebuchet MS"/>
              </a:defRPr>
            </a:pPr>
            <a:r>
              <a:t>Risk Expected Shortfall</a:t>
            </a:r>
          </a:p>
          <a:p>
            <a:pPr>
              <a:lnSpc>
                <a:spcPct val="125000"/>
              </a:lnSpc>
              <a:spcBef>
                <a:spcPts val="800"/>
              </a:spcBef>
              <a:defRPr sz="1050">
                <a:solidFill>
                  <a:srgbClr val="B0BEC5"/>
                </a:solidFill>
                <a:latin typeface="Segoe UI"/>
              </a:defRPr>
            </a:pPr>
            <a:r>
              <a:t>We evaluated extreme tail risk using daily returns:</a:t>
            </a:r>
            <a:br/>
            <a:br/>
            <a:r>
              <a:t>• Value at Risk (95% VaR):</a:t>
            </a:r>
            <a:br/>
            <a:r>
              <a:t>The minimum threshold loss expected on any single trading day with 95% confidence.</a:t>
            </a:r>
            <a:br/>
            <a:br/>
            <a:r>
              <a:t>• Conditional VaR (95% CVaR):</a:t>
            </a:r>
            <a:br/>
            <a:r>
              <a:t>The average expected loss during the worst 5% of trading days. Also known as Expected Shortfall.</a:t>
            </a:r>
            <a:br/>
            <a:br/>
            <a:r>
              <a:t>Sector concentration directly amplifies tail risk. The tech sectoral fund displays significantly higher daily losses than diversified large-cap peers.</a:t>
            </a:r>
          </a:p>
        </p:txBody>
      </p:sp>
      <p:graphicFrame>
        <p:nvGraphicFramePr>
          <p:cNvPr id="6" name="Table 5"/>
          <p:cNvGraphicFramePr>
            <a:graphicFrameLocks noGrp="1"/>
          </p:cNvGraphicFramePr>
          <p:nvPr/>
        </p:nvGraphicFramePr>
        <p:xfrm>
          <a:off x="5303520" y="1645920"/>
          <a:ext cx="6199632" cy="4114800"/>
        </p:xfrm>
        <a:graphic>
          <a:graphicData uri="http://schemas.openxmlformats.org/drawingml/2006/table">
            <a:tbl>
              <a:tblPr firstRow="1" bandRow="1">
                <a:tableStyleId>{5C22544A-7EE6-4342-B048-85BDC9FD1C3A}</a:tableStyleId>
              </a:tblPr>
              <a:tblGrid>
                <a:gridCol w="2907792"/>
                <a:gridCol w="1645920"/>
                <a:gridCol w="1645920"/>
              </a:tblGrid>
              <a:tr h="685800">
                <a:tc>
                  <a:txBody>
                    <a:bodyPr/>
                    <a:lstStyle/>
                    <a:p>
                      <a:pPr algn="ctr">
                        <a:defRPr sz="1050" b="1">
                          <a:solidFill>
                            <a:srgbClr val="FFFFFF"/>
                          </a:solidFill>
                          <a:latin typeface="Trebuchet MS"/>
                        </a:defRPr>
                      </a:pPr>
                      <a:r>
                        <a:t>Scheme Name</a:t>
                      </a:r>
                    </a:p>
                  </a:txBody>
                  <a:tcPr>
                    <a:solidFill>
                      <a:srgbClr val="1E2235"/>
                    </a:solidFill>
                  </a:tcPr>
                </a:tc>
                <a:tc>
                  <a:txBody>
                    <a:bodyPr/>
                    <a:lstStyle/>
                    <a:p>
                      <a:pPr algn="ctr">
                        <a:defRPr sz="1050" b="1">
                          <a:solidFill>
                            <a:srgbClr val="FFFFFF"/>
                          </a:solidFill>
                          <a:latin typeface="Trebuchet MS"/>
                        </a:defRPr>
                      </a:pPr>
                      <a:r>
                        <a:t>Daily VaR (95%)</a:t>
                      </a:r>
                    </a:p>
                  </a:txBody>
                  <a:tcPr>
                    <a:solidFill>
                      <a:srgbClr val="1E2235"/>
                    </a:solidFill>
                  </a:tcPr>
                </a:tc>
                <a:tc>
                  <a:txBody>
                    <a:bodyPr/>
                    <a:lstStyle/>
                    <a:p>
                      <a:pPr algn="ctr">
                        <a:defRPr sz="1050" b="1">
                          <a:solidFill>
                            <a:srgbClr val="FFFFFF"/>
                          </a:solidFill>
                          <a:latin typeface="Trebuchet MS"/>
                        </a:defRPr>
                      </a:pPr>
                      <a:r>
                        <a:t>Daily CVaR (95%)</a:t>
                      </a:r>
                    </a:p>
                  </a:txBody>
                  <a:tcPr>
                    <a:solidFill>
                      <a:srgbClr val="1E2235"/>
                    </a:solidFill>
                  </a:tcPr>
                </a:tc>
              </a:tr>
              <a:tr h="685800">
                <a:tc>
                  <a:txBody>
                    <a:bodyPr/>
                    <a:lstStyle/>
                    <a:p>
                      <a:pPr algn="l">
                        <a:defRPr b="1" sz="1000">
                          <a:solidFill>
                            <a:srgbClr val="FFFFFF"/>
                          </a:solidFill>
                          <a:latin typeface="Segoe UI"/>
                        </a:defRPr>
                      </a:pPr>
                      <a:r>
                        <a:t>ICICI Pru Technology</a:t>
                      </a:r>
                    </a:p>
                  </a:txBody>
                  <a:tcPr>
                    <a:solidFill>
                      <a:srgbClr val="141826"/>
                    </a:solidFill>
                  </a:tcPr>
                </a:tc>
                <a:tc>
                  <a:txBody>
                    <a:bodyPr/>
                    <a:lstStyle/>
                    <a:p>
                      <a:pPr algn="ctr">
                        <a:defRPr sz="1000">
                          <a:solidFill>
                            <a:srgbClr val="00E5FF"/>
                          </a:solidFill>
                          <a:latin typeface="Segoe UI"/>
                        </a:defRPr>
                      </a:pPr>
                      <a:r>
                        <a:t>2.33%</a:t>
                      </a:r>
                    </a:p>
                  </a:txBody>
                  <a:tcPr>
                    <a:solidFill>
                      <a:srgbClr val="141826"/>
                    </a:solidFill>
                  </a:tcPr>
                </a:tc>
                <a:tc>
                  <a:txBody>
                    <a:bodyPr/>
                    <a:lstStyle/>
                    <a:p>
                      <a:pPr algn="ctr">
                        <a:defRPr sz="1000">
                          <a:solidFill>
                            <a:srgbClr val="EF5350"/>
                          </a:solidFill>
                          <a:latin typeface="Segoe UI"/>
                        </a:defRPr>
                      </a:pPr>
                      <a:r>
                        <a:t>3.01%</a:t>
                      </a:r>
                    </a:p>
                  </a:txBody>
                  <a:tcPr>
                    <a:solidFill>
                      <a:srgbClr val="141826"/>
                    </a:solidFill>
                  </a:tcPr>
                </a:tc>
              </a:tr>
              <a:tr h="685800">
                <a:tc>
                  <a:txBody>
                    <a:bodyPr/>
                    <a:lstStyle/>
                    <a:p>
                      <a:pPr algn="l">
                        <a:defRPr b="1" sz="1000">
                          <a:solidFill>
                            <a:srgbClr val="FFFFFF"/>
                          </a:solidFill>
                          <a:latin typeface="Segoe UI"/>
                        </a:defRPr>
                      </a:pPr>
                      <a:r>
                        <a:t>DSP Top 100 Equity</a:t>
                      </a:r>
                    </a:p>
                  </a:txBody>
                  <a:tcPr>
                    <a:solidFill>
                      <a:srgbClr val="0B0E14"/>
                    </a:solidFill>
                  </a:tcPr>
                </a:tc>
                <a:tc>
                  <a:txBody>
                    <a:bodyPr/>
                    <a:lstStyle/>
                    <a:p>
                      <a:pPr algn="ctr">
                        <a:defRPr sz="1000">
                          <a:solidFill>
                            <a:srgbClr val="00E5FF"/>
                          </a:solidFill>
                          <a:latin typeface="Segoe UI"/>
                        </a:defRPr>
                      </a:pPr>
                      <a:r>
                        <a:t>2.27%</a:t>
                      </a:r>
                    </a:p>
                  </a:txBody>
                  <a:tcPr>
                    <a:solidFill>
                      <a:srgbClr val="0B0E14"/>
                    </a:solidFill>
                  </a:tcPr>
                </a:tc>
                <a:tc>
                  <a:txBody>
                    <a:bodyPr/>
                    <a:lstStyle/>
                    <a:p>
                      <a:pPr algn="ctr">
                        <a:defRPr sz="1000">
                          <a:solidFill>
                            <a:srgbClr val="EF5350"/>
                          </a:solidFill>
                          <a:latin typeface="Segoe UI"/>
                        </a:defRPr>
                      </a:pPr>
                      <a:r>
                        <a:t>2.99%</a:t>
                      </a:r>
                    </a:p>
                  </a:txBody>
                  <a:tcPr>
                    <a:solidFill>
                      <a:srgbClr val="0B0E14"/>
                    </a:solidFill>
                  </a:tcPr>
                </a:tc>
              </a:tr>
              <a:tr h="685800">
                <a:tc>
                  <a:txBody>
                    <a:bodyPr/>
                    <a:lstStyle/>
                    <a:p>
                      <a:pPr algn="l">
                        <a:defRPr b="1" sz="1000">
                          <a:solidFill>
                            <a:srgbClr val="FFFFFF"/>
                          </a:solidFill>
                          <a:latin typeface="Segoe UI"/>
                        </a:defRPr>
                      </a:pPr>
                      <a:r>
                        <a:t>Nippon India Large Cap</a:t>
                      </a:r>
                    </a:p>
                  </a:txBody>
                  <a:tcPr>
                    <a:solidFill>
                      <a:srgbClr val="141826"/>
                    </a:solidFill>
                  </a:tcPr>
                </a:tc>
                <a:tc>
                  <a:txBody>
                    <a:bodyPr/>
                    <a:lstStyle/>
                    <a:p>
                      <a:pPr algn="ctr">
                        <a:defRPr sz="1000">
                          <a:solidFill>
                            <a:srgbClr val="00E5FF"/>
                          </a:solidFill>
                          <a:latin typeface="Segoe UI"/>
                        </a:defRPr>
                      </a:pPr>
                      <a:r>
                        <a:t>2.15%</a:t>
                      </a:r>
                    </a:p>
                  </a:txBody>
                  <a:tcPr>
                    <a:solidFill>
                      <a:srgbClr val="141826"/>
                    </a:solidFill>
                  </a:tcPr>
                </a:tc>
                <a:tc>
                  <a:txBody>
                    <a:bodyPr/>
                    <a:lstStyle/>
                    <a:p>
                      <a:pPr algn="ctr">
                        <a:defRPr sz="1000">
                          <a:solidFill>
                            <a:srgbClr val="EF5350"/>
                          </a:solidFill>
                          <a:latin typeface="Segoe UI"/>
                        </a:defRPr>
                      </a:pPr>
                      <a:r>
                        <a:t>2.89%</a:t>
                      </a:r>
                    </a:p>
                  </a:txBody>
                  <a:tcPr>
                    <a:solidFill>
                      <a:srgbClr val="141826"/>
                    </a:solidFill>
                  </a:tcPr>
                </a:tc>
              </a:tr>
              <a:tr h="685800">
                <a:tc>
                  <a:txBody>
                    <a:bodyPr/>
                    <a:lstStyle/>
                    <a:p>
                      <a:pPr algn="l">
                        <a:defRPr b="1" sz="1000">
                          <a:solidFill>
                            <a:srgbClr val="FFFFFF"/>
                          </a:solidFill>
                          <a:latin typeface="Segoe UI"/>
                        </a:defRPr>
                      </a:pPr>
                      <a:r>
                        <a:t>Mirae Asset Large Cap</a:t>
                      </a:r>
                    </a:p>
                  </a:txBody>
                  <a:tcPr>
                    <a:solidFill>
                      <a:srgbClr val="0B0E14"/>
                    </a:solidFill>
                  </a:tcPr>
                </a:tc>
                <a:tc>
                  <a:txBody>
                    <a:bodyPr/>
                    <a:lstStyle/>
                    <a:p>
                      <a:pPr algn="ctr">
                        <a:defRPr sz="1000">
                          <a:solidFill>
                            <a:srgbClr val="00E5FF"/>
                          </a:solidFill>
                          <a:latin typeface="Segoe UI"/>
                        </a:defRPr>
                      </a:pPr>
                      <a:r>
                        <a:t>2.08%</a:t>
                      </a:r>
                    </a:p>
                  </a:txBody>
                  <a:tcPr>
                    <a:solidFill>
                      <a:srgbClr val="0B0E14"/>
                    </a:solidFill>
                  </a:tcPr>
                </a:tc>
                <a:tc>
                  <a:txBody>
                    <a:bodyPr/>
                    <a:lstStyle/>
                    <a:p>
                      <a:pPr algn="ctr">
                        <a:defRPr sz="1000">
                          <a:solidFill>
                            <a:srgbClr val="EF5350"/>
                          </a:solidFill>
                          <a:latin typeface="Segoe UI"/>
                        </a:defRPr>
                      </a:pPr>
                      <a:r>
                        <a:t>2.76%</a:t>
                      </a:r>
                    </a:p>
                  </a:txBody>
                  <a:tcPr>
                    <a:solidFill>
                      <a:srgbClr val="0B0E14"/>
                    </a:solidFill>
                  </a:tcPr>
                </a:tc>
              </a:tr>
              <a:tr h="685800">
                <a:tc>
                  <a:txBody>
                    <a:bodyPr/>
                    <a:lstStyle/>
                    <a:p>
                      <a:pPr algn="l">
                        <a:defRPr b="1" sz="1000">
                          <a:solidFill>
                            <a:srgbClr val="FFFFFF"/>
                          </a:solidFill>
                          <a:latin typeface="Segoe UI"/>
                        </a:defRPr>
                      </a:pPr>
                      <a:r>
                        <a:t>Axis Bluechip</a:t>
                      </a:r>
                    </a:p>
                  </a:txBody>
                  <a:tcPr>
                    <a:solidFill>
                      <a:srgbClr val="141826"/>
                    </a:solidFill>
                  </a:tcPr>
                </a:tc>
                <a:tc>
                  <a:txBody>
                    <a:bodyPr/>
                    <a:lstStyle/>
                    <a:p>
                      <a:pPr algn="ctr">
                        <a:defRPr sz="1000">
                          <a:solidFill>
                            <a:srgbClr val="00E5FF"/>
                          </a:solidFill>
                          <a:latin typeface="Segoe UI"/>
                        </a:defRPr>
                      </a:pPr>
                      <a:r>
                        <a:t>2.05%</a:t>
                      </a:r>
                    </a:p>
                  </a:txBody>
                  <a:tcPr>
                    <a:solidFill>
                      <a:srgbClr val="141826"/>
                    </a:solidFill>
                  </a:tcPr>
                </a:tc>
                <a:tc>
                  <a:txBody>
                    <a:bodyPr/>
                    <a:lstStyle/>
                    <a:p>
                      <a:pPr algn="ctr">
                        <a:defRPr sz="1000">
                          <a:solidFill>
                            <a:srgbClr val="EF5350"/>
                          </a:solidFill>
                          <a:latin typeface="Segoe UI"/>
                        </a:defRPr>
                      </a:pPr>
                      <a:r>
                        <a:t>2.71%</a:t>
                      </a:r>
                    </a:p>
                  </a:txBody>
                  <a:tcPr>
                    <a:solidFill>
                      <a:srgbClr val="141826"/>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900" b="1">
                <a:solidFill>
                  <a:srgbClr val="00E5FF"/>
                </a:solidFill>
                <a:latin typeface="Trebuchet MS"/>
              </a:defRPr>
            </a:pPr>
            <a:r>
              <a:t>BLUESTOCK MUTUAL FUND ANALYTICS</a:t>
            </a:r>
          </a:p>
        </p:txBody>
      </p:sp>
      <p:sp>
        <p:nvSpPr>
          <p:cNvPr id="3" name="TextBox 2"/>
          <p:cNvSpPr txBox="1"/>
          <p:nvPr/>
        </p:nvSpPr>
        <p:spPr>
          <a:xfrm>
            <a:off x="685800" y="594360"/>
            <a:ext cx="10817352" cy="731520"/>
          </a:xfrm>
          <a:prstGeom prst="rect">
            <a:avLst/>
          </a:prstGeom>
          <a:noFill/>
        </p:spPr>
        <p:txBody>
          <a:bodyPr wrap="square">
            <a:spAutoFit/>
          </a:bodyPr>
          <a:lstStyle/>
          <a:p>
            <a:pPr>
              <a:defRPr sz="2800" b="1">
                <a:solidFill>
                  <a:srgbClr val="FFFFFF"/>
                </a:solidFill>
                <a:latin typeface="Trebuchet MS"/>
              </a:defRPr>
            </a:pPr>
            <a:r>
              <a:t>Investor Demographics &amp; Cohort Analysis</a:t>
            </a:r>
          </a:p>
        </p:txBody>
      </p:sp>
      <p:sp>
        <p:nvSpPr>
          <p:cNvPr id="4" name="Rectangle 3"/>
          <p:cNvSpPr/>
          <p:nvPr/>
        </p:nvSpPr>
        <p:spPr>
          <a:xfrm>
            <a:off x="685800" y="1280160"/>
            <a:ext cx="10817352" cy="18288"/>
          </a:xfrm>
          <a:prstGeom prst="rect">
            <a:avLst/>
          </a:prstGeom>
          <a:solidFill>
            <a:srgbClr val="1E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5212080" cy="41148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5212080" cy="4114800"/>
          </a:xfrm>
          <a:prstGeom prst="rect">
            <a:avLst/>
          </a:prstGeom>
          <a:noFill/>
        </p:spPr>
        <p:txBody>
          <a:bodyPr wrap="square" lIns="274320" tIns="274320">
            <a:spAutoFit/>
          </a:bodyPr>
          <a:lstStyle/>
          <a:p>
            <a:pPr>
              <a:defRPr sz="1600" b="1">
                <a:solidFill>
                  <a:srgbClr val="00E5FF"/>
                </a:solidFill>
                <a:latin typeface="Trebuchet MS"/>
              </a:defRPr>
            </a:pPr>
            <a:r>
              <a:t>Inflow Vintage Cohorts</a:t>
            </a:r>
          </a:p>
          <a:p>
            <a:pPr>
              <a:lnSpc>
                <a:spcPct val="125000"/>
              </a:lnSpc>
              <a:spcBef>
                <a:spcPts val="1000"/>
              </a:spcBef>
              <a:defRPr sz="1050">
                <a:solidFill>
                  <a:srgbClr val="B0BEC5"/>
                </a:solidFill>
                <a:latin typeface="Segoe UI"/>
              </a:defRPr>
            </a:pPr>
            <a:r>
              <a:t>Cohort analysis groups clients by their first transaction date to evaluate retention and capital stickiness:</a:t>
            </a:r>
            <a:br/>
            <a:br/>
            <a:r>
              <a:t>• Core Inflow Vintages:</a:t>
            </a:r>
            <a:br/>
            <a:r>
              <a:t>The Q1 2022 and Q3 2023 cohorts represent the largest aggregate client capital inflows, coinciding with major market pullbacks.</a:t>
            </a:r>
            <a:br/>
            <a:br/>
            <a:r>
              <a:t>• Redemption Behaviors:</a:t>
            </a:r>
            <a:br/>
            <a:r>
              <a:t>Clients with Aggressive risk profiles show high retention. Conversely, Conservative accounts show a 24% redemption increase during periods of negative index returns, highlighting behavioral panic.</a:t>
            </a:r>
          </a:p>
        </p:txBody>
      </p:sp>
      <p:sp>
        <p:nvSpPr>
          <p:cNvPr id="7" name="Rectangle 6"/>
          <p:cNvSpPr/>
          <p:nvPr/>
        </p:nvSpPr>
        <p:spPr>
          <a:xfrm>
            <a:off x="6291072" y="1645920"/>
            <a:ext cx="5212080" cy="41148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91072" y="1645920"/>
            <a:ext cx="5212080" cy="4114800"/>
          </a:xfrm>
          <a:prstGeom prst="rect">
            <a:avLst/>
          </a:prstGeom>
          <a:noFill/>
        </p:spPr>
        <p:txBody>
          <a:bodyPr wrap="square" lIns="274320" tIns="274320">
            <a:spAutoFit/>
          </a:bodyPr>
          <a:lstStyle/>
          <a:p>
            <a:pPr>
              <a:defRPr sz="1600" b="1">
                <a:solidFill>
                  <a:srgbClr val="00E676"/>
                </a:solidFill>
                <a:latin typeface="Trebuchet MS"/>
              </a:defRPr>
            </a:pPr>
            <a:r>
              <a:t>SIP Continuity &amp; Churn Streaks</a:t>
            </a:r>
          </a:p>
          <a:p>
            <a:pPr>
              <a:lnSpc>
                <a:spcPct val="125000"/>
              </a:lnSpc>
              <a:spcBef>
                <a:spcPts val="1000"/>
              </a:spcBef>
              <a:defRPr sz="1050">
                <a:solidFill>
                  <a:srgbClr val="B0BEC5"/>
                </a:solidFill>
                <a:latin typeface="Segoe UI"/>
              </a:defRPr>
            </a:pPr>
            <a:r>
              <a:t>We evaluate Systematic Investment Plan (SIP) stickiness by comparing actual vs. expected payments:</a:t>
            </a:r>
            <a:br/>
            <a:br/>
            <a:r>
              <a:t>• Active SIP Folios: Show an impressive 87.2% continuity rate. These accounts show highly disciplined recurring payments and maintain a median active streak of 14 months.</a:t>
            </a:r>
            <a:br/>
            <a:br/>
            <a:r>
              <a:t>• Inactive SIP Folios: Show a low continuity rate of 14.5%. Inactive clients typically lapse within their first 2 expected payments and show high churn rates, highlighting the need for immediate client intervention.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900" b="1">
                <a:solidFill>
                  <a:srgbClr val="00E5FF"/>
                </a:solidFill>
                <a:latin typeface="Trebuchet MS"/>
              </a:defRPr>
            </a:pPr>
            <a:r>
              <a:t>BLUESTOCK MUTUAL FUND ANALYTICS</a:t>
            </a:r>
          </a:p>
        </p:txBody>
      </p:sp>
      <p:sp>
        <p:nvSpPr>
          <p:cNvPr id="3" name="TextBox 2"/>
          <p:cNvSpPr txBox="1"/>
          <p:nvPr/>
        </p:nvSpPr>
        <p:spPr>
          <a:xfrm>
            <a:off x="685800" y="594360"/>
            <a:ext cx="10817352" cy="731520"/>
          </a:xfrm>
          <a:prstGeom prst="rect">
            <a:avLst/>
          </a:prstGeom>
          <a:noFill/>
        </p:spPr>
        <p:txBody>
          <a:bodyPr wrap="square">
            <a:spAutoFit/>
          </a:bodyPr>
          <a:lstStyle/>
          <a:p>
            <a:pPr>
              <a:defRPr sz="2800" b="1">
                <a:solidFill>
                  <a:srgbClr val="FFFFFF"/>
                </a:solidFill>
                <a:latin typeface="Trebuchet MS"/>
              </a:defRPr>
            </a:pPr>
            <a:r>
              <a:t>Executive BI Dashboard Specification</a:t>
            </a:r>
          </a:p>
        </p:txBody>
      </p:sp>
      <p:sp>
        <p:nvSpPr>
          <p:cNvPr id="4" name="Rectangle 3"/>
          <p:cNvSpPr/>
          <p:nvPr/>
        </p:nvSpPr>
        <p:spPr>
          <a:xfrm>
            <a:off x="685800" y="1280160"/>
            <a:ext cx="10817352" cy="18288"/>
          </a:xfrm>
          <a:prstGeom prst="rect">
            <a:avLst/>
          </a:prstGeom>
          <a:solidFill>
            <a:srgbClr val="1E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10817352" cy="86868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817352" cy="868680"/>
          </a:xfrm>
          <a:prstGeom prst="rect">
            <a:avLst/>
          </a:prstGeom>
          <a:noFill/>
        </p:spPr>
        <p:txBody>
          <a:bodyPr wrap="square" lIns="274320" rIns="274320" tIns="109728">
            <a:spAutoFit/>
          </a:bodyPr>
          <a:lstStyle/>
          <a:p>
            <a:pPr>
              <a:defRPr sz="1300" b="1">
                <a:solidFill>
                  <a:srgbClr val="00E5FF"/>
                </a:solidFill>
                <a:latin typeface="Trebuchet MS"/>
              </a:defRPr>
            </a:pPr>
            <a:r>
              <a:t>PAGE 1: INDUSTRY OVERVIEW</a:t>
            </a:r>
          </a:p>
          <a:p>
            <a:pPr>
              <a:spcBef>
                <a:spcPts val="200"/>
              </a:spcBef>
              <a:defRPr sz="950">
                <a:solidFill>
                  <a:srgbClr val="B0BEC5"/>
                </a:solidFill>
                <a:latin typeface="Segoe UI"/>
              </a:defRPr>
            </a:pPr>
            <a:r>
              <a:t>KPI cards showing total Industry AUM (₹24,850 Cr) and Active Folios (1.42M). Tracks monthly inflows and maps AMC market share concentration (HDFC vs. SBI) using a Treemap.</a:t>
            </a:r>
          </a:p>
        </p:txBody>
      </p:sp>
      <p:sp>
        <p:nvSpPr>
          <p:cNvPr id="7" name="Rectangle 6"/>
          <p:cNvSpPr/>
          <p:nvPr/>
        </p:nvSpPr>
        <p:spPr>
          <a:xfrm>
            <a:off x="685800" y="2679192"/>
            <a:ext cx="10817352" cy="86868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79192"/>
            <a:ext cx="10817352" cy="868680"/>
          </a:xfrm>
          <a:prstGeom prst="rect">
            <a:avLst/>
          </a:prstGeom>
          <a:noFill/>
        </p:spPr>
        <p:txBody>
          <a:bodyPr wrap="square" lIns="274320" rIns="274320" tIns="109728">
            <a:spAutoFit/>
          </a:bodyPr>
          <a:lstStyle/>
          <a:p>
            <a:pPr>
              <a:defRPr sz="1300" b="1">
                <a:solidFill>
                  <a:srgbClr val="00E676"/>
                </a:solidFill>
                <a:latin typeface="Trebuchet MS"/>
              </a:defRPr>
            </a:pPr>
            <a:r>
              <a:t>PAGE 2: FUND PERFORMANCE</a:t>
            </a:r>
          </a:p>
          <a:p>
            <a:pPr>
              <a:spcBef>
                <a:spcPts val="200"/>
              </a:spcBef>
              <a:defRPr sz="950">
                <a:solidFill>
                  <a:srgbClr val="B0BEC5"/>
                </a:solidFill>
                <a:latin typeface="Segoe UI"/>
              </a:defRPr>
            </a:pPr>
            <a:r>
              <a:t>Risk-Return scatter plot (X-axis = Beta, Y-axis = 3Y CAGR, Bubble size = AUM). Includes a dynamic line chart comparing scheme returns to the Nifty 100 benchmark (re-indexed to ₹100), and a scorecard leaderboard grid.</a:t>
            </a:r>
          </a:p>
        </p:txBody>
      </p:sp>
      <p:sp>
        <p:nvSpPr>
          <p:cNvPr id="9" name="Rectangle 8"/>
          <p:cNvSpPr/>
          <p:nvPr/>
        </p:nvSpPr>
        <p:spPr>
          <a:xfrm>
            <a:off x="685800" y="3712464"/>
            <a:ext cx="10817352" cy="86868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712464"/>
            <a:ext cx="10817352" cy="868680"/>
          </a:xfrm>
          <a:prstGeom prst="rect">
            <a:avLst/>
          </a:prstGeom>
          <a:noFill/>
        </p:spPr>
        <p:txBody>
          <a:bodyPr wrap="square" lIns="274320" rIns="274320" tIns="109728">
            <a:spAutoFit/>
          </a:bodyPr>
          <a:lstStyle/>
          <a:p>
            <a:pPr>
              <a:defRPr sz="1300" b="1">
                <a:solidFill>
                  <a:srgbClr val="00E5FF"/>
                </a:solidFill>
                <a:latin typeface="Trebuchet MS"/>
              </a:defRPr>
            </a:pPr>
            <a:r>
              <a:t>PAGE 3: INVESTOR ANALYTICS</a:t>
            </a:r>
          </a:p>
          <a:p>
            <a:pPr>
              <a:spcBef>
                <a:spcPts val="200"/>
              </a:spcBef>
              <a:defRPr sz="950">
                <a:solidFill>
                  <a:srgbClr val="B0BEC5"/>
                </a:solidFill>
                <a:latin typeface="Segoe UI"/>
              </a:defRPr>
            </a:pPr>
            <a:r>
              <a:t>Includes an Indian geographical shape map showing investment totals, a transaction type distribution donut chart (SIP vs. Lumpsum vs. Redemption), and an age cohort column chart.</a:t>
            </a:r>
          </a:p>
        </p:txBody>
      </p:sp>
      <p:sp>
        <p:nvSpPr>
          <p:cNvPr id="11" name="Rectangle 10"/>
          <p:cNvSpPr/>
          <p:nvPr/>
        </p:nvSpPr>
        <p:spPr>
          <a:xfrm>
            <a:off x="685800" y="4745736"/>
            <a:ext cx="10817352" cy="86868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745736"/>
            <a:ext cx="10817352" cy="868680"/>
          </a:xfrm>
          <a:prstGeom prst="rect">
            <a:avLst/>
          </a:prstGeom>
          <a:noFill/>
        </p:spPr>
        <p:txBody>
          <a:bodyPr wrap="square" lIns="274320" rIns="274320" tIns="109728">
            <a:spAutoFit/>
          </a:bodyPr>
          <a:lstStyle/>
          <a:p>
            <a:pPr>
              <a:defRPr sz="1300" b="1">
                <a:solidFill>
                  <a:srgbClr val="00E676"/>
                </a:solidFill>
                <a:latin typeface="Trebuchet MS"/>
              </a:defRPr>
            </a:pPr>
            <a:r>
              <a:t>PAGE 4: SIP &amp; MARKET TRENDS</a:t>
            </a:r>
          </a:p>
          <a:p>
            <a:pPr>
              <a:spcBef>
                <a:spcPts val="200"/>
              </a:spcBef>
              <a:defRPr sz="950">
                <a:solidFill>
                  <a:srgbClr val="B0BEC5"/>
                </a:solidFill>
                <a:latin typeface="Segoe UI"/>
              </a:defRPr>
            </a:pPr>
            <a:r>
              <a:t>Dual-Y Axis line chart comparing monthly SIP inflows with the Nifty 50 close price, and a quarterly net inflow heatmap by fund category.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900" b="1">
                <a:solidFill>
                  <a:srgbClr val="00E5FF"/>
                </a:solidFill>
                <a:latin typeface="Trebuchet MS"/>
              </a:defRPr>
            </a:pPr>
            <a:r>
              <a:t>BLUESTOCK MUTUAL FUND ANALYTICS</a:t>
            </a:r>
          </a:p>
        </p:txBody>
      </p:sp>
      <p:sp>
        <p:nvSpPr>
          <p:cNvPr id="3" name="TextBox 2"/>
          <p:cNvSpPr txBox="1"/>
          <p:nvPr/>
        </p:nvSpPr>
        <p:spPr>
          <a:xfrm>
            <a:off x="685800" y="594360"/>
            <a:ext cx="10817352" cy="731520"/>
          </a:xfrm>
          <a:prstGeom prst="rect">
            <a:avLst/>
          </a:prstGeom>
          <a:noFill/>
        </p:spPr>
        <p:txBody>
          <a:bodyPr wrap="square">
            <a:spAutoFit/>
          </a:bodyPr>
          <a:lstStyle/>
          <a:p>
            <a:pPr>
              <a:defRPr sz="2800" b="1">
                <a:solidFill>
                  <a:srgbClr val="FFFFFF"/>
                </a:solidFill>
                <a:latin typeface="Trebuchet MS"/>
              </a:defRPr>
            </a:pPr>
            <a:r>
              <a:t>Strategic Recommendations &amp; Action Plan</a:t>
            </a:r>
          </a:p>
        </p:txBody>
      </p:sp>
      <p:sp>
        <p:nvSpPr>
          <p:cNvPr id="4" name="Rectangle 3"/>
          <p:cNvSpPr/>
          <p:nvPr/>
        </p:nvSpPr>
        <p:spPr>
          <a:xfrm>
            <a:off x="685800" y="1280160"/>
            <a:ext cx="10817352" cy="18288"/>
          </a:xfrm>
          <a:prstGeom prst="rect">
            <a:avLst/>
          </a:prstGeom>
          <a:solidFill>
            <a:srgbClr val="1E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3364992" cy="41148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3364992" cy="4114800"/>
          </a:xfrm>
          <a:prstGeom prst="rect">
            <a:avLst/>
          </a:prstGeom>
          <a:noFill/>
        </p:spPr>
        <p:txBody>
          <a:bodyPr wrap="square" lIns="228600" rIns="228600" tIns="228600">
            <a:spAutoFit/>
          </a:bodyPr>
          <a:lstStyle/>
          <a:p>
            <a:pPr>
              <a:defRPr sz="2800" b="1">
                <a:solidFill>
                  <a:srgbClr val="00E5FF"/>
                </a:solidFill>
                <a:latin typeface="Trebuchet MS"/>
              </a:defRPr>
            </a:pPr>
            <a:r>
              <a:t>01</a:t>
            </a:r>
          </a:p>
          <a:p>
            <a:pPr>
              <a:spcBef>
                <a:spcPts val="1000"/>
              </a:spcBef>
              <a:spcAft>
                <a:spcPts val="1200"/>
              </a:spcAft>
              <a:defRPr sz="1300" b="1">
                <a:solidFill>
                  <a:srgbClr val="FFFFFF"/>
                </a:solidFill>
                <a:latin typeface="Trebuchet MS"/>
              </a:defRPr>
            </a:pPr>
            <a:r>
              <a:t>SECTOR HHI CONCENTRATION LIMITS</a:t>
            </a:r>
          </a:p>
          <a:p>
            <a:pPr>
              <a:lnSpc>
                <a:spcPct val="125000"/>
              </a:lnSpc>
              <a:defRPr sz="1050">
                <a:solidFill>
                  <a:srgbClr val="B0BEC5"/>
                </a:solidFill>
                <a:latin typeface="Segoe UI"/>
              </a:defRPr>
            </a:pPr>
            <a:r>
              <a:t>Implement hard advisory guardrails. When a client's composite portfolio sector HHI exceeds 2,500, trigger automated rebalancing alerts to mitigate severe tail-risk losses associated with concentrated sector exposures.</a:t>
            </a:r>
          </a:p>
        </p:txBody>
      </p:sp>
      <p:sp>
        <p:nvSpPr>
          <p:cNvPr id="7" name="Rectangle 6"/>
          <p:cNvSpPr/>
          <p:nvPr/>
        </p:nvSpPr>
        <p:spPr>
          <a:xfrm>
            <a:off x="4407408" y="1645920"/>
            <a:ext cx="3364992" cy="41148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7408" y="1645920"/>
            <a:ext cx="3364992" cy="4114800"/>
          </a:xfrm>
          <a:prstGeom prst="rect">
            <a:avLst/>
          </a:prstGeom>
          <a:noFill/>
        </p:spPr>
        <p:txBody>
          <a:bodyPr wrap="square" lIns="228600" rIns="228600" tIns="228600">
            <a:spAutoFit/>
          </a:bodyPr>
          <a:lstStyle/>
          <a:p>
            <a:pPr>
              <a:defRPr sz="2800" b="1">
                <a:solidFill>
                  <a:srgbClr val="00E5FF"/>
                </a:solidFill>
                <a:latin typeface="Trebuchet MS"/>
              </a:defRPr>
            </a:pPr>
            <a:r>
              <a:t>02</a:t>
            </a:r>
          </a:p>
          <a:p>
            <a:pPr>
              <a:spcBef>
                <a:spcPts val="1000"/>
              </a:spcBef>
              <a:spcAft>
                <a:spcPts val="1200"/>
              </a:spcAft>
              <a:defRPr sz="1300" b="1">
                <a:solidFill>
                  <a:srgbClr val="FFFFFF"/>
                </a:solidFill>
                <a:latin typeface="Trebuchet MS"/>
              </a:defRPr>
            </a:pPr>
            <a:r>
              <a:t>SYSTEMATIC PRODUCTS RETENTION</a:t>
            </a:r>
          </a:p>
          <a:p>
            <a:pPr>
              <a:lnSpc>
                <a:spcPct val="125000"/>
              </a:lnSpc>
              <a:defRPr sz="1050">
                <a:solidFill>
                  <a:srgbClr val="B0BEC5"/>
                </a:solidFill>
                <a:latin typeface="Segoe UI"/>
              </a:defRPr>
            </a:pPr>
            <a:r>
              <a:t>Focus marketing spend on systematic investment plans (SIPs), which show an 87.2% continuity rate. Configure automated retention emails when a retail client misses their second expected monthly payment.</a:t>
            </a:r>
          </a:p>
        </p:txBody>
      </p:sp>
      <p:sp>
        <p:nvSpPr>
          <p:cNvPr id="9" name="Rectangle 8"/>
          <p:cNvSpPr/>
          <p:nvPr/>
        </p:nvSpPr>
        <p:spPr>
          <a:xfrm>
            <a:off x="8129016" y="1645920"/>
            <a:ext cx="3364992" cy="4114800"/>
          </a:xfrm>
          <a:prstGeom prst="rect">
            <a:avLst/>
          </a:prstGeom>
          <a:solidFill>
            <a:srgbClr val="1E2235"/>
          </a:solidFill>
          <a:ln w="19050">
            <a:solidFill>
              <a:srgbClr val="3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9016" y="1645920"/>
            <a:ext cx="3364992" cy="4114800"/>
          </a:xfrm>
          <a:prstGeom prst="rect">
            <a:avLst/>
          </a:prstGeom>
          <a:noFill/>
        </p:spPr>
        <p:txBody>
          <a:bodyPr wrap="square" lIns="228600" rIns="228600" tIns="228600">
            <a:spAutoFit/>
          </a:bodyPr>
          <a:lstStyle/>
          <a:p>
            <a:pPr>
              <a:defRPr sz="2800" b="1">
                <a:solidFill>
                  <a:srgbClr val="00E5FF"/>
                </a:solidFill>
                <a:latin typeface="Trebuchet MS"/>
              </a:defRPr>
            </a:pPr>
            <a:r>
              <a:t>03</a:t>
            </a:r>
          </a:p>
          <a:p>
            <a:pPr>
              <a:spcBef>
                <a:spcPts val="1000"/>
              </a:spcBef>
              <a:spcAft>
                <a:spcPts val="1200"/>
              </a:spcAft>
              <a:defRPr sz="1300" b="1">
                <a:solidFill>
                  <a:srgbClr val="FFFFFF"/>
                </a:solidFill>
                <a:latin typeface="Trebuchet MS"/>
              </a:defRPr>
            </a:pPr>
            <a:r>
              <a:t>LARGE CAP PORTFOLIO ANCHORING</a:t>
            </a:r>
          </a:p>
          <a:p>
            <a:pPr>
              <a:lnSpc>
                <a:spcPct val="125000"/>
              </a:lnSpc>
              <a:defRPr sz="1050">
                <a:solidFill>
                  <a:srgbClr val="B0BEC5"/>
                </a:solidFill>
                <a:latin typeface="Segoe UI"/>
              </a:defRPr>
            </a:pPr>
            <a:r>
              <a:t>For conservative retail portfolios, anchor client allocations with at least a 60% weight in diversified Large Cap funds. This buffers drawdowns and maintains peak-to-trough losses above the -20% threshold.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